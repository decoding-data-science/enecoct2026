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863840" y="-2926080"/>
            <a:ext cx="6858000" cy="6858000"/>
          </a:xfrm>
          <a:prstGeom prst="ellipse">
            <a:avLst/>
          </a:prstGeom>
          <a:gradFill rotWithShape="1">
            <a:gsLst>
              <a:gs pos="0">
                <a:srgbClr val="8B5CF6">
                  <a:alpha val="38000"/>
                </a:srgbClr>
              </a:gs>
              <a:gs pos="100000">
                <a:srgbClr val="8B5CF6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108960" y="3657600"/>
            <a:ext cx="6400800" cy="6400800"/>
          </a:xfrm>
          <a:prstGeom prst="ellipse">
            <a:avLst/>
          </a:prstGeom>
          <a:gradFill rotWithShape="1">
            <a:gsLst>
              <a:gs pos="0">
                <a:srgbClr val="22D3EE">
                  <a:alpha val="22000"/>
                </a:srgbClr>
              </a:gs>
              <a:gs pos="100000">
                <a:srgbClr val="22D3E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943600" y="-1828800"/>
            <a:ext cx="8686800" cy="8686800"/>
          </a:xfrm>
          <a:prstGeom prst="ellipse">
            <a:avLst/>
          </a:prstGeom>
          <a:gradFill rotWithShape="1">
            <a:gsLst>
              <a:gs pos="0">
                <a:srgbClr val="8B5CF6">
                  <a:alpha val="45000"/>
                </a:srgbClr>
              </a:gs>
              <a:gs pos="100000">
                <a:srgbClr val="8B5CF6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200">
                <a:solidFill>
                  <a:srgbClr val="22D3EE"/>
                </a:solidFill>
                <a:latin typeface="Consolas"/>
              </a:rPr>
              <a:t>DAY 4  |  AI FOR CODERS &amp; SOFTWARE ENGINEERS  | 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841248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4800" b="1" i="0">
                <a:solidFill>
                  <a:srgbClr val="F2F7FB"/>
                </a:solidFill>
                <a:latin typeface="Calibri"/>
              </a:rPr>
              <a:t>Integration &amp;</a:t>
            </a:r>
          </a:p>
          <a:p>
            <a:pPr algn="l">
              <a:lnSpc>
                <a:spcPct val="95000"/>
              </a:lnSpc>
            </a:pPr>
            <a:r>
              <a:rPr sz="4800" b="1" i="0">
                <a:solidFill>
                  <a:srgbClr val="F2F7FB"/>
                </a:solidFill>
                <a:latin typeface="Calibri"/>
              </a:rPr>
              <a:t>the A-001 Team Capstone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42900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9FB4C8"/>
                </a:solidFill>
                <a:latin typeface="Calibri"/>
              </a:rPr>
              <a:t>One inspectable workflow, then teams prove control, not just intelligence.</a:t>
            </a:r>
          </a:p>
        </p:txBody>
      </p:sp>
      <p:sp>
        <p:nvSpPr>
          <p:cNvPr id="8" name="Oval 7"/>
          <p:cNvSpPr/>
          <p:nvPr/>
        </p:nvSpPr>
        <p:spPr>
          <a:xfrm>
            <a:off x="749808" y="4434840"/>
            <a:ext cx="128016" cy="128016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4343400"/>
            <a:ext cx="7680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F2F7FB"/>
                </a:solidFill>
                <a:latin typeface="Calibri"/>
              </a:rPr>
              <a:t>Integrate data, forecast, documents and agent into one workflow</a:t>
            </a:r>
          </a:p>
        </p:txBody>
      </p:sp>
      <p:sp>
        <p:nvSpPr>
          <p:cNvPr id="10" name="Oval 9"/>
          <p:cNvSpPr/>
          <p:nvPr/>
        </p:nvSpPr>
        <p:spPr>
          <a:xfrm>
            <a:off x="749808" y="4818888"/>
            <a:ext cx="128016" cy="128016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4727448"/>
            <a:ext cx="7680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F2F7FB"/>
                </a:solidFill>
                <a:latin typeface="Calibri"/>
              </a:rPr>
              <a:t>Keep evidence types separate, labelled and traceable</a:t>
            </a:r>
          </a:p>
        </p:txBody>
      </p:sp>
      <p:sp>
        <p:nvSpPr>
          <p:cNvPr id="12" name="Oval 11"/>
          <p:cNvSpPr/>
          <p:nvPr/>
        </p:nvSpPr>
        <p:spPr>
          <a:xfrm>
            <a:off x="749808" y="5202936"/>
            <a:ext cx="128016" cy="128016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8" y="5111496"/>
            <a:ext cx="7680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F2F7FB"/>
                </a:solidFill>
                <a:latin typeface="Calibri"/>
              </a:rPr>
              <a:t>Capstone: an evidence-backed review briefing with automatic checks</a:t>
            </a:r>
          </a:p>
        </p:txBody>
      </p:sp>
      <p:sp>
        <p:nvSpPr>
          <p:cNvPr id="14" name="Oval 13"/>
          <p:cNvSpPr/>
          <p:nvPr/>
        </p:nvSpPr>
        <p:spPr>
          <a:xfrm>
            <a:off x="749808" y="5586983"/>
            <a:ext cx="128016" cy="128016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4128" y="5495544"/>
            <a:ext cx="7680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F2F7FB"/>
                </a:solidFill>
                <a:latin typeface="Calibri"/>
              </a:rPr>
              <a:t>Every run ends at a recorded human decision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52560" y="1600200"/>
            <a:ext cx="2606040" cy="3200400"/>
          </a:xfrm>
          <a:prstGeom prst="roundRect">
            <a:avLst>
              <a:gd name="adj" fmla="val 7017"/>
            </a:avLst>
          </a:prstGeom>
          <a:solidFill>
            <a:srgbClr val="0F1626"/>
          </a:solidFill>
          <a:ln w="1905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52560" y="1783080"/>
            <a:ext cx="2606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 spc="200">
                <a:solidFill>
                  <a:srgbClr val="22D3EE"/>
                </a:solidFill>
                <a:latin typeface="Consolas"/>
              </a:rPr>
              <a:t>TODAY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0" y="2103120"/>
            <a:ext cx="26060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400" b="1" i="0">
                <a:solidFill>
                  <a:srgbClr val="F2F7FB"/>
                </a:solidFill>
                <a:latin typeface="Calibri"/>
              </a:rPr>
              <a:t>PROVE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0" y="2971800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0" i="0">
                <a:solidFill>
                  <a:srgbClr val="9FB4C8"/>
                </a:solidFill>
                <a:latin typeface="Calibri"/>
              </a:rPr>
              <a:t>Control, not just intelligence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464040" y="3474720"/>
            <a:ext cx="1783080" cy="18288"/>
          </a:xfrm>
          <a:prstGeom prst="rect">
            <a:avLst/>
          </a:prstGeom>
          <a:solidFill>
            <a:srgbClr val="263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35440" y="3611880"/>
            <a:ext cx="22402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9FB4C8"/>
                </a:solidFill>
                <a:latin typeface="Calibri"/>
              </a:rPr>
              <a:t>Briefing + checks</a:t>
            </a:r>
          </a:p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9FB4C8"/>
                </a:solidFill>
                <a:latin typeface="Calibri"/>
              </a:rPr>
              <a:t>App inside Colab</a:t>
            </a:r>
          </a:p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9FB4C8"/>
                </a:solidFill>
                <a:latin typeface="Calibri"/>
              </a:rPr>
              <a:t>Human decides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62636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F7488"/>
                </a:solidFill>
                <a:latin typeface="Consolas"/>
              </a:rPr>
              <a:t>Instructor: Mohammad Arshad Ahmed   |   github.com/Decoding-Data-Science/enec2026oct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863840" y="-2926080"/>
            <a:ext cx="6858000" cy="6858000"/>
          </a:xfrm>
          <a:prstGeom prst="ellipse">
            <a:avLst/>
          </a:prstGeom>
          <a:gradFill rotWithShape="1">
            <a:gsLst>
              <a:gs pos="0">
                <a:srgbClr val="8B5CF6">
                  <a:alpha val="38000"/>
                </a:srgbClr>
              </a:gs>
              <a:gs pos="100000">
                <a:srgbClr val="8B5CF6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108960" y="3657600"/>
            <a:ext cx="6400800" cy="6400800"/>
          </a:xfrm>
          <a:prstGeom prst="ellipse">
            <a:avLst/>
          </a:prstGeom>
          <a:gradFill rotWithShape="1">
            <a:gsLst>
              <a:gs pos="0">
                <a:srgbClr val="22D3EE">
                  <a:alpha val="22000"/>
                </a:srgbClr>
              </a:gs>
              <a:gs pos="100000">
                <a:srgbClr val="22D3E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22D3EE"/>
                </a:solidFill>
                <a:latin typeface="Consolas"/>
              </a:rPr>
              <a:t>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F7488"/>
                </a:solidFill>
                <a:latin typeface="Consolas"/>
              </a:rPr>
              <a:t>AI for Coders &amp; Software Engineers  |  ENEC 2026  |  Synthetic training material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22D3EE"/>
                </a:solidFill>
                <a:latin typeface="Consolas"/>
              </a:rPr>
              <a:t>02</a:t>
            </a:r>
            <a:r>
              <a:rPr sz="1100">
                <a:solidFill>
                  <a:srgbClr val="5F7488"/>
                </a:solidFill>
                <a:latin typeface="Consolas"/>
              </a:rPr>
              <a:t>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F2F7FB"/>
                </a:solidFill>
                <a:latin typeface="Calibri"/>
              </a:rPr>
              <a:t>One inspectable workflow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9FB4C8"/>
                </a:solidFill>
                <a:latin typeface="Calibri"/>
              </a:rPr>
              <a:t>Everything from three days, composed. Nothing rebuilt.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783080"/>
            <a:ext cx="3453384" cy="1234440"/>
          </a:xfrm>
          <a:prstGeom prst="roundRect">
            <a:avLst>
              <a:gd name="adj" fmla="val 7407"/>
            </a:avLst>
          </a:prstGeom>
          <a:solidFill>
            <a:srgbClr val="0F1626"/>
          </a:solidFill>
          <a:ln w="158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874519"/>
            <a:ext cx="327050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 i="0">
                <a:solidFill>
                  <a:srgbClr val="F2F7FB"/>
                </a:solidFill>
                <a:latin typeface="Calibri"/>
              </a:rPr>
              <a:t>Structured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478024"/>
            <a:ext cx="3270504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0" i="0">
                <a:solidFill>
                  <a:srgbClr val="9FB4C8"/>
                </a:solidFill>
                <a:latin typeface="Calibri"/>
              </a:rPr>
              <a:t>SQL facts</a:t>
            </a:r>
          </a:p>
          <a:p>
            <a:pPr algn="ctr"/>
            <a:r>
              <a:rPr sz="1350" b="0" i="0">
                <a:solidFill>
                  <a:srgbClr val="9FB4C8"/>
                </a:solidFill>
                <a:latin typeface="Calibri"/>
              </a:rPr>
              <a:t>from the tables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974592" y="2281428"/>
            <a:ext cx="374904" cy="237744"/>
          </a:xfrm>
          <a:prstGeom prst="rightArrow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67784" y="1783080"/>
            <a:ext cx="3453384" cy="1234440"/>
          </a:xfrm>
          <a:prstGeom prst="roundRect">
            <a:avLst>
              <a:gd name="adj" fmla="val 7407"/>
            </a:avLst>
          </a:prstGeom>
          <a:solidFill>
            <a:srgbClr val="0F1626"/>
          </a:solidFill>
          <a:ln w="15875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59223" y="1874519"/>
            <a:ext cx="327050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 i="0">
                <a:solidFill>
                  <a:srgbClr val="F2F7FB"/>
                </a:solidFill>
                <a:latin typeface="Calibri"/>
              </a:rPr>
              <a:t>ML evidence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59223" y="2295144"/>
            <a:ext cx="3270504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0" i="0">
                <a:solidFill>
                  <a:srgbClr val="9FB4C8"/>
                </a:solidFill>
                <a:latin typeface="Calibri"/>
              </a:rPr>
              <a:t>forecast and</a:t>
            </a:r>
          </a:p>
          <a:p>
            <a:pPr algn="ctr"/>
            <a:r>
              <a:rPr sz="1350" b="0" i="0">
                <a:solidFill>
                  <a:srgbClr val="9FB4C8"/>
                </a:solidFill>
                <a:latin typeface="Calibri"/>
              </a:rPr>
              <a:t>decision tree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839455" y="2281428"/>
            <a:ext cx="374904" cy="237744"/>
          </a:xfrm>
          <a:prstGeom prst="rightArrow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32648" y="1783080"/>
            <a:ext cx="3453384" cy="1234440"/>
          </a:xfrm>
          <a:prstGeom prst="roundRect">
            <a:avLst>
              <a:gd name="adj" fmla="val 7407"/>
            </a:avLst>
          </a:prstGeom>
          <a:solidFill>
            <a:srgbClr val="0F1626"/>
          </a:solidFill>
          <a:ln w="15875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4088" y="1874519"/>
            <a:ext cx="327050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 i="0">
                <a:solidFill>
                  <a:srgbClr val="F2F7FB"/>
                </a:solidFill>
                <a:latin typeface="Calibri"/>
              </a:rPr>
              <a:t>Documents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4088" y="2295144"/>
            <a:ext cx="3270504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0" i="0">
                <a:solidFill>
                  <a:srgbClr val="9FB4C8"/>
                </a:solidFill>
                <a:latin typeface="Calibri"/>
              </a:rPr>
              <a:t>Day 2 governed</a:t>
            </a:r>
          </a:p>
          <a:p>
            <a:pPr algn="ctr"/>
            <a:r>
              <a:rPr sz="1350" b="0" i="0">
                <a:solidFill>
                  <a:srgbClr val="9FB4C8"/>
                </a:solidFill>
                <a:latin typeface="Calibri"/>
              </a:rPr>
              <a:t>retrieval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3429000"/>
            <a:ext cx="2555748" cy="1234440"/>
          </a:xfrm>
          <a:prstGeom prst="roundRect">
            <a:avLst>
              <a:gd name="adj" fmla="val 7407"/>
            </a:avLst>
          </a:prstGeom>
          <a:solidFill>
            <a:srgbClr val="0F1626"/>
          </a:solidFill>
          <a:ln w="158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3520440"/>
            <a:ext cx="237286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 i="0">
                <a:solidFill>
                  <a:srgbClr val="F2F7FB"/>
                </a:solidFill>
                <a:latin typeface="Calibri"/>
              </a:rPr>
              <a:t>Evidence packet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4123944"/>
            <a:ext cx="2372868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0" i="0">
                <a:solidFill>
                  <a:srgbClr val="9FB4C8"/>
                </a:solidFill>
                <a:latin typeface="Calibri"/>
              </a:rPr>
              <a:t>labelled by type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3076956" y="3927348"/>
            <a:ext cx="283464" cy="237744"/>
          </a:xfrm>
          <a:prstGeom prst="rightArrow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378708" y="3429000"/>
            <a:ext cx="2555748" cy="1234440"/>
          </a:xfrm>
          <a:prstGeom prst="roundRect">
            <a:avLst>
              <a:gd name="adj" fmla="val 7407"/>
            </a:avLst>
          </a:prstGeom>
          <a:solidFill>
            <a:srgbClr val="0F1626"/>
          </a:solidFill>
          <a:ln w="15875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70148" y="3520440"/>
            <a:ext cx="237286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 i="0">
                <a:solidFill>
                  <a:srgbClr val="F2F7FB"/>
                </a:solidFill>
                <a:latin typeface="Calibri"/>
              </a:rPr>
              <a:t>Draft briefing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70148" y="4123944"/>
            <a:ext cx="2372868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0" i="0">
                <a:solidFill>
                  <a:srgbClr val="9FB4C8"/>
                </a:solidFill>
                <a:latin typeface="Calibri"/>
              </a:rPr>
              <a:t>8 sections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5952744" y="3927348"/>
            <a:ext cx="283464" cy="237744"/>
          </a:xfrm>
          <a:prstGeom prst="rightArrow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254496" y="3429000"/>
            <a:ext cx="2555748" cy="1234440"/>
          </a:xfrm>
          <a:prstGeom prst="roundRect">
            <a:avLst>
              <a:gd name="adj" fmla="val 7407"/>
            </a:avLst>
          </a:prstGeom>
          <a:solidFill>
            <a:srgbClr val="0F1626"/>
          </a:solidFill>
          <a:ln w="15875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45936" y="3520440"/>
            <a:ext cx="237286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 i="0">
                <a:solidFill>
                  <a:srgbClr val="F2F7FB"/>
                </a:solidFill>
                <a:latin typeface="Calibri"/>
              </a:rPr>
              <a:t>Checks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45936" y="3941064"/>
            <a:ext cx="2372868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0" i="0">
                <a:solidFill>
                  <a:srgbClr val="9FB4C8"/>
                </a:solidFill>
                <a:latin typeface="Calibri"/>
              </a:rPr>
              <a:t>rule-based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8828532" y="3927348"/>
            <a:ext cx="283464" cy="237744"/>
          </a:xfrm>
          <a:prstGeom prst="rightArrow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130284" y="3429000"/>
            <a:ext cx="2555748" cy="1234440"/>
          </a:xfrm>
          <a:prstGeom prst="roundRect">
            <a:avLst>
              <a:gd name="adj" fmla="val 7407"/>
            </a:avLst>
          </a:prstGeom>
          <a:solidFill>
            <a:srgbClr val="0F1626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221724" y="3520440"/>
            <a:ext cx="237286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 i="0">
                <a:solidFill>
                  <a:srgbClr val="F2F7FB"/>
                </a:solidFill>
                <a:latin typeface="Calibri"/>
              </a:rPr>
              <a:t>Human review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21724" y="3941064"/>
            <a:ext cx="2372868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0" i="0">
                <a:solidFill>
                  <a:srgbClr val="9FB4C8"/>
                </a:solidFill>
                <a:latin typeface="Calibri"/>
              </a:rPr>
              <a:t>approve, revise,</a:t>
            </a:r>
          </a:p>
          <a:p>
            <a:pPr algn="ctr"/>
            <a:r>
              <a:rPr sz="1350" b="0" i="0">
                <a:solidFill>
                  <a:srgbClr val="9FB4C8"/>
                </a:solidFill>
                <a:latin typeface="Calibri"/>
              </a:rPr>
              <a:t>reject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02920" y="4800600"/>
            <a:ext cx="11183112" cy="960120"/>
          </a:xfrm>
          <a:prstGeom prst="roundRect">
            <a:avLst>
              <a:gd name="adj" fmla="val 11428"/>
            </a:avLst>
          </a:prstGeom>
          <a:solidFill>
            <a:srgbClr val="0F1626"/>
          </a:solidFill>
          <a:ln w="12700">
            <a:solidFill>
              <a:srgbClr val="26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02920" y="4928616"/>
            <a:ext cx="54864" cy="38404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04088" y="4928616"/>
            <a:ext cx="108173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2F7FB"/>
                </a:solidFill>
                <a:latin typeface="Calibri"/>
              </a:rPr>
              <a:t>Inherited, not rebuilt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4088" y="5458968"/>
            <a:ext cx="1079906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590" b="0" i="0">
                <a:solidFill>
                  <a:srgbClr val="9FB4C8"/>
                </a:solidFill>
                <a:latin typeface="Calibri"/>
              </a:rPr>
              <a:t>Day 1 data and prompts  |  Day 2 cited retrieval  |  Day 3 bounded tools, decision tree and governance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02920" y="5852160"/>
            <a:ext cx="11183112" cy="475488"/>
          </a:xfrm>
          <a:prstGeom prst="roundRect">
            <a:avLst>
              <a:gd name="adj" fmla="val 19230"/>
            </a:avLst>
          </a:prstGeom>
          <a:solidFill>
            <a:srgbClr val="13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02920" y="5852160"/>
            <a:ext cx="64008" cy="47548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7240" y="5852160"/>
            <a:ext cx="107899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F2F7FB"/>
                </a:solidFill>
                <a:latin typeface="Calibri"/>
              </a:rPr>
              <a:t>Audit events are written at every transition, not reconstructed afterwards.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863840" y="-2926080"/>
            <a:ext cx="6858000" cy="6858000"/>
          </a:xfrm>
          <a:prstGeom prst="ellipse">
            <a:avLst/>
          </a:prstGeom>
          <a:gradFill rotWithShape="1">
            <a:gsLst>
              <a:gs pos="0">
                <a:srgbClr val="8B5CF6">
                  <a:alpha val="38000"/>
                </a:srgbClr>
              </a:gs>
              <a:gs pos="100000">
                <a:srgbClr val="8B5CF6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108960" y="3657600"/>
            <a:ext cx="6400800" cy="6400800"/>
          </a:xfrm>
          <a:prstGeom prst="ellipse">
            <a:avLst/>
          </a:prstGeom>
          <a:gradFill rotWithShape="1">
            <a:gsLst>
              <a:gs pos="0">
                <a:srgbClr val="22D3EE">
                  <a:alpha val="22000"/>
                </a:srgbClr>
              </a:gs>
              <a:gs pos="100000">
                <a:srgbClr val="22D3E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22D3EE"/>
                </a:solidFill>
                <a:latin typeface="Consolas"/>
              </a:rPr>
              <a:t>EVIDENCE DISCIPLINE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F7488"/>
                </a:solidFill>
                <a:latin typeface="Consolas"/>
              </a:rPr>
              <a:t>AI for Coders &amp; Software Engineers  |  ENEC 2026  |  Synthetic training material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22D3EE"/>
                </a:solidFill>
                <a:latin typeface="Consolas"/>
              </a:rPr>
              <a:t>03</a:t>
            </a:r>
            <a:r>
              <a:rPr sz="1100">
                <a:solidFill>
                  <a:srgbClr val="5F7488"/>
                </a:solidFill>
                <a:latin typeface="Consolas"/>
              </a:rPr>
              <a:t>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F2F7FB"/>
                </a:solidFill>
                <a:latin typeface="Calibri"/>
              </a:rPr>
              <a:t>What must stay separate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9FB4C8"/>
                </a:solidFill>
                <a:latin typeface="Calibri"/>
              </a:rPr>
              <a:t>Five evidence types, five different kinds of trust.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783080"/>
          <a:ext cx="11183112" cy="340156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3291840"/>
                <a:gridCol w="3657600"/>
                <a:gridCol w="4233672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400" b="1" i="0" spc="100">
                          <a:solidFill>
                            <a:srgbClr val="22D3EE"/>
                          </a:solidFill>
                          <a:latin typeface="Consolas"/>
                        </a:rPr>
                        <a:t>Evidence type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131C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 spc="100">
                          <a:solidFill>
                            <a:srgbClr val="22D3EE"/>
                          </a:solidFill>
                          <a:latin typeface="Consolas"/>
                        </a:rPr>
                        <a:t>Example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131C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 spc="100">
                          <a:solidFill>
                            <a:srgbClr val="22D3EE"/>
                          </a:solidFill>
                          <a:latin typeface="Consolas"/>
                        </a:rPr>
                        <a:t>Why separation matters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131C30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550" b="1" i="0">
                          <a:solidFill>
                            <a:srgbClr val="F2F7FB"/>
                          </a:solidFill>
                          <a:latin typeface="Calibri"/>
                        </a:rPr>
                        <a:t>Observed structured facts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F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50" b="0" i="0">
                          <a:solidFill>
                            <a:srgbClr val="F2F7FB"/>
                          </a:solidFill>
                          <a:latin typeface="Calibri"/>
                        </a:rPr>
                        <a:t>Health score, work-order count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F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50" b="0" i="0">
                          <a:solidFill>
                            <a:srgbClr val="F2F7FB"/>
                          </a:solidFill>
                          <a:latin typeface="Calibri"/>
                        </a:rPr>
                        <a:t>Directly queryable facts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F1626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550" b="1" i="0">
                          <a:solidFill>
                            <a:srgbClr val="F2F7FB"/>
                          </a:solidFill>
                          <a:latin typeface="Calibri"/>
                        </a:rPr>
                        <a:t>Sensor and model evidence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70B1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50" b="0" i="0">
                          <a:solidFill>
                            <a:srgbClr val="F2F7FB"/>
                          </a:solidFill>
                          <a:latin typeface="Calibri"/>
                        </a:rPr>
                        <a:t>Trend, forecast, backtest error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70B1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50" b="0" i="0">
                          <a:solidFill>
                            <a:srgbClr val="F2F7FB"/>
                          </a:solidFill>
                          <a:latin typeface="Calibri"/>
                        </a:rPr>
                        <a:t>Analytical evidence, not a diagnosis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70B14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550" b="1" i="0">
                          <a:solidFill>
                            <a:srgbClr val="F2F7FB"/>
                          </a:solidFill>
                          <a:latin typeface="Calibri"/>
                        </a:rPr>
                        <a:t>Written guidance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F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50" b="0" i="0">
                          <a:solidFill>
                            <a:srgbClr val="F2F7FB"/>
                          </a:solidFill>
                          <a:latin typeface="Calibri"/>
                        </a:rPr>
                        <a:t>Approved V2 procedure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F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50" b="0" i="0">
                          <a:solidFill>
                            <a:srgbClr val="F2F7FB"/>
                          </a:solidFill>
                          <a:latin typeface="Calibri"/>
                        </a:rPr>
                        <a:t>Organisational authority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F1626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550" b="1" i="0">
                          <a:solidFill>
                            <a:srgbClr val="F2F7FB"/>
                          </a:solidFill>
                          <a:latin typeface="Calibri"/>
                        </a:rPr>
                        <a:t>Model interpretation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70B1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50" b="0" i="0">
                          <a:solidFill>
                            <a:srgbClr val="F2F7FB"/>
                          </a:solidFill>
                          <a:latin typeface="Calibri"/>
                        </a:rPr>
                        <a:t>Summary or recommendation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70B1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50" b="0" i="0">
                          <a:solidFill>
                            <a:srgbClr val="F2F7FB"/>
                          </a:solidFill>
                          <a:latin typeface="Calibri"/>
                        </a:rPr>
                        <a:t>Generated reasoning, must be traceable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70B14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550" b="1" i="0">
                          <a:solidFill>
                            <a:srgbClr val="F2F7FB"/>
                          </a:solidFill>
                          <a:latin typeface="Calibri"/>
                        </a:rPr>
                        <a:t>Human decision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F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50" b="0" i="0">
                          <a:solidFill>
                            <a:srgbClr val="F2F7FB"/>
                          </a:solidFill>
                          <a:latin typeface="Calibri"/>
                        </a:rPr>
                        <a:t>Approve, revise, reject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F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50" b="0" i="0">
                          <a:solidFill>
                            <a:srgbClr val="F2F7FB"/>
                          </a:solidFill>
                          <a:latin typeface="Calibri"/>
                        </a:rPr>
                        <a:t>Final authority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F1626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02920" y="5486400"/>
            <a:ext cx="11183112" cy="685800"/>
          </a:xfrm>
          <a:prstGeom prst="roundRect">
            <a:avLst>
              <a:gd name="adj" fmla="val 13333"/>
            </a:avLst>
          </a:prstGeom>
          <a:solidFill>
            <a:srgbClr val="13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5486400"/>
            <a:ext cx="64008" cy="6858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486400"/>
            <a:ext cx="107899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F2F7FB"/>
                </a:solidFill>
                <a:latin typeface="Calibri"/>
              </a:rPr>
              <a:t>The moment a briefing blurs a forecast with a fact, or a draft with an approval, review becomes impossible.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863840" y="-2926080"/>
            <a:ext cx="6858000" cy="6858000"/>
          </a:xfrm>
          <a:prstGeom prst="ellipse">
            <a:avLst/>
          </a:prstGeom>
          <a:gradFill rotWithShape="1">
            <a:gsLst>
              <a:gs pos="0">
                <a:srgbClr val="8B5CF6">
                  <a:alpha val="38000"/>
                </a:srgbClr>
              </a:gs>
              <a:gs pos="100000">
                <a:srgbClr val="8B5CF6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108960" y="3657600"/>
            <a:ext cx="6400800" cy="6400800"/>
          </a:xfrm>
          <a:prstGeom prst="ellipse">
            <a:avLst/>
          </a:prstGeom>
          <a:gradFill rotWithShape="1">
            <a:gsLst>
              <a:gs pos="0">
                <a:srgbClr val="22D3EE">
                  <a:alpha val="22000"/>
                </a:srgbClr>
              </a:gs>
              <a:gs pos="100000">
                <a:srgbClr val="22D3E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22D3EE"/>
                </a:solidFill>
                <a:latin typeface="Consolas"/>
              </a:rPr>
              <a:t>CAPSTONE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F7488"/>
                </a:solidFill>
                <a:latin typeface="Consolas"/>
              </a:rPr>
              <a:t>AI for Coders &amp; Software Engineers  |  ENEC 2026  |  Synthetic training material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22D3EE"/>
                </a:solidFill>
                <a:latin typeface="Consolas"/>
              </a:rPr>
              <a:t>04</a:t>
            </a:r>
            <a:r>
              <a:rPr sz="1100">
                <a:solidFill>
                  <a:srgbClr val="5F7488"/>
                </a:solidFill>
                <a:latin typeface="Consolas"/>
              </a:rPr>
              <a:t>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F2F7FB"/>
                </a:solidFill>
                <a:latin typeface="Calibri"/>
              </a:rPr>
              <a:t>The capstone scenario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9FB4C8"/>
                </a:solidFill>
                <a:latin typeface="Calibri"/>
              </a:rPr>
              <a:t>A-001 condition and reliability review: decision support, end to end.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783080"/>
            <a:ext cx="11183112" cy="1051560"/>
          </a:xfrm>
          <a:prstGeom prst="roundRect">
            <a:avLst>
              <a:gd name="adj" fmla="val 8695"/>
            </a:avLst>
          </a:prstGeom>
          <a:solidFill>
            <a:srgbClr val="0F1626"/>
          </a:solidFill>
          <a:ln w="158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783080"/>
            <a:ext cx="10698480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F2F7FB"/>
                </a:solidFill>
                <a:latin typeface="Calibri"/>
              </a:rPr>
              <a:t>"What does the available evidence say about A-001, what should a qualified reviewer pay attention to, and what is the appropriate human next step?"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063240"/>
            <a:ext cx="5486400" cy="2606040"/>
          </a:xfrm>
          <a:prstGeom prst="roundRect">
            <a:avLst>
              <a:gd name="adj" fmla="val 4210"/>
            </a:avLst>
          </a:prstGeom>
          <a:solidFill>
            <a:srgbClr val="0F1626"/>
          </a:solidFill>
          <a:ln w="12700">
            <a:solidFill>
              <a:srgbClr val="26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191256"/>
            <a:ext cx="54864" cy="38404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4088" y="3191256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2F7FB"/>
                </a:solidFill>
                <a:latin typeface="Calibri"/>
              </a:rPr>
              <a:t>Required evidence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3721608"/>
            <a:ext cx="5102352" cy="18562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520" b="1" i="0">
                <a:solidFill>
                  <a:srgbClr val="22D3EE"/>
                </a:solidFill>
                <a:latin typeface="Calibri"/>
              </a:rPr>
              <a:t>•  </a:t>
            </a:r>
            <a:r>
              <a:rPr sz="1520" b="0" i="0">
                <a:solidFill>
                  <a:srgbClr val="9FB4C8"/>
                </a:solidFill>
                <a:latin typeface="Calibri"/>
              </a:rPr>
              <a:t>Structured table facts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520" b="1" i="0">
                <a:solidFill>
                  <a:srgbClr val="22D3EE"/>
                </a:solidFill>
                <a:latin typeface="Calibri"/>
              </a:rPr>
              <a:t>•  </a:t>
            </a:r>
            <a:r>
              <a:rPr sz="1520" b="0" i="0">
                <a:solidFill>
                  <a:srgbClr val="9FB4C8"/>
                </a:solidFill>
                <a:latin typeface="Calibri"/>
              </a:rPr>
              <a:t>Sensor trend and forecast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520" b="1" i="0">
                <a:solidFill>
                  <a:srgbClr val="22D3EE"/>
                </a:solidFill>
                <a:latin typeface="Calibri"/>
              </a:rPr>
              <a:t>•  </a:t>
            </a:r>
            <a:r>
              <a:rPr sz="1520" b="0" i="0">
                <a:solidFill>
                  <a:srgbClr val="9FB4C8"/>
                </a:solidFill>
                <a:latin typeface="Calibri"/>
              </a:rPr>
              <a:t>Approved document guidance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520" b="1" i="0">
                <a:solidFill>
                  <a:srgbClr val="22D3EE"/>
                </a:solidFill>
                <a:latin typeface="Calibri"/>
              </a:rPr>
              <a:t>•  </a:t>
            </a:r>
            <a:r>
              <a:rPr sz="1520" b="0" i="0">
                <a:solidFill>
                  <a:srgbClr val="9FB4C8"/>
                </a:solidFill>
                <a:latin typeface="Calibri"/>
              </a:rPr>
              <a:t>Work-order and field context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520" b="1" i="0">
                <a:solidFill>
                  <a:srgbClr val="22D3EE"/>
                </a:solidFill>
                <a:latin typeface="Calibri"/>
              </a:rPr>
              <a:t>•  </a:t>
            </a:r>
            <a:r>
              <a:rPr sz="1520" b="0" i="0">
                <a:solidFill>
                  <a:srgbClr val="9FB4C8"/>
                </a:solidFill>
                <a:latin typeface="Calibri"/>
              </a:rPr>
              <a:t>Gaps, conflicts and uncertainty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9632" y="3063240"/>
            <a:ext cx="5486400" cy="2606040"/>
          </a:xfrm>
          <a:prstGeom prst="roundRect">
            <a:avLst>
              <a:gd name="adj" fmla="val 4210"/>
            </a:avLst>
          </a:prstGeom>
          <a:solidFill>
            <a:srgbClr val="0F1626"/>
          </a:solidFill>
          <a:ln w="12700">
            <a:solidFill>
              <a:srgbClr val="26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9632" y="3191256"/>
            <a:ext cx="54864" cy="384048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3191256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2F7FB"/>
                </a:solidFill>
                <a:latin typeface="Calibri"/>
              </a:rPr>
              <a:t>The boundary: decision support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977639"/>
            <a:ext cx="5102352" cy="160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520" b="1" i="0">
                <a:solidFill>
                  <a:srgbClr val="F87171"/>
                </a:solidFill>
                <a:latin typeface="Calibri"/>
              </a:rPr>
              <a:t>•  </a:t>
            </a:r>
            <a:r>
              <a:rPr sz="1520" b="0" i="0">
                <a:solidFill>
                  <a:srgbClr val="9FB4C8"/>
                </a:solidFill>
                <a:latin typeface="Calibri"/>
              </a:rPr>
              <a:t>Prepare evidence and a briefing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520" b="1" i="0">
                <a:solidFill>
                  <a:srgbClr val="F87171"/>
                </a:solidFill>
                <a:latin typeface="Calibri"/>
              </a:rPr>
              <a:t>•  </a:t>
            </a:r>
            <a:r>
              <a:rPr sz="1520" b="0" i="0">
                <a:solidFill>
                  <a:srgbClr val="9FB4C8"/>
                </a:solidFill>
                <a:latin typeface="Calibri"/>
              </a:rPr>
              <a:t>Never diagnose a real failure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520" b="1" i="0">
                <a:solidFill>
                  <a:srgbClr val="F87171"/>
                </a:solidFill>
                <a:latin typeface="Calibri"/>
              </a:rPr>
              <a:t>•  </a:t>
            </a:r>
            <a:r>
              <a:rPr sz="1520" b="0" i="0">
                <a:solidFill>
                  <a:srgbClr val="9FB4C8"/>
                </a:solidFill>
                <a:latin typeface="Calibri"/>
              </a:rPr>
              <a:t>Never authorise maintenance or shutdown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520" b="1" i="0">
                <a:solidFill>
                  <a:srgbClr val="F87171"/>
                </a:solidFill>
                <a:latin typeface="Calibri"/>
              </a:rPr>
              <a:t>•  </a:t>
            </a:r>
            <a:r>
              <a:rPr sz="1520" b="0" i="0">
                <a:solidFill>
                  <a:srgbClr val="9FB4C8"/>
                </a:solidFill>
                <a:latin typeface="Calibri"/>
              </a:rPr>
              <a:t>Never treat a model output as approval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5852160"/>
            <a:ext cx="11183112" cy="475488"/>
          </a:xfrm>
          <a:prstGeom prst="roundRect">
            <a:avLst>
              <a:gd name="adj" fmla="val 19230"/>
            </a:avLst>
          </a:prstGeom>
          <a:solidFill>
            <a:srgbClr val="13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5852160"/>
            <a:ext cx="64008" cy="47548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852160"/>
            <a:ext cx="107899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F2F7FB"/>
                </a:solidFill>
                <a:latin typeface="Calibri"/>
              </a:rPr>
              <a:t>3.5 days of capability. One afternoon to prove you can govern 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863840" y="-2926080"/>
            <a:ext cx="6858000" cy="6858000"/>
          </a:xfrm>
          <a:prstGeom prst="ellipse">
            <a:avLst/>
          </a:prstGeom>
          <a:gradFill rotWithShape="1">
            <a:gsLst>
              <a:gs pos="0">
                <a:srgbClr val="8B5CF6">
                  <a:alpha val="38000"/>
                </a:srgbClr>
              </a:gs>
              <a:gs pos="100000">
                <a:srgbClr val="8B5CF6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108960" y="3657600"/>
            <a:ext cx="6400800" cy="6400800"/>
          </a:xfrm>
          <a:prstGeom prst="ellipse">
            <a:avLst/>
          </a:prstGeom>
          <a:gradFill rotWithShape="1">
            <a:gsLst>
              <a:gs pos="0">
                <a:srgbClr val="22D3EE">
                  <a:alpha val="22000"/>
                </a:srgbClr>
              </a:gs>
              <a:gs pos="100000">
                <a:srgbClr val="22D3E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22D3EE"/>
                </a:solidFill>
                <a:latin typeface="Consolas"/>
              </a:rPr>
              <a:t>NOTEBOOK 1: THE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F7488"/>
                </a:solidFill>
                <a:latin typeface="Consolas"/>
              </a:rPr>
              <a:t>AI for Coders &amp; Software Engineers  |  ENEC 2026  |  Synthetic training material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22D3EE"/>
                </a:solidFill>
                <a:latin typeface="Consolas"/>
              </a:rPr>
              <a:t>05</a:t>
            </a:r>
            <a:r>
              <a:rPr sz="1100">
                <a:solidFill>
                  <a:srgbClr val="5F7488"/>
                </a:solidFill>
                <a:latin typeface="Consolas"/>
              </a:rPr>
              <a:t>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F2F7FB"/>
                </a:solidFill>
                <a:latin typeface="Calibri"/>
              </a:rPr>
              <a:t>Eight steps in the capstone notebook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9FB4C8"/>
                </a:solidFill>
                <a:latin typeface="Calibri"/>
              </a:rPr>
              <a:t>Evidence first, briefing second, human last.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1819656"/>
            <a:ext cx="384048" cy="3840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819656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070B14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19" y="1783080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2F7FB"/>
                </a:solidFill>
                <a:latin typeface="Calibri"/>
              </a:rPr>
              <a:t>Which documents are authoritative?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19" y="2066543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9FB4C8"/>
                </a:solidFill>
                <a:latin typeface="Calibri"/>
              </a:rPr>
              <a:t>the register, by status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2688336"/>
            <a:ext cx="384048" cy="3840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688336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070B14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19" y="2651760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2F7FB"/>
                </a:solidFill>
                <a:latin typeface="Calibri"/>
              </a:rPr>
              <a:t>Structured evidence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19" y="2935224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9FB4C8"/>
                </a:solidFill>
                <a:latin typeface="Calibri"/>
              </a:rPr>
              <a:t>deterministic code, no LLM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3557015"/>
            <a:ext cx="384048" cy="3840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557015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070B14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19" y="3520439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2F7FB"/>
                </a:solidFill>
                <a:latin typeface="Calibri"/>
              </a:rPr>
              <a:t>Predictive evidence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19" y="3803903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9FB4C8"/>
                </a:solidFill>
                <a:latin typeface="Calibri"/>
              </a:rPr>
              <a:t>trend and forecast with limits</a:t>
            </a:r>
          </a:p>
        </p:txBody>
      </p:sp>
      <p:sp>
        <p:nvSpPr>
          <p:cNvPr id="21" name="Oval 20"/>
          <p:cNvSpPr/>
          <p:nvPr/>
        </p:nvSpPr>
        <p:spPr>
          <a:xfrm>
            <a:off x="640080" y="4425696"/>
            <a:ext cx="384048" cy="3840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425696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070B14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19" y="4389120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2F7FB"/>
                </a:solidFill>
                <a:latin typeface="Calibri"/>
              </a:rPr>
              <a:t>Document 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19" y="4672583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9FB4C8"/>
                </a:solidFill>
                <a:latin typeface="Calibri"/>
              </a:rPr>
              <a:t>governed retrieval, 8 queries</a:t>
            </a:r>
          </a:p>
        </p:txBody>
      </p:sp>
      <p:sp>
        <p:nvSpPr>
          <p:cNvPr id="25" name="Oval 24"/>
          <p:cNvSpPr/>
          <p:nvPr/>
        </p:nvSpPr>
        <p:spPr>
          <a:xfrm>
            <a:off x="6309360" y="1819656"/>
            <a:ext cx="384048" cy="3840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0" y="1819656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070B14"/>
                </a:solidFill>
                <a:latin typeface="Calibr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1783080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2F7FB"/>
                </a:solidFill>
                <a:latin typeface="Calibri"/>
              </a:rPr>
              <a:t>Assemble the evidence packet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2066543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9FB4C8"/>
                </a:solidFill>
                <a:latin typeface="Calibri"/>
              </a:rPr>
              <a:t>one labelled text block</a:t>
            </a:r>
          </a:p>
        </p:txBody>
      </p:sp>
      <p:sp>
        <p:nvSpPr>
          <p:cNvPr id="29" name="Oval 28"/>
          <p:cNvSpPr/>
          <p:nvPr/>
        </p:nvSpPr>
        <p:spPr>
          <a:xfrm>
            <a:off x="6309360" y="2688336"/>
            <a:ext cx="384048" cy="3840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09360" y="2688336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070B14"/>
                </a:solidFill>
                <a:latin typeface="Calibri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2651760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2F7FB"/>
                </a:solidFill>
                <a:latin typeface="Calibri"/>
              </a:rPr>
              <a:t>Generate the briefing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2935224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9FB4C8"/>
                </a:solidFill>
                <a:latin typeface="Calibri"/>
              </a:rPr>
              <a:t>8 sections, about 450 words</a:t>
            </a:r>
          </a:p>
        </p:txBody>
      </p:sp>
      <p:sp>
        <p:nvSpPr>
          <p:cNvPr id="33" name="Oval 32"/>
          <p:cNvSpPr/>
          <p:nvPr/>
        </p:nvSpPr>
        <p:spPr>
          <a:xfrm>
            <a:off x="6309360" y="3557015"/>
            <a:ext cx="384048" cy="3840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09360" y="3557015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070B14"/>
                </a:solidFill>
                <a:latin typeface="Calibri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3520439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2F7FB"/>
                </a:solidFill>
                <a:latin typeface="Calibri"/>
              </a:rPr>
              <a:t>Check the briefing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3803903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9FB4C8"/>
                </a:solidFill>
                <a:latin typeface="Calibri"/>
              </a:rPr>
              <a:t>transparent rules</a:t>
            </a:r>
          </a:p>
        </p:txBody>
      </p:sp>
      <p:sp>
        <p:nvSpPr>
          <p:cNvPr id="37" name="Oval 36"/>
          <p:cNvSpPr/>
          <p:nvPr/>
        </p:nvSpPr>
        <p:spPr>
          <a:xfrm>
            <a:off x="6309360" y="4425696"/>
            <a:ext cx="384048" cy="3840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09360" y="4425696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070B14"/>
                </a:solidFill>
                <a:latin typeface="Calibri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4389120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2F7FB"/>
                </a:solidFill>
                <a:latin typeface="Calibri"/>
              </a:rPr>
              <a:t>Your review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0" y="4672583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9FB4C8"/>
                </a:solidFill>
                <a:latin typeface="Calibri"/>
              </a:rPr>
              <a:t>the human part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02920" y="5669280"/>
            <a:ext cx="11183112" cy="502920"/>
          </a:xfrm>
          <a:prstGeom prst="roundRect">
            <a:avLst>
              <a:gd name="adj" fmla="val 18181"/>
            </a:avLst>
          </a:prstGeom>
          <a:solidFill>
            <a:srgbClr val="13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02920" y="5669280"/>
            <a:ext cx="64008" cy="5029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77240" y="566928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F2F7FB"/>
                </a:solidFill>
                <a:latin typeface="Calibri"/>
              </a:rPr>
              <a:t>Hands-on notebook: Day4_01_Capstone_A001_Review_Briefing  |  90 min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863840" y="-2926080"/>
            <a:ext cx="6858000" cy="6858000"/>
          </a:xfrm>
          <a:prstGeom prst="ellipse">
            <a:avLst/>
          </a:prstGeom>
          <a:gradFill rotWithShape="1">
            <a:gsLst>
              <a:gs pos="0">
                <a:srgbClr val="8B5CF6">
                  <a:alpha val="38000"/>
                </a:srgbClr>
              </a:gs>
              <a:gs pos="100000">
                <a:srgbClr val="8B5CF6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108960" y="3657600"/>
            <a:ext cx="6400800" cy="6400800"/>
          </a:xfrm>
          <a:prstGeom prst="ellipse">
            <a:avLst/>
          </a:prstGeom>
          <a:gradFill rotWithShape="1">
            <a:gsLst>
              <a:gs pos="0">
                <a:srgbClr val="22D3EE">
                  <a:alpha val="22000"/>
                </a:srgbClr>
              </a:gs>
              <a:gs pos="100000">
                <a:srgbClr val="22D3E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22D3EE"/>
                </a:solidFill>
                <a:latin typeface="Consolas"/>
              </a:rPr>
              <a:t>NOTEBOOK 1: EVIDENCE PACKET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F7488"/>
                </a:solidFill>
                <a:latin typeface="Consolas"/>
              </a:rPr>
              <a:t>AI for Coders &amp; Software Engineers  |  ENEC 2026  |  Synthetic training material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22D3EE"/>
                </a:solidFill>
                <a:latin typeface="Consolas"/>
              </a:rPr>
              <a:t>06</a:t>
            </a:r>
            <a:r>
              <a:rPr sz="1100">
                <a:solidFill>
                  <a:srgbClr val="5F7488"/>
                </a:solidFill>
                <a:latin typeface="Consolas"/>
              </a:rPr>
              <a:t>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F2F7FB"/>
                </a:solidFill>
                <a:latin typeface="Calibri"/>
              </a:rPr>
              <a:t>Numbers come from code. Words come from the model.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9FB4C8"/>
                </a:solidFill>
                <a:latin typeface="Calibri"/>
              </a:rPr>
              <a:t>Why the structured evidence step uses no LLM.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783080"/>
            <a:ext cx="5486400" cy="3108960"/>
          </a:xfrm>
          <a:prstGeom prst="roundRect">
            <a:avLst>
              <a:gd name="adj" fmla="val 3529"/>
            </a:avLst>
          </a:prstGeom>
          <a:solidFill>
            <a:srgbClr val="0F1626"/>
          </a:solidFill>
          <a:ln w="12700">
            <a:solidFill>
              <a:srgbClr val="26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911095"/>
            <a:ext cx="54864" cy="38404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11095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2F7FB"/>
                </a:solidFill>
                <a:latin typeface="Calibri"/>
              </a:rPr>
              <a:t>Deterministic code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441448"/>
            <a:ext cx="5102352" cy="23591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50" b="1" i="0">
                <a:solidFill>
                  <a:srgbClr val="22D3EE"/>
                </a:solidFill>
                <a:latin typeface="Calibri"/>
              </a:rPr>
              <a:t>•  </a:t>
            </a:r>
            <a:r>
              <a:rPr sz="1650" b="0" i="0">
                <a:solidFill>
                  <a:srgbClr val="9FB4C8"/>
                </a:solidFill>
                <a:latin typeface="Calibri"/>
              </a:rPr>
              <a:t>Health score, risk level, open work orders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50" b="1" i="0">
                <a:solidFill>
                  <a:srgbClr val="22D3EE"/>
                </a:solidFill>
                <a:latin typeface="Calibri"/>
              </a:rPr>
              <a:t>•  </a:t>
            </a:r>
            <a:r>
              <a:rPr sz="1650" b="0" i="0">
                <a:solidFill>
                  <a:srgbClr val="9FB4C8"/>
                </a:solidFill>
                <a:latin typeface="Calibri"/>
              </a:rPr>
              <a:t>Sensor trend and forecast figures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50" b="1" i="0">
                <a:solidFill>
                  <a:srgbClr val="22D3EE"/>
                </a:solidFill>
                <a:latin typeface="Calibri"/>
              </a:rPr>
              <a:t>•  </a:t>
            </a:r>
            <a:r>
              <a:rPr sz="1650" b="0" i="0">
                <a:solidFill>
                  <a:srgbClr val="9FB4C8"/>
                </a:solidFill>
                <a:latin typeface="Calibri"/>
              </a:rPr>
              <a:t>Same input, same output, every run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50" b="1" i="0">
                <a:solidFill>
                  <a:srgbClr val="22D3EE"/>
                </a:solidFill>
                <a:latin typeface="Calibri"/>
              </a:rPr>
              <a:t>•  </a:t>
            </a:r>
            <a:r>
              <a:rPr sz="1650" b="0" i="0">
                <a:solidFill>
                  <a:srgbClr val="9FB4C8"/>
                </a:solidFill>
                <a:latin typeface="Calibri"/>
              </a:rPr>
              <a:t>Can be unit-tested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1783080"/>
            <a:ext cx="5486400" cy="3108960"/>
          </a:xfrm>
          <a:prstGeom prst="roundRect">
            <a:avLst>
              <a:gd name="adj" fmla="val 3529"/>
            </a:avLst>
          </a:prstGeom>
          <a:solidFill>
            <a:srgbClr val="0F1626"/>
          </a:solidFill>
          <a:ln w="12700">
            <a:solidFill>
              <a:srgbClr val="26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99632" y="1911095"/>
            <a:ext cx="54864" cy="384048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911095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2F7FB"/>
                </a:solidFill>
                <a:latin typeface="Calibri"/>
              </a:rPr>
              <a:t>The model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441448"/>
            <a:ext cx="5102352" cy="23591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50" b="1" i="0">
                <a:solidFill>
                  <a:srgbClr val="8B5CF6"/>
                </a:solidFill>
                <a:latin typeface="Calibri"/>
              </a:rPr>
              <a:t>•  </a:t>
            </a:r>
            <a:r>
              <a:rPr sz="1650" b="0" i="0">
                <a:solidFill>
                  <a:srgbClr val="9FB4C8"/>
                </a:solidFill>
                <a:latin typeface="Calibri"/>
              </a:rPr>
              <a:t>Reads the packet and writes the briefing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50" b="1" i="0">
                <a:solidFill>
                  <a:srgbClr val="8B5CF6"/>
                </a:solidFill>
                <a:latin typeface="Calibri"/>
              </a:rPr>
              <a:t>•  </a:t>
            </a:r>
            <a:r>
              <a:rPr sz="1650" b="0" i="0">
                <a:solidFill>
                  <a:srgbClr val="9FB4C8"/>
                </a:solidFill>
                <a:latin typeface="Calibri"/>
              </a:rPr>
              <a:t>Must cite what it was given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50" b="1" i="0">
                <a:solidFill>
                  <a:srgbClr val="8B5CF6"/>
                </a:solidFill>
                <a:latin typeface="Calibri"/>
              </a:rPr>
              <a:t>•  </a:t>
            </a:r>
            <a:r>
              <a:rPr sz="1650" b="0" i="0">
                <a:solidFill>
                  <a:srgbClr val="9FB4C8"/>
                </a:solidFill>
                <a:latin typeface="Calibri"/>
              </a:rPr>
              <a:t>Must flag gaps, drafts and conflicts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50" b="1" i="0">
                <a:solidFill>
                  <a:srgbClr val="8B5CF6"/>
                </a:solidFill>
                <a:latin typeface="Calibri"/>
              </a:rPr>
              <a:t>•  </a:t>
            </a:r>
            <a:r>
              <a:rPr sz="1650" b="0" i="0">
                <a:solidFill>
                  <a:srgbClr val="9FB4C8"/>
                </a:solidFill>
                <a:latin typeface="Calibri"/>
              </a:rPr>
              <a:t>Cannot add facts that are not in the packet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5257800"/>
            <a:ext cx="11183112" cy="530352"/>
          </a:xfrm>
          <a:prstGeom prst="roundRect">
            <a:avLst>
              <a:gd name="adj" fmla="val 17241"/>
            </a:avLst>
          </a:prstGeom>
          <a:solidFill>
            <a:srgbClr val="13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5257800"/>
            <a:ext cx="64008" cy="5303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5257800"/>
            <a:ext cx="1078992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F2F7FB"/>
                </a:solidFill>
                <a:latin typeface="Calibri"/>
              </a:rPr>
              <a:t>If a number is wrong, you should be able to find the line of code that produced 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863840" y="-2926080"/>
            <a:ext cx="6858000" cy="6858000"/>
          </a:xfrm>
          <a:prstGeom prst="ellipse">
            <a:avLst/>
          </a:prstGeom>
          <a:gradFill rotWithShape="1">
            <a:gsLst>
              <a:gs pos="0">
                <a:srgbClr val="8B5CF6">
                  <a:alpha val="38000"/>
                </a:srgbClr>
              </a:gs>
              <a:gs pos="100000">
                <a:srgbClr val="8B5CF6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108960" y="3657600"/>
            <a:ext cx="6400800" cy="6400800"/>
          </a:xfrm>
          <a:prstGeom prst="ellipse">
            <a:avLst/>
          </a:prstGeom>
          <a:gradFill rotWithShape="1">
            <a:gsLst>
              <a:gs pos="0">
                <a:srgbClr val="22D3EE">
                  <a:alpha val="22000"/>
                </a:srgbClr>
              </a:gs>
              <a:gs pos="100000">
                <a:srgbClr val="22D3E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22D3EE"/>
                </a:solidFill>
                <a:latin typeface="Consolas"/>
              </a:rPr>
              <a:t>CAPSTONE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F7488"/>
                </a:solidFill>
                <a:latin typeface="Consolas"/>
              </a:rPr>
              <a:t>AI for Coders &amp; Software Engineers  |  ENEC 2026  |  Synthetic training material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22D3EE"/>
                </a:solidFill>
                <a:latin typeface="Consolas"/>
              </a:rPr>
              <a:t>07</a:t>
            </a:r>
            <a:r>
              <a:rPr sz="1100">
                <a:solidFill>
                  <a:srgbClr val="5F7488"/>
                </a:solidFill>
                <a:latin typeface="Consolas"/>
              </a:rPr>
              <a:t>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F2F7FB"/>
                </a:solidFill>
                <a:latin typeface="Calibri"/>
              </a:rPr>
              <a:t>The eight-section briefing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9FB4C8"/>
                </a:solidFill>
                <a:latin typeface="Calibri"/>
              </a:rPr>
              <a:t>Decision support a reviewer can actually work with.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783080"/>
            <a:ext cx="2697480" cy="1737360"/>
          </a:xfrm>
          <a:prstGeom prst="roundRect">
            <a:avLst>
              <a:gd name="adj" fmla="val 6315"/>
            </a:avLst>
          </a:prstGeom>
          <a:solidFill>
            <a:srgbClr val="0F1626"/>
          </a:solidFill>
          <a:ln w="12700">
            <a:solidFill>
              <a:srgbClr val="26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911095"/>
            <a:ext cx="54864" cy="38404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11095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F2F7FB"/>
                </a:solidFill>
                <a:latin typeface="Calibri"/>
              </a:rPr>
              <a:t>1  Situation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441448"/>
            <a:ext cx="2313432" cy="9875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520" b="0" i="0">
                <a:solidFill>
                  <a:srgbClr val="9FB4C8"/>
                </a:solidFill>
                <a:latin typeface="Calibri"/>
              </a:rPr>
              <a:t>What triggered the review?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19272" y="1783080"/>
            <a:ext cx="2697480" cy="1737360"/>
          </a:xfrm>
          <a:prstGeom prst="roundRect">
            <a:avLst>
              <a:gd name="adj" fmla="val 6315"/>
            </a:avLst>
          </a:prstGeom>
          <a:solidFill>
            <a:srgbClr val="0F1626"/>
          </a:solidFill>
          <a:ln w="12700">
            <a:solidFill>
              <a:srgbClr val="26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19272" y="1911095"/>
            <a:ext cx="54864" cy="384048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20440" y="1911095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F2F7FB"/>
                </a:solidFill>
                <a:latin typeface="Calibri"/>
              </a:rPr>
              <a:t>2  Structured evidence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2441448"/>
            <a:ext cx="2313432" cy="9875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520" b="0" i="0">
                <a:solidFill>
                  <a:srgbClr val="9FB4C8"/>
                </a:solidFill>
                <a:latin typeface="Calibri"/>
              </a:rPr>
              <a:t>Table, work and sensor records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35624" y="1783080"/>
            <a:ext cx="2697480" cy="1737360"/>
          </a:xfrm>
          <a:prstGeom prst="roundRect">
            <a:avLst>
              <a:gd name="adj" fmla="val 6315"/>
            </a:avLst>
          </a:prstGeom>
          <a:solidFill>
            <a:srgbClr val="0F1626"/>
          </a:solidFill>
          <a:ln w="12700">
            <a:solidFill>
              <a:srgbClr val="26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35624" y="1911095"/>
            <a:ext cx="54864" cy="38404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36792" y="1911095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F2F7FB"/>
                </a:solidFill>
                <a:latin typeface="Calibri"/>
              </a:rPr>
              <a:t>3  Predictive evidence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36792" y="2441448"/>
            <a:ext cx="2313432" cy="9875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520" b="0" i="0">
                <a:solidFill>
                  <a:srgbClr val="9FB4C8"/>
                </a:solidFill>
                <a:latin typeface="Calibri"/>
              </a:rPr>
              <a:t>Forecast, and what it does NOT prove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51976" y="1783080"/>
            <a:ext cx="2697480" cy="1737360"/>
          </a:xfrm>
          <a:prstGeom prst="roundRect">
            <a:avLst>
              <a:gd name="adj" fmla="val 6315"/>
            </a:avLst>
          </a:prstGeom>
          <a:solidFill>
            <a:srgbClr val="0F1626"/>
          </a:solidFill>
          <a:ln w="12700">
            <a:solidFill>
              <a:srgbClr val="26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951976" y="1911095"/>
            <a:ext cx="54864" cy="38404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53144" y="1911095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F2F7FB"/>
                </a:solidFill>
                <a:latin typeface="Calibri"/>
              </a:rPr>
              <a:t>4  Document 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53144" y="2441448"/>
            <a:ext cx="2313432" cy="9875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520" b="0" i="0">
                <a:solidFill>
                  <a:srgbClr val="9FB4C8"/>
                </a:solidFill>
                <a:latin typeface="Calibri"/>
              </a:rPr>
              <a:t>IDs, versions, status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3703320"/>
            <a:ext cx="2697480" cy="1737360"/>
          </a:xfrm>
          <a:prstGeom prst="roundRect">
            <a:avLst>
              <a:gd name="adj" fmla="val 6315"/>
            </a:avLst>
          </a:prstGeom>
          <a:solidFill>
            <a:srgbClr val="0F1626"/>
          </a:solidFill>
          <a:ln w="12700">
            <a:solidFill>
              <a:srgbClr val="26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2920" y="3831335"/>
            <a:ext cx="54864" cy="38404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4088" y="3831335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F2F7FB"/>
                </a:solidFill>
                <a:latin typeface="Calibri"/>
              </a:rPr>
              <a:t>5  Assessment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8" y="4361688"/>
            <a:ext cx="2313432" cy="987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520" b="0" i="0">
                <a:solidFill>
                  <a:srgbClr val="9FB4C8"/>
                </a:solidFill>
                <a:latin typeface="Calibri"/>
              </a:rPr>
              <a:t>What the evidence supports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319272" y="3703320"/>
            <a:ext cx="2697480" cy="1737360"/>
          </a:xfrm>
          <a:prstGeom prst="roundRect">
            <a:avLst>
              <a:gd name="adj" fmla="val 6315"/>
            </a:avLst>
          </a:prstGeom>
          <a:solidFill>
            <a:srgbClr val="0F1626"/>
          </a:solidFill>
          <a:ln w="12700">
            <a:solidFill>
              <a:srgbClr val="26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319272" y="3831335"/>
            <a:ext cx="54864" cy="384048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20440" y="3831335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F2F7FB"/>
                </a:solidFill>
                <a:latin typeface="Calibri"/>
              </a:rPr>
              <a:t>6  Gaps / uncertainty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20440" y="4361688"/>
            <a:ext cx="2313432" cy="987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520" b="0" i="0">
                <a:solidFill>
                  <a:srgbClr val="9FB4C8"/>
                </a:solidFill>
                <a:latin typeface="Calibri"/>
              </a:rPr>
              <a:t>Unknown, conflicting, unverified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35624" y="3703320"/>
            <a:ext cx="2697480" cy="1737360"/>
          </a:xfrm>
          <a:prstGeom prst="roundRect">
            <a:avLst>
              <a:gd name="adj" fmla="val 6315"/>
            </a:avLst>
          </a:prstGeom>
          <a:solidFill>
            <a:srgbClr val="0F1626"/>
          </a:solidFill>
          <a:ln w="12700">
            <a:solidFill>
              <a:srgbClr val="26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35624" y="3831335"/>
            <a:ext cx="54864" cy="38404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36792" y="3831335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F2F7FB"/>
                </a:solidFill>
                <a:latin typeface="Calibri"/>
              </a:rPr>
              <a:t>7  Human next step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36792" y="4361688"/>
            <a:ext cx="2313432" cy="987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520" b="0" i="0">
                <a:solidFill>
                  <a:srgbClr val="9FB4C8"/>
                </a:solidFill>
                <a:latin typeface="Calibri"/>
              </a:rPr>
              <a:t>What a qualified reviewer decides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951976" y="3703320"/>
            <a:ext cx="2697480" cy="1737360"/>
          </a:xfrm>
          <a:prstGeom prst="roundRect">
            <a:avLst>
              <a:gd name="adj" fmla="val 6315"/>
            </a:avLst>
          </a:prstGeom>
          <a:solidFill>
            <a:srgbClr val="0F1626"/>
          </a:solidFill>
          <a:ln w="12700">
            <a:solidFill>
              <a:srgbClr val="26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951976" y="3831335"/>
            <a:ext cx="54864" cy="38404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53144" y="3831335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F2F7FB"/>
                </a:solidFill>
                <a:latin typeface="Calibri"/>
              </a:rPr>
              <a:t>8  Sources used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53144" y="4361688"/>
            <a:ext cx="2313432" cy="987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520" b="0" i="0">
                <a:solidFill>
                  <a:srgbClr val="9FB4C8"/>
                </a:solidFill>
                <a:latin typeface="Calibri"/>
              </a:rPr>
              <a:t>Tables and document IDs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02920" y="5715000"/>
            <a:ext cx="11183112" cy="530352"/>
          </a:xfrm>
          <a:prstGeom prst="roundRect">
            <a:avLst>
              <a:gd name="adj" fmla="val 17241"/>
            </a:avLst>
          </a:prstGeom>
          <a:solidFill>
            <a:srgbClr val="13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02920" y="5715000"/>
            <a:ext cx="64008" cy="5303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77240" y="5715000"/>
            <a:ext cx="1078992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F2F7FB"/>
                </a:solidFill>
                <a:latin typeface="Calibri"/>
              </a:rPr>
              <a:t>Sections 3, 6 and 7 carry the rubric: limits, honesty about gaps, and a clear human next step.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863840" y="-2926080"/>
            <a:ext cx="6858000" cy="6858000"/>
          </a:xfrm>
          <a:prstGeom prst="ellipse">
            <a:avLst/>
          </a:prstGeom>
          <a:gradFill rotWithShape="1">
            <a:gsLst>
              <a:gs pos="0">
                <a:srgbClr val="8B5CF6">
                  <a:alpha val="38000"/>
                </a:srgbClr>
              </a:gs>
              <a:gs pos="100000">
                <a:srgbClr val="8B5CF6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108960" y="3657600"/>
            <a:ext cx="6400800" cy="6400800"/>
          </a:xfrm>
          <a:prstGeom prst="ellipse">
            <a:avLst/>
          </a:prstGeom>
          <a:gradFill rotWithShape="1">
            <a:gsLst>
              <a:gs pos="0">
                <a:srgbClr val="22D3EE">
                  <a:alpha val="22000"/>
                </a:srgbClr>
              </a:gs>
              <a:gs pos="100000">
                <a:srgbClr val="22D3E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22D3EE"/>
                </a:solidFill>
                <a:latin typeface="Consolas"/>
              </a:rPr>
              <a:t>NOTEBOOK 1: AUTOMATIC CHECKS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F7488"/>
                </a:solidFill>
                <a:latin typeface="Consolas"/>
              </a:rPr>
              <a:t>AI for Coders &amp; Software Engineers  |  ENEC 2026  |  Synthetic training material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22D3EE"/>
                </a:solidFill>
                <a:latin typeface="Consolas"/>
              </a:rPr>
              <a:t>08</a:t>
            </a:r>
            <a:r>
              <a:rPr sz="1100">
                <a:solidFill>
                  <a:srgbClr val="5F7488"/>
                </a:solidFill>
                <a:latin typeface="Consolas"/>
              </a:rPr>
              <a:t>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F2F7FB"/>
                </a:solidFill>
                <a:latin typeface="Calibri"/>
              </a:rPr>
              <a:t>Check the briefing with transparent rules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9FB4C8"/>
                </a:solidFill>
                <a:latin typeface="Calibri"/>
              </a:rPr>
              <a:t>No black box: every check is a few lines of code you can read.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783080"/>
          <a:ext cx="11183112" cy="352044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5760720"/>
                <a:gridCol w="5422392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400" b="1" i="0" spc="100">
                          <a:solidFill>
                            <a:srgbClr val="22D3EE"/>
                          </a:solidFill>
                          <a:latin typeface="Consolas"/>
                        </a:rPr>
                        <a:t>Check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131C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 spc="100">
                          <a:solidFill>
                            <a:srgbClr val="22D3EE"/>
                          </a:solidFill>
                          <a:latin typeface="Consolas"/>
                        </a:rPr>
                        <a:t>What it looks for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131C30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550" b="1" i="0">
                          <a:solidFill>
                            <a:srgbClr val="F2F7FB"/>
                          </a:solidFill>
                          <a:latin typeface="Calibri"/>
                        </a:rPr>
                        <a:t>All 8 required sections present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F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50" b="0" i="0">
                          <a:solidFill>
                            <a:srgbClr val="F2F7FB"/>
                          </a:solidFill>
                          <a:latin typeface="Calibri"/>
                        </a:rPr>
                        <a:t>Headings 1 to 8 exist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F1626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550" b="1" i="0">
                          <a:solidFill>
                            <a:srgbClr val="F2F7FB"/>
                          </a:solidFill>
                          <a:latin typeface="Calibri"/>
                        </a:rPr>
                        <a:t>Every cited document ID exists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70B1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50" b="0" i="0">
                          <a:solidFill>
                            <a:srgbClr val="F2F7FB"/>
                          </a:solidFill>
                          <a:latin typeface="Calibri"/>
                        </a:rPr>
                        <a:t>No invented sources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70B14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550" b="1" i="0">
                          <a:solidFill>
                            <a:srgbClr val="F2F7FB"/>
                          </a:solidFill>
                          <a:latin typeface="Calibri"/>
                        </a:rPr>
                        <a:t>DRAFT / SUPERSEDED flagged, not relied on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F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50" b="0" i="0">
                          <a:solidFill>
                            <a:srgbClr val="F2F7FB"/>
                          </a:solidFill>
                          <a:latin typeface="Calibri"/>
                        </a:rPr>
                        <a:t>Caution language near those IDs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F1626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550" b="1" i="0">
                          <a:solidFill>
                            <a:srgbClr val="F2F7FB"/>
                          </a:solidFill>
                          <a:latin typeface="Calibri"/>
                        </a:rPr>
                        <a:t>No authorisation language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70B1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50" b="0" i="0">
                          <a:solidFill>
                            <a:srgbClr val="F2F7FB"/>
                          </a:solidFill>
                          <a:latin typeface="Calibri"/>
                        </a:rPr>
                        <a:t>No approve / replace / shut down phrasing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70B14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550" b="1" i="0">
                          <a:solidFill>
                            <a:srgbClr val="F2F7FB"/>
                          </a:solidFill>
                          <a:latin typeface="Calibri"/>
                        </a:rPr>
                        <a:t>Names a human next step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F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50" b="0" i="0">
                          <a:solidFill>
                            <a:srgbClr val="F2F7FB"/>
                          </a:solidFill>
                          <a:latin typeface="Calibri"/>
                        </a:rPr>
                        <a:t>Section 7 mentions a qualified reviewer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F1626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550" b="1" i="0">
                          <a:solidFill>
                            <a:srgbClr val="F2F7FB"/>
                          </a:solidFill>
                          <a:latin typeface="Calibri"/>
                        </a:rPr>
                        <a:t>States evidence gaps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70B1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50" b="0" i="0">
                          <a:solidFill>
                            <a:srgbClr val="F2F7FB"/>
                          </a:solidFill>
                          <a:latin typeface="Calibri"/>
                        </a:rPr>
                        <a:t>Section 6 has real content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70B14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02920" y="5486400"/>
            <a:ext cx="11183112" cy="530352"/>
          </a:xfrm>
          <a:prstGeom prst="roundRect">
            <a:avLst>
              <a:gd name="adj" fmla="val 17241"/>
            </a:avLst>
          </a:prstGeom>
          <a:solidFill>
            <a:srgbClr val="13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5486400"/>
            <a:ext cx="64008" cy="5303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486400"/>
            <a:ext cx="1078992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F2F7FB"/>
                </a:solidFill>
                <a:latin typeface="Calibri"/>
              </a:rPr>
              <a:t>Rules catch structure, not truth. A passing briefing still needs a human reader.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863840" y="-2926080"/>
            <a:ext cx="6858000" cy="6858000"/>
          </a:xfrm>
          <a:prstGeom prst="ellipse">
            <a:avLst/>
          </a:prstGeom>
          <a:gradFill rotWithShape="1">
            <a:gsLst>
              <a:gs pos="0">
                <a:srgbClr val="8B5CF6">
                  <a:alpha val="38000"/>
                </a:srgbClr>
              </a:gs>
              <a:gs pos="100000">
                <a:srgbClr val="8B5CF6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108960" y="3657600"/>
            <a:ext cx="6400800" cy="6400800"/>
          </a:xfrm>
          <a:prstGeom prst="ellipse">
            <a:avLst/>
          </a:prstGeom>
          <a:gradFill rotWithShape="1">
            <a:gsLst>
              <a:gs pos="0">
                <a:srgbClr val="22D3EE">
                  <a:alpha val="22000"/>
                </a:srgbClr>
              </a:gs>
              <a:gs pos="100000">
                <a:srgbClr val="22D3E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22D3EE"/>
                </a:solidFill>
                <a:latin typeface="Consolas"/>
              </a:rPr>
              <a:t>CAPSTONE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F7488"/>
                </a:solidFill>
                <a:latin typeface="Consolas"/>
              </a:rPr>
              <a:t>AI for Coders &amp; Software Engineers  |  ENEC 2026  |  Synthetic training material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22D3EE"/>
                </a:solidFill>
                <a:latin typeface="Consolas"/>
              </a:rPr>
              <a:t>09</a:t>
            </a:r>
            <a:r>
              <a:rPr sz="1100">
                <a:solidFill>
                  <a:srgbClr val="5F7488"/>
                </a:solidFill>
                <a:latin typeface="Consolas"/>
              </a:rPr>
              <a:t>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F2F7FB"/>
                </a:solidFill>
                <a:latin typeface="Calibri"/>
              </a:rPr>
              <a:t>The evaluation rubric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9FB4C8"/>
                </a:solidFill>
                <a:latin typeface="Calibri"/>
              </a:rPr>
              <a:t>Five dimensions, five points each. Control counts as much as intelligence.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783080"/>
          <a:ext cx="11183111" cy="329184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3840480"/>
                <a:gridCol w="7342631"/>
              </a:tblGrid>
              <a:tr h="548640">
                <a:tc>
                  <a:txBody>
                    <a:bodyPr wrap="square"/>
                    <a:lstStyle/>
                    <a:p>
                      <a:r>
                        <a:rPr sz="1400" b="1" i="0" spc="100">
                          <a:solidFill>
                            <a:srgbClr val="22D3EE"/>
                          </a:solidFill>
                          <a:latin typeface="Consolas"/>
                        </a:rPr>
                        <a:t>Dimension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131C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 spc="100">
                          <a:solidFill>
                            <a:srgbClr val="22D3EE"/>
                          </a:solidFill>
                          <a:latin typeface="Consolas"/>
                        </a:rPr>
                        <a:t>What good work demonstrates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131C30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550" b="1" i="0">
                          <a:solidFill>
                            <a:srgbClr val="F2F7FB"/>
                          </a:solidFill>
                          <a:latin typeface="Calibri"/>
                        </a:rPr>
                        <a:t>Problem understanding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F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50" b="0" i="0">
                          <a:solidFill>
                            <a:srgbClr val="F2F7FB"/>
                          </a:solidFill>
                          <a:latin typeface="Calibri"/>
                        </a:rPr>
                        <a:t>Frames the business question; no leap to a technical answer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F1626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550" b="1" i="0">
                          <a:solidFill>
                            <a:srgbClr val="F2F7FB"/>
                          </a:solidFill>
                          <a:latin typeface="Calibri"/>
                        </a:rPr>
                        <a:t>Data use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70B1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50" b="0" i="0">
                          <a:solidFill>
                            <a:srgbClr val="F2F7FB"/>
                          </a:solidFill>
                          <a:latin typeface="Calibri"/>
                        </a:rPr>
                        <a:t>Tables used appropriately; observation separated from interpretation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70B14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550" b="1" i="0">
                          <a:solidFill>
                            <a:srgbClr val="F2F7FB"/>
                          </a:solidFill>
                          <a:latin typeface="Calibri"/>
                        </a:rPr>
                        <a:t>AI / RAG use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F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50" b="0" i="0">
                          <a:solidFill>
                            <a:srgbClr val="F2F7FB"/>
                          </a:solidFill>
                          <a:latin typeface="Calibri"/>
                        </a:rPr>
                        <a:t>Relevant knowledge retrieved; approval and version status respected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F1626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550" b="1" i="0">
                          <a:solidFill>
                            <a:srgbClr val="F2F7FB"/>
                          </a:solidFill>
                          <a:latin typeface="Calibri"/>
                        </a:rPr>
                        <a:t>Evidence and explainability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70B1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50" b="0" i="0">
                          <a:solidFill>
                            <a:srgbClr val="F2F7FB"/>
                          </a:solidFill>
                          <a:latin typeface="Calibri"/>
                        </a:rPr>
                        <a:t>Claims traceable to sources; limitations identified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70B14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550" b="1" i="0">
                          <a:solidFill>
                            <a:srgbClr val="F2F7FB"/>
                          </a:solidFill>
                          <a:latin typeface="Calibri"/>
                        </a:rPr>
                        <a:t>Governance and human oversight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F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50" b="0" i="0">
                          <a:solidFill>
                            <a:srgbClr val="F2F7FB"/>
                          </a:solidFill>
                          <a:latin typeface="Calibri"/>
                        </a:rPr>
                        <a:t>Uncertainty preserved; final authority stays with a human reviewer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F1626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02920" y="5212080"/>
            <a:ext cx="5486400" cy="640080"/>
          </a:xfrm>
          <a:prstGeom prst="roundRect">
            <a:avLst>
              <a:gd name="adj" fmla="val 17142"/>
            </a:avLst>
          </a:prstGeom>
          <a:solidFill>
            <a:srgbClr val="0F1626"/>
          </a:solidFill>
          <a:ln w="12700">
            <a:solidFill>
              <a:srgbClr val="26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5340096"/>
            <a:ext cx="54864" cy="38404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" y="5340096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2F7FB"/>
                </a:solidFill>
                <a:latin typeface="Calibri"/>
              </a:rPr>
              <a:t>21-25 strong  |  16-20 good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5212080"/>
            <a:ext cx="5486400" cy="640080"/>
          </a:xfrm>
          <a:prstGeom prst="roundRect">
            <a:avLst>
              <a:gd name="adj" fmla="val 17142"/>
            </a:avLst>
          </a:prstGeom>
          <a:solidFill>
            <a:srgbClr val="0F1626"/>
          </a:solidFill>
          <a:ln w="12700">
            <a:solidFill>
              <a:srgbClr val="26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99632" y="5340096"/>
            <a:ext cx="54864" cy="38404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5340096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2F7FB"/>
                </a:solidFill>
                <a:latin typeface="Calibri"/>
              </a:rPr>
              <a:t>11-15 partial  |  5-10 guided remediation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598932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9FB4C8"/>
                </a:solidFill>
                <a:latin typeface="Calibri"/>
              </a:rPr>
              <a:t>Optional: an LLM judge gives a second opinion on the same rubric. It is a second opinion, not ground truth. Training feedback, not a certification.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863840" y="-2926080"/>
            <a:ext cx="6858000" cy="6858000"/>
          </a:xfrm>
          <a:prstGeom prst="ellipse">
            <a:avLst/>
          </a:prstGeom>
          <a:gradFill rotWithShape="1">
            <a:gsLst>
              <a:gs pos="0">
                <a:srgbClr val="8B5CF6">
                  <a:alpha val="38000"/>
                </a:srgbClr>
              </a:gs>
              <a:gs pos="100000">
                <a:srgbClr val="8B5CF6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108960" y="3657600"/>
            <a:ext cx="6400800" cy="6400800"/>
          </a:xfrm>
          <a:prstGeom prst="ellipse">
            <a:avLst/>
          </a:prstGeom>
          <a:gradFill rotWithShape="1">
            <a:gsLst>
              <a:gs pos="0">
                <a:srgbClr val="22D3EE">
                  <a:alpha val="22000"/>
                </a:srgbClr>
              </a:gs>
              <a:gs pos="100000">
                <a:srgbClr val="22D3E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22D3EE"/>
                </a:solidFill>
                <a:latin typeface="Consolas"/>
              </a:rPr>
              <a:t>NOTEBOOK 2: THE 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F7488"/>
                </a:solidFill>
                <a:latin typeface="Consolas"/>
              </a:rPr>
              <a:t>AI for Coders &amp; Software Engineers  |  ENEC 2026  |  Synthetic training material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22D3EE"/>
                </a:solidFill>
                <a:latin typeface="Consolas"/>
              </a:rPr>
              <a:t>10</a:t>
            </a:r>
            <a:r>
              <a:rPr sz="1100">
                <a:solidFill>
                  <a:srgbClr val="5F7488"/>
                </a:solidFill>
                <a:latin typeface="Consolas"/>
              </a:rPr>
              <a:t>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F2F7FB"/>
                </a:solidFill>
                <a:latin typeface="Calibri"/>
              </a:rPr>
              <a:t>The review app, running inside Colab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9FB4C8"/>
                </a:solidFill>
                <a:latin typeface="Calibri"/>
              </a:rPr>
              <a:t>A three-tab Gradio app on top of everything from Days 1 to 4.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783080"/>
            <a:ext cx="3611880" cy="2651760"/>
          </a:xfrm>
          <a:prstGeom prst="roundRect">
            <a:avLst>
              <a:gd name="adj" fmla="val 4137"/>
            </a:avLst>
          </a:prstGeom>
          <a:solidFill>
            <a:srgbClr val="0F1626"/>
          </a:solidFill>
          <a:ln w="12700">
            <a:solidFill>
              <a:srgbClr val="26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911095"/>
            <a:ext cx="54864" cy="38404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11095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2F7FB"/>
                </a:solidFill>
                <a:latin typeface="Calibri"/>
              </a:rPr>
              <a:t>Ask A-001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441448"/>
            <a:ext cx="3227832" cy="19019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50" b="1" i="0">
                <a:solidFill>
                  <a:srgbClr val="22D3EE"/>
                </a:solidFill>
                <a:latin typeface="Calibri"/>
              </a:rPr>
              <a:t>•  </a:t>
            </a:r>
            <a:r>
              <a:rPr sz="1650" b="0" i="0">
                <a:solidFill>
                  <a:srgbClr val="9FB4C8"/>
                </a:solidFill>
                <a:latin typeface="Calibri"/>
              </a:rPr>
              <a:t>The Day 3 agent: SQL, documents, forecast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50" b="1" i="0">
                <a:solidFill>
                  <a:srgbClr val="22D3EE"/>
                </a:solidFill>
                <a:latin typeface="Calibri"/>
              </a:rPr>
              <a:t>•  </a:t>
            </a:r>
            <a:r>
              <a:rPr sz="1650" b="0" i="0">
                <a:solidFill>
                  <a:srgbClr val="9FB4C8"/>
                </a:solidFill>
                <a:latin typeface="Calibri"/>
              </a:rPr>
              <a:t>Visible tool trace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88536" y="1783080"/>
            <a:ext cx="3611880" cy="2651760"/>
          </a:xfrm>
          <a:prstGeom prst="roundRect">
            <a:avLst>
              <a:gd name="adj" fmla="val 4137"/>
            </a:avLst>
          </a:prstGeom>
          <a:solidFill>
            <a:srgbClr val="0F1626"/>
          </a:solidFill>
          <a:ln w="12700">
            <a:solidFill>
              <a:srgbClr val="26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88536" y="1911095"/>
            <a:ext cx="54864" cy="384048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9704" y="1911095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2F7FB"/>
                </a:solidFill>
                <a:latin typeface="Calibri"/>
              </a:rPr>
              <a:t>Review briefing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9704" y="2441448"/>
            <a:ext cx="3227832" cy="19019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50" b="1" i="0">
                <a:solidFill>
                  <a:srgbClr val="8B5CF6"/>
                </a:solidFill>
                <a:latin typeface="Calibri"/>
              </a:rPr>
              <a:t>•  </a:t>
            </a:r>
            <a:r>
              <a:rPr sz="1650" b="0" i="0">
                <a:solidFill>
                  <a:srgbClr val="9FB4C8"/>
                </a:solidFill>
                <a:latin typeface="Calibri"/>
              </a:rPr>
              <a:t>The capstone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50" b="1" i="0">
                <a:solidFill>
                  <a:srgbClr val="8B5CF6"/>
                </a:solidFill>
                <a:latin typeface="Calibri"/>
              </a:rPr>
              <a:t>•  </a:t>
            </a:r>
            <a:r>
              <a:rPr sz="1650" b="0" i="0">
                <a:solidFill>
                  <a:srgbClr val="9FB4C8"/>
                </a:solidFill>
                <a:latin typeface="Calibri"/>
              </a:rPr>
              <a:t>Packet, 8 sections, automatic checks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74152" y="1783080"/>
            <a:ext cx="3611880" cy="2651760"/>
          </a:xfrm>
          <a:prstGeom prst="roundRect">
            <a:avLst>
              <a:gd name="adj" fmla="val 4137"/>
            </a:avLst>
          </a:prstGeom>
          <a:solidFill>
            <a:srgbClr val="0F1626"/>
          </a:solidFill>
          <a:ln w="12700">
            <a:solidFill>
              <a:srgbClr val="26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74152" y="1911095"/>
            <a:ext cx="54864" cy="38404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75320" y="1911095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2F7FB"/>
                </a:solidFill>
                <a:latin typeface="Calibri"/>
              </a:rPr>
              <a:t>Document register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2441448"/>
            <a:ext cx="3227832" cy="19019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50" b="1" i="0">
                <a:solidFill>
                  <a:srgbClr val="F5A623"/>
                </a:solidFill>
                <a:latin typeface="Calibri"/>
              </a:rPr>
              <a:t>•  </a:t>
            </a:r>
            <a:r>
              <a:rPr sz="1650" b="0" i="0">
                <a:solidFill>
                  <a:srgbClr val="9FB4C8"/>
                </a:solidFill>
                <a:latin typeface="Calibri"/>
              </a:rPr>
              <a:t>APPROVED, DRAFT or SUPERSEDED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50" b="1" i="0">
                <a:solidFill>
                  <a:srgbClr val="F5A623"/>
                </a:solidFill>
                <a:latin typeface="Calibri"/>
              </a:rPr>
              <a:t>•  </a:t>
            </a:r>
            <a:r>
              <a:rPr sz="1650" b="0" i="0">
                <a:solidFill>
                  <a:srgbClr val="9FB4C8"/>
                </a:solidFill>
                <a:latin typeface="Calibri"/>
              </a:rPr>
              <a:t>One glance, no search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4617720"/>
            <a:ext cx="11183112" cy="1005840"/>
          </a:xfrm>
          <a:prstGeom prst="roundRect">
            <a:avLst>
              <a:gd name="adj" fmla="val 10909"/>
            </a:avLst>
          </a:prstGeom>
          <a:solidFill>
            <a:srgbClr val="0F1626"/>
          </a:solidFill>
          <a:ln w="12700">
            <a:solidFill>
              <a:srgbClr val="26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4745736"/>
            <a:ext cx="54864" cy="38404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4088" y="4745736"/>
            <a:ext cx="108173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2F7FB"/>
                </a:solidFill>
                <a:latin typeface="Calibri"/>
              </a:rPr>
              <a:t>Where it runs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" y="5276088"/>
            <a:ext cx="107990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590" b="0" i="0">
                <a:solidFill>
                  <a:srgbClr val="9FB4C8"/>
                </a:solidFill>
                <a:latin typeface="Calibri"/>
              </a:rPr>
              <a:t>Inside your Colab session only. It stops when the session stops. No hosting account, no deployment platform.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5806440"/>
            <a:ext cx="11183112" cy="475488"/>
          </a:xfrm>
          <a:prstGeom prst="roundRect">
            <a:avLst>
              <a:gd name="adj" fmla="val 19230"/>
            </a:avLst>
          </a:prstGeom>
          <a:solidFill>
            <a:srgbClr val="13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2920" y="5806440"/>
            <a:ext cx="64008" cy="47548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5806440"/>
            <a:ext cx="107899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F2F7FB"/>
                </a:solidFill>
                <a:latin typeface="Calibri"/>
              </a:rPr>
              <a:t>A banner on every tab: decision support only, a qualified human decides.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863840" y="-2926080"/>
            <a:ext cx="6858000" cy="6858000"/>
          </a:xfrm>
          <a:prstGeom prst="ellipse">
            <a:avLst/>
          </a:prstGeom>
          <a:gradFill rotWithShape="1">
            <a:gsLst>
              <a:gs pos="0">
                <a:srgbClr val="8B5CF6">
                  <a:alpha val="38000"/>
                </a:srgbClr>
              </a:gs>
              <a:gs pos="100000">
                <a:srgbClr val="8B5CF6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108960" y="3657600"/>
            <a:ext cx="6400800" cy="6400800"/>
          </a:xfrm>
          <a:prstGeom prst="ellipse">
            <a:avLst/>
          </a:prstGeom>
          <a:gradFill rotWithShape="1">
            <a:gsLst>
              <a:gs pos="0">
                <a:srgbClr val="22D3EE">
                  <a:alpha val="22000"/>
                </a:srgbClr>
              </a:gs>
              <a:gs pos="100000">
                <a:srgbClr val="22D3E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22D3EE"/>
                </a:solidFill>
                <a:latin typeface="Consolas"/>
              </a:rPr>
              <a:t>NOTEBOOK 2: BEFORE YOU SHOW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F7488"/>
                </a:solidFill>
                <a:latin typeface="Consolas"/>
              </a:rPr>
              <a:t>AI for Coders &amp; Software Engineers  |  ENEC 2026  |  Synthetic training material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22D3EE"/>
                </a:solidFill>
                <a:latin typeface="Consolas"/>
              </a:rPr>
              <a:t>11</a:t>
            </a:r>
            <a:r>
              <a:rPr sz="1100">
                <a:solidFill>
                  <a:srgbClr val="5F7488"/>
                </a:solidFill>
                <a:latin typeface="Consolas"/>
              </a:rPr>
              <a:t>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F2F7FB"/>
                </a:solidFill>
                <a:latin typeface="Calibri"/>
              </a:rPr>
              <a:t>Launch settings and a safety rule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9FB4C8"/>
                </a:solidFill>
                <a:latin typeface="Calibri"/>
              </a:rPr>
              <a:t>Read this before anyone sees the app.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783080"/>
            <a:ext cx="5486400" cy="2103120"/>
          </a:xfrm>
          <a:prstGeom prst="roundRect">
            <a:avLst>
              <a:gd name="adj" fmla="val 5217"/>
            </a:avLst>
          </a:prstGeom>
          <a:solidFill>
            <a:srgbClr val="0F1626"/>
          </a:solidFill>
          <a:ln w="12700">
            <a:solidFill>
              <a:srgbClr val="26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911095"/>
            <a:ext cx="54864" cy="38404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11095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2F7FB"/>
                </a:solidFill>
                <a:latin typeface="Calibri"/>
              </a:rPr>
              <a:t>SHARE = False  (default)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441448"/>
            <a:ext cx="5102352" cy="13533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710" b="1" i="0">
                <a:solidFill>
                  <a:srgbClr val="34D399"/>
                </a:solidFill>
                <a:latin typeface="Calibri"/>
              </a:rPr>
              <a:t>•  </a:t>
            </a:r>
            <a:r>
              <a:rPr sz="1710" b="0" i="0">
                <a:solidFill>
                  <a:srgbClr val="9FB4C8"/>
                </a:solidFill>
                <a:latin typeface="Calibri"/>
              </a:rPr>
              <a:t>The app opens inside the notebook output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710" b="1" i="0">
                <a:solidFill>
                  <a:srgbClr val="34D399"/>
                </a:solidFill>
                <a:latin typeface="Calibri"/>
              </a:rPr>
              <a:t>•  </a:t>
            </a:r>
            <a:r>
              <a:rPr sz="1710" b="0" i="0">
                <a:solidFill>
                  <a:srgbClr val="9FB4C8"/>
                </a:solidFill>
                <a:latin typeface="Calibri"/>
              </a:rPr>
              <a:t>Safest. Use this for practice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1783080"/>
            <a:ext cx="5486400" cy="2103120"/>
          </a:xfrm>
          <a:prstGeom prst="roundRect">
            <a:avLst>
              <a:gd name="adj" fmla="val 5217"/>
            </a:avLst>
          </a:prstGeom>
          <a:solidFill>
            <a:srgbClr val="0F1626"/>
          </a:solidFill>
          <a:ln w="12700">
            <a:solidFill>
              <a:srgbClr val="26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99632" y="1911095"/>
            <a:ext cx="54864" cy="384048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911095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2F7FB"/>
                </a:solidFill>
                <a:latin typeface="Calibri"/>
              </a:rPr>
              <a:t>SHARE = True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441448"/>
            <a:ext cx="5102352" cy="13533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710" b="1" i="0">
                <a:solidFill>
                  <a:srgbClr val="F87171"/>
                </a:solidFill>
                <a:latin typeface="Calibri"/>
              </a:rPr>
              <a:t>•  </a:t>
            </a:r>
            <a:r>
              <a:rPr sz="1710" b="0" i="0">
                <a:solidFill>
                  <a:srgbClr val="9FB4C8"/>
                </a:solidFill>
                <a:latin typeface="Calibri"/>
              </a:rPr>
              <a:t>Creates a temporary public link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710" b="1" i="0">
                <a:solidFill>
                  <a:srgbClr val="F87171"/>
                </a:solidFill>
                <a:latin typeface="Calibri"/>
              </a:rPr>
              <a:t>•  </a:t>
            </a:r>
            <a:r>
              <a:rPr sz="1710" b="0" i="0">
                <a:solidFill>
                  <a:srgbClr val="9FB4C8"/>
                </a:solidFill>
                <a:latin typeface="Calibri"/>
              </a:rPr>
              <a:t>Anyone with the link can use your OpenAI key through the app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710" b="1" i="0">
                <a:solidFill>
                  <a:srgbClr val="F87171"/>
                </a:solidFill>
                <a:latin typeface="Calibri"/>
              </a:rPr>
              <a:t>•  </a:t>
            </a:r>
            <a:r>
              <a:rPr sz="1710" b="0" i="0">
                <a:solidFill>
                  <a:srgbClr val="9FB4C8"/>
                </a:solidFill>
                <a:latin typeface="Calibri"/>
              </a:rPr>
              <a:t>Live demo only, then stop the cell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4023360"/>
            <a:ext cx="11183112" cy="1691640"/>
          </a:xfrm>
          <a:prstGeom prst="roundRect">
            <a:avLst>
              <a:gd name="adj" fmla="val 6486"/>
            </a:avLst>
          </a:prstGeom>
          <a:solidFill>
            <a:srgbClr val="0F1626"/>
          </a:solidFill>
          <a:ln w="12700">
            <a:solidFill>
              <a:srgbClr val="26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4151376"/>
            <a:ext cx="54864" cy="38404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4088" y="4151376"/>
            <a:ext cx="108173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2F7FB"/>
                </a:solidFill>
                <a:latin typeface="Calibri"/>
              </a:rPr>
              <a:t>Checklist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" y="4681728"/>
            <a:ext cx="10799064" cy="9418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520" b="1" i="0">
                <a:solidFill>
                  <a:srgbClr val="22D3EE"/>
                </a:solidFill>
                <a:latin typeface="Calibri"/>
              </a:rPr>
              <a:t>•  </a:t>
            </a:r>
            <a:r>
              <a:rPr sz="1520" b="0" i="0">
                <a:solidFill>
                  <a:srgbClr val="9FB4C8"/>
                </a:solidFill>
                <a:latin typeface="Calibri"/>
              </a:rPr>
              <a:t>Run each example question and read the tool trace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520" b="1" i="0">
                <a:solidFill>
                  <a:srgbClr val="22D3EE"/>
                </a:solidFill>
                <a:latin typeface="Calibri"/>
              </a:rPr>
              <a:t>•  </a:t>
            </a:r>
            <a:r>
              <a:rPr sz="1520" b="0" i="0">
                <a:solidFill>
                  <a:srgbClr val="9FB4C8"/>
                </a:solidFill>
                <a:latin typeface="Calibri"/>
              </a:rPr>
              <a:t>Generate the briefing once and read the checks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520" b="1" i="0">
                <a:solidFill>
                  <a:srgbClr val="22D3EE"/>
                </a:solidFill>
                <a:latin typeface="Calibri"/>
              </a:rPr>
              <a:t>•  </a:t>
            </a:r>
            <a:r>
              <a:rPr sz="1520" b="0" i="0">
                <a:solidFill>
                  <a:srgbClr val="9FB4C8"/>
                </a:solidFill>
                <a:latin typeface="Calibri"/>
              </a:rPr>
              <a:t>Check your OpenAI usage dashboard for cost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5852160"/>
            <a:ext cx="11183112" cy="475488"/>
          </a:xfrm>
          <a:prstGeom prst="roundRect">
            <a:avLst>
              <a:gd name="adj" fmla="val 19230"/>
            </a:avLst>
          </a:prstGeom>
          <a:solidFill>
            <a:srgbClr val="13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5852160"/>
            <a:ext cx="64008" cy="47548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5852160"/>
            <a:ext cx="107899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F2F7FB"/>
                </a:solidFill>
                <a:latin typeface="Calibri"/>
              </a:rPr>
              <a:t>Hands-on notebook: Day4_02_A001_Review_App_in_Colab  |  45 min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863840" y="-2926080"/>
            <a:ext cx="6858000" cy="6858000"/>
          </a:xfrm>
          <a:prstGeom prst="ellipse">
            <a:avLst/>
          </a:prstGeom>
          <a:gradFill rotWithShape="1">
            <a:gsLst>
              <a:gs pos="0">
                <a:srgbClr val="8B5CF6">
                  <a:alpha val="38000"/>
                </a:srgbClr>
              </a:gs>
              <a:gs pos="100000">
                <a:srgbClr val="8B5CF6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108960" y="3657600"/>
            <a:ext cx="6400800" cy="6400800"/>
          </a:xfrm>
          <a:prstGeom prst="ellipse">
            <a:avLst/>
          </a:prstGeom>
          <a:gradFill rotWithShape="1">
            <a:gsLst>
              <a:gs pos="0">
                <a:srgbClr val="22D3EE">
                  <a:alpha val="22000"/>
                </a:srgbClr>
              </a:gs>
              <a:gs pos="100000">
                <a:srgbClr val="22D3E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22D3EE"/>
                </a:solidFill>
                <a:latin typeface="Consolas"/>
              </a:rPr>
              <a:t>CAPSTONE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F7488"/>
                </a:solidFill>
                <a:latin typeface="Consolas"/>
              </a:rPr>
              <a:t>AI for Coders &amp; Software Engineers  |  ENEC 2026  |  Synthetic training material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22D3EE"/>
                </a:solidFill>
                <a:latin typeface="Consolas"/>
              </a:rPr>
              <a:t>12</a:t>
            </a:r>
            <a:r>
              <a:rPr sz="1100">
                <a:solidFill>
                  <a:srgbClr val="5F7488"/>
                </a:solidFill>
                <a:latin typeface="Consolas"/>
              </a:rPr>
              <a:t>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F2F7FB"/>
                </a:solidFill>
                <a:latin typeface="Calibri"/>
              </a:rPr>
              <a:t>Teams and roles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9FB4C8"/>
                </a:solidFill>
                <a:latin typeface="Calibri"/>
              </a:rPr>
              <a:t>Small teams, clear ownership. Roles can combine.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783080"/>
          <a:ext cx="11183111" cy="301752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3840480"/>
                <a:gridCol w="7342631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400" b="1" i="0" spc="100">
                          <a:solidFill>
                            <a:srgbClr val="22D3EE"/>
                          </a:solidFill>
                          <a:latin typeface="Consolas"/>
                        </a:rPr>
                        <a:t>Role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131C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 spc="100">
                          <a:solidFill>
                            <a:srgbClr val="22D3EE"/>
                          </a:solidFill>
                          <a:latin typeface="Consolas"/>
                        </a:rPr>
                        <a:t>Primary responsibility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131C30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550" b="1" i="0">
                          <a:solidFill>
                            <a:srgbClr val="F2F7FB"/>
                          </a:solidFill>
                          <a:latin typeface="Calibri"/>
                        </a:rPr>
                        <a:t>Team facilitator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F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50" b="0" i="0">
                          <a:solidFill>
                            <a:srgbClr val="F2F7FB"/>
                          </a:solidFill>
                          <a:latin typeface="Calibri"/>
                        </a:rPr>
                        <a:t>Keep the team on the business question; timebox decisions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F1626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550" b="1" i="0">
                          <a:solidFill>
                            <a:srgbClr val="F2F7FB"/>
                          </a:solidFill>
                          <a:latin typeface="Calibri"/>
                        </a:rPr>
                        <a:t>Data lead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70B1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50" b="0" i="0">
                          <a:solidFill>
                            <a:srgbClr val="F2F7FB"/>
                          </a:solidFill>
                          <a:latin typeface="Calibri"/>
                        </a:rPr>
                        <a:t>Table exploration and forecast evidence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70B14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550" b="1" i="0">
                          <a:solidFill>
                            <a:srgbClr val="F2F7FB"/>
                          </a:solidFill>
                          <a:latin typeface="Calibri"/>
                        </a:rPr>
                        <a:t>Knowledge / RAG lead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F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50" b="0" i="0">
                          <a:solidFill>
                            <a:srgbClr val="F2F7FB"/>
                          </a:solidFill>
                          <a:latin typeface="Calibri"/>
                        </a:rPr>
                        <a:t>Document authority, retrieval and citations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F1626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550" b="1" i="0">
                          <a:solidFill>
                            <a:srgbClr val="F2F7FB"/>
                          </a:solidFill>
                          <a:latin typeface="Calibri"/>
                        </a:rPr>
                        <a:t>Agent / integration lead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70B1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50" b="0" i="0">
                          <a:solidFill>
                            <a:srgbClr val="F2F7FB"/>
                          </a:solidFill>
                          <a:latin typeface="Calibri"/>
                        </a:rPr>
                        <a:t>Tool routing, evidence packet, workflow controls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70B14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550" b="1" i="0">
                          <a:solidFill>
                            <a:srgbClr val="F2F7FB"/>
                          </a:solidFill>
                          <a:latin typeface="Calibri"/>
                        </a:rPr>
                        <a:t>Reviewer / presenter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F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50" b="0" i="0">
                          <a:solidFill>
                            <a:srgbClr val="F2F7FB"/>
                          </a:solidFill>
                          <a:latin typeface="Calibri"/>
                        </a:rPr>
                        <a:t>Challenge assumptions, check limits, lead the demo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F1626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02920" y="4846320"/>
            <a:ext cx="11183112" cy="1188720"/>
          </a:xfrm>
          <a:prstGeom prst="roundRect">
            <a:avLst>
              <a:gd name="adj" fmla="val 9230"/>
            </a:avLst>
          </a:prstGeom>
          <a:solidFill>
            <a:srgbClr val="0F1626"/>
          </a:solidFill>
          <a:ln w="12700">
            <a:solidFill>
              <a:srgbClr val="26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4974336"/>
            <a:ext cx="54864" cy="38404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" y="4974336"/>
            <a:ext cx="108173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2F7FB"/>
                </a:solidFill>
                <a:latin typeface="Calibri"/>
              </a:rPr>
              <a:t>Instructor guidance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5504688"/>
            <a:ext cx="10799064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520" b="0" i="0">
                <a:solidFill>
                  <a:srgbClr val="9FB4C8"/>
                </a:solidFill>
                <a:latin typeface="Calibri"/>
              </a:rPr>
              <a:t>Do not solve the project for them. Ask: Which version governs? What is the source of that number? Where does the human decide?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863840" y="-2926080"/>
            <a:ext cx="6858000" cy="6858000"/>
          </a:xfrm>
          <a:prstGeom prst="ellipse">
            <a:avLst/>
          </a:prstGeom>
          <a:gradFill rotWithShape="1">
            <a:gsLst>
              <a:gs pos="0">
                <a:srgbClr val="8B5CF6">
                  <a:alpha val="38000"/>
                </a:srgbClr>
              </a:gs>
              <a:gs pos="100000">
                <a:srgbClr val="8B5CF6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108960" y="3657600"/>
            <a:ext cx="6400800" cy="6400800"/>
          </a:xfrm>
          <a:prstGeom prst="ellipse">
            <a:avLst/>
          </a:prstGeom>
          <a:gradFill rotWithShape="1">
            <a:gsLst>
              <a:gs pos="0">
                <a:srgbClr val="22D3EE">
                  <a:alpha val="22000"/>
                </a:srgbClr>
              </a:gs>
              <a:gs pos="100000">
                <a:srgbClr val="22D3E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22D3EE"/>
                </a:solidFill>
                <a:latin typeface="Consolas"/>
              </a:rPr>
              <a:t>CAPSTONE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F7488"/>
                </a:solidFill>
                <a:latin typeface="Consolas"/>
              </a:rPr>
              <a:t>AI for Coders &amp; Software Engineers  |  ENEC 2026  |  Synthetic training material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22D3EE"/>
                </a:solidFill>
                <a:latin typeface="Consolas"/>
              </a:rPr>
              <a:t>13</a:t>
            </a:r>
            <a:r>
              <a:rPr sz="1100">
                <a:solidFill>
                  <a:srgbClr val="5F7488"/>
                </a:solidFill>
                <a:latin typeface="Consolas"/>
              </a:rPr>
              <a:t>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F2F7FB"/>
                </a:solidFill>
                <a:latin typeface="Calibri"/>
              </a:rPr>
              <a:t>The final demonstration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9FB4C8"/>
                </a:solidFill>
                <a:latin typeface="Calibri"/>
              </a:rPr>
              <a:t>Six beats, and the questions your instructor will ask.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1819656"/>
            <a:ext cx="384048" cy="3840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819656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070B14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19" y="178308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F2F7FB"/>
                </a:solidFill>
                <a:latin typeface="Calibri"/>
              </a:rPr>
              <a:t>Problem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19" y="2066543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9FB4C8"/>
                </a:solidFill>
                <a:latin typeface="Calibri"/>
              </a:rPr>
              <a:t>the business question in one sentence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2441448"/>
            <a:ext cx="384048" cy="3840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44144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070B14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19" y="2404872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F2F7FB"/>
                </a:solidFill>
                <a:latin typeface="Calibri"/>
              </a:rPr>
              <a:t>Evidence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19" y="2688336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9FB4C8"/>
                </a:solidFill>
                <a:latin typeface="Calibri"/>
              </a:rPr>
              <a:t>what data and documents were used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3063240"/>
            <a:ext cx="384048" cy="3840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06324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070B14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19" y="3026664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F2F7FB"/>
                </a:solidFill>
                <a:latin typeface="Calibri"/>
              </a:rPr>
              <a:t>What the AI did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19" y="3310128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9FB4C8"/>
                </a:solidFill>
                <a:latin typeface="Calibri"/>
              </a:rPr>
              <a:t>the tool path</a:t>
            </a:r>
          </a:p>
        </p:txBody>
      </p:sp>
      <p:sp>
        <p:nvSpPr>
          <p:cNvPr id="21" name="Oval 20"/>
          <p:cNvSpPr/>
          <p:nvPr/>
        </p:nvSpPr>
        <p:spPr>
          <a:xfrm>
            <a:off x="640080" y="3685032"/>
            <a:ext cx="384048" cy="3840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685032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070B14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19" y="3648456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F2F7FB"/>
                </a:solidFill>
                <a:latin typeface="Calibri"/>
              </a:rPr>
              <a:t>What it found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19" y="393192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9FB4C8"/>
                </a:solidFill>
                <a:latin typeface="Calibri"/>
              </a:rPr>
              <a:t>with source IDs</a:t>
            </a:r>
          </a:p>
        </p:txBody>
      </p:sp>
      <p:sp>
        <p:nvSpPr>
          <p:cNvPr id="25" name="Oval 24"/>
          <p:cNvSpPr/>
          <p:nvPr/>
        </p:nvSpPr>
        <p:spPr>
          <a:xfrm>
            <a:off x="640080" y="4306824"/>
            <a:ext cx="384048" cy="3840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306824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070B14"/>
                </a:solidFill>
                <a:latin typeface="Calibr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19" y="4270248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F2F7FB"/>
                </a:solidFill>
                <a:latin typeface="Calibri"/>
              </a:rPr>
              <a:t>What it cannot conclude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19" y="4553712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9FB4C8"/>
                </a:solidFill>
                <a:latin typeface="Calibri"/>
              </a:rPr>
              <a:t>limits and gaps</a:t>
            </a:r>
          </a:p>
        </p:txBody>
      </p:sp>
      <p:sp>
        <p:nvSpPr>
          <p:cNvPr id="29" name="Oval 28"/>
          <p:cNvSpPr/>
          <p:nvPr/>
        </p:nvSpPr>
        <p:spPr>
          <a:xfrm>
            <a:off x="640080" y="4928616"/>
            <a:ext cx="384048" cy="3840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928616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070B14"/>
                </a:solidFill>
                <a:latin typeface="Calibri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88719" y="489204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F2F7FB"/>
                </a:solidFill>
                <a:latin typeface="Calibri"/>
              </a:rPr>
              <a:t>Human next step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88719" y="5175504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9FB4C8"/>
                </a:solidFill>
                <a:latin typeface="Calibri"/>
              </a:rPr>
              <a:t>what a qualified person reviews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99632" y="1783080"/>
            <a:ext cx="5486400" cy="3703320"/>
          </a:xfrm>
          <a:prstGeom prst="roundRect">
            <a:avLst>
              <a:gd name="adj" fmla="val 2962"/>
            </a:avLst>
          </a:prstGeom>
          <a:solidFill>
            <a:srgbClr val="0F1626"/>
          </a:solidFill>
          <a:ln w="12700">
            <a:solidFill>
              <a:srgbClr val="26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99632" y="1911095"/>
            <a:ext cx="54864" cy="38404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0" y="1911095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2F7FB"/>
                </a:solidFill>
                <a:latin typeface="Calibri"/>
              </a:rPr>
              <a:t>Questions to expect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2441448"/>
            <a:ext cx="5102352" cy="29535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460" b="1" i="0">
                <a:solidFill>
                  <a:srgbClr val="F5A623"/>
                </a:solidFill>
                <a:latin typeface="Calibri"/>
              </a:rPr>
              <a:t>•  </a:t>
            </a:r>
            <a:r>
              <a:rPr sz="1460" b="0" i="0">
                <a:solidFill>
                  <a:srgbClr val="9FB4C8"/>
                </a:solidFill>
                <a:latin typeface="Calibri"/>
              </a:rPr>
              <a:t>Why this document, not the other version?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460" b="1" i="0">
                <a:solidFill>
                  <a:srgbClr val="F5A623"/>
                </a:solidFill>
                <a:latin typeface="Calibri"/>
              </a:rPr>
              <a:t>•  </a:t>
            </a:r>
            <a:r>
              <a:rPr sz="1460" b="0" i="0">
                <a:solidFill>
                  <a:srgbClr val="9FB4C8"/>
                </a:solidFill>
                <a:latin typeface="Calibri"/>
              </a:rPr>
              <a:t>Which part came from data, which from guidance?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460" b="1" i="0">
                <a:solidFill>
                  <a:srgbClr val="F5A623"/>
                </a:solidFill>
                <a:latin typeface="Calibri"/>
              </a:rPr>
              <a:t>•  </a:t>
            </a:r>
            <a:r>
              <a:rPr sz="1460" b="0" i="0">
                <a:solidFill>
                  <a:srgbClr val="9FB4C8"/>
                </a:solidFill>
                <a:latin typeface="Calibri"/>
              </a:rPr>
              <a:t>What if retrieval returned no approved evidence?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460" b="1" i="0">
                <a:solidFill>
                  <a:srgbClr val="F5A623"/>
                </a:solidFill>
                <a:latin typeface="Calibri"/>
              </a:rPr>
              <a:t>•  </a:t>
            </a:r>
            <a:r>
              <a:rPr sz="1460" b="0" i="0">
                <a:solidFill>
                  <a:srgbClr val="9FB4C8"/>
                </a:solidFill>
                <a:latin typeface="Calibri"/>
              </a:rPr>
              <a:t>Why is the agent allowed to call this tool?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460" b="1" i="0">
                <a:solidFill>
                  <a:srgbClr val="F5A623"/>
                </a:solidFill>
                <a:latin typeface="Calibri"/>
              </a:rPr>
              <a:t>•  </a:t>
            </a:r>
            <a:r>
              <a:rPr sz="1460" b="0" i="0">
                <a:solidFill>
                  <a:srgbClr val="9FB4C8"/>
                </a:solidFill>
                <a:latin typeface="Calibri"/>
              </a:rPr>
              <a:t>What decision is deliberately left to a person?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460" b="1" i="0">
                <a:solidFill>
                  <a:srgbClr val="F5A623"/>
                </a:solidFill>
                <a:latin typeface="Calibri"/>
              </a:rPr>
              <a:t>•  </a:t>
            </a:r>
            <a:r>
              <a:rPr sz="1460" b="0" i="0">
                <a:solidFill>
                  <a:srgbClr val="9FB4C8"/>
                </a:solidFill>
                <a:latin typeface="Calibri"/>
              </a:rPr>
              <a:t>What would you improve before production?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2920" y="5852160"/>
            <a:ext cx="11183112" cy="475488"/>
          </a:xfrm>
          <a:prstGeom prst="roundRect">
            <a:avLst>
              <a:gd name="adj" fmla="val 19230"/>
            </a:avLst>
          </a:prstGeom>
          <a:solidFill>
            <a:srgbClr val="13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02920" y="5852160"/>
            <a:ext cx="64008" cy="47548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77240" y="5852160"/>
            <a:ext cx="107899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F2F7FB"/>
                </a:solidFill>
                <a:latin typeface="Calibri"/>
              </a:rPr>
              <a:t>A fluent demo that cannot answer these questions has not finished the course.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863840" y="-2926080"/>
            <a:ext cx="6858000" cy="6858000"/>
          </a:xfrm>
          <a:prstGeom prst="ellipse">
            <a:avLst/>
          </a:prstGeom>
          <a:gradFill rotWithShape="1">
            <a:gsLst>
              <a:gs pos="0">
                <a:srgbClr val="8B5CF6">
                  <a:alpha val="38000"/>
                </a:srgbClr>
              </a:gs>
              <a:gs pos="100000">
                <a:srgbClr val="8B5CF6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108960" y="3657600"/>
            <a:ext cx="6400800" cy="6400800"/>
          </a:xfrm>
          <a:prstGeom prst="ellipse">
            <a:avLst/>
          </a:prstGeom>
          <a:gradFill rotWithShape="1">
            <a:gsLst>
              <a:gs pos="0">
                <a:srgbClr val="22D3EE">
                  <a:alpha val="22000"/>
                </a:srgbClr>
              </a:gs>
              <a:gs pos="100000">
                <a:srgbClr val="22D3E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22D3EE"/>
                </a:solidFill>
                <a:latin typeface="Consolas"/>
              </a:rPr>
              <a:t>CLOSE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F7488"/>
                </a:solidFill>
                <a:latin typeface="Consolas"/>
              </a:rPr>
              <a:t>AI for Coders &amp; Software Engineers  |  ENEC 2026  |  Synthetic training material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22D3EE"/>
                </a:solidFill>
                <a:latin typeface="Consolas"/>
              </a:rPr>
              <a:t>14</a:t>
            </a:r>
            <a:r>
              <a:rPr sz="1100">
                <a:solidFill>
                  <a:srgbClr val="5F7488"/>
                </a:solidFill>
                <a:latin typeface="Consolas"/>
              </a:rPr>
              <a:t>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F2F7FB"/>
                </a:solidFill>
                <a:latin typeface="Calibri"/>
              </a:rPr>
              <a:t>From a sensor table to a governed application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9FB4C8"/>
                </a:solidFill>
                <a:latin typeface="Calibri"/>
              </a:rPr>
              <a:t>The whole four days, one arc.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783080"/>
            <a:ext cx="1425157" cy="914400"/>
          </a:xfrm>
          <a:prstGeom prst="roundRect">
            <a:avLst>
              <a:gd name="adj" fmla="val 10000"/>
            </a:avLst>
          </a:prstGeom>
          <a:solidFill>
            <a:srgbClr val="0F1626"/>
          </a:solidFill>
          <a:ln w="158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874519"/>
            <a:ext cx="124227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F2F7FB"/>
                </a:solidFill>
                <a:latin typeface="Calibri"/>
              </a:rPr>
              <a:t>Sensor readings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1946365" y="2121408"/>
            <a:ext cx="164592" cy="237744"/>
          </a:xfrm>
          <a:prstGeom prst="rightArrow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129245" y="1783080"/>
            <a:ext cx="1425157" cy="914400"/>
          </a:xfrm>
          <a:prstGeom prst="roundRect">
            <a:avLst>
              <a:gd name="adj" fmla="val 10000"/>
            </a:avLst>
          </a:prstGeom>
          <a:solidFill>
            <a:srgbClr val="0F1626"/>
          </a:solidFill>
          <a:ln w="15875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20685" y="1874519"/>
            <a:ext cx="124227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F2F7FB"/>
                </a:solidFill>
                <a:latin typeface="Calibri"/>
              </a:rPr>
              <a:t>Clean data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572691" y="2121408"/>
            <a:ext cx="164592" cy="237744"/>
          </a:xfrm>
          <a:prstGeom prst="rightArrow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755571" y="1783080"/>
            <a:ext cx="1425157" cy="914400"/>
          </a:xfrm>
          <a:prstGeom prst="roundRect">
            <a:avLst>
              <a:gd name="adj" fmla="val 10000"/>
            </a:avLst>
          </a:prstGeom>
          <a:solidFill>
            <a:srgbClr val="0F1626"/>
          </a:solidFill>
          <a:ln w="15875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47011" y="1874519"/>
            <a:ext cx="124227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F2F7FB"/>
                </a:solidFill>
                <a:latin typeface="Calibri"/>
              </a:rPr>
              <a:t>Honest forecast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199017" y="2121408"/>
            <a:ext cx="164592" cy="237744"/>
          </a:xfrm>
          <a:prstGeom prst="rightArrow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381897" y="1783080"/>
            <a:ext cx="1425157" cy="914400"/>
          </a:xfrm>
          <a:prstGeom prst="roundRect">
            <a:avLst>
              <a:gd name="adj" fmla="val 10000"/>
            </a:avLst>
          </a:prstGeom>
          <a:solidFill>
            <a:srgbClr val="0F1626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73337" y="1874519"/>
            <a:ext cx="124227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F2F7FB"/>
                </a:solidFill>
                <a:latin typeface="Calibri"/>
              </a:rPr>
              <a:t>Grounded answers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6825342" y="2121408"/>
            <a:ext cx="164592" cy="237744"/>
          </a:xfrm>
          <a:prstGeom prst="rightArrow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008222" y="1783080"/>
            <a:ext cx="1425157" cy="914400"/>
          </a:xfrm>
          <a:prstGeom prst="roundRect">
            <a:avLst>
              <a:gd name="adj" fmla="val 10000"/>
            </a:avLst>
          </a:prstGeom>
          <a:solidFill>
            <a:srgbClr val="0F1626"/>
          </a:solidFill>
          <a:ln w="158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99662" y="1874519"/>
            <a:ext cx="124227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F2F7FB"/>
                </a:solidFill>
                <a:latin typeface="Calibri"/>
              </a:rPr>
              <a:t>Bounded tools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8451668" y="2121408"/>
            <a:ext cx="164592" cy="237744"/>
          </a:xfrm>
          <a:prstGeom prst="rightArrow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634548" y="1783080"/>
            <a:ext cx="1425157" cy="914400"/>
          </a:xfrm>
          <a:prstGeom prst="roundRect">
            <a:avLst>
              <a:gd name="adj" fmla="val 10000"/>
            </a:avLst>
          </a:prstGeom>
          <a:solidFill>
            <a:srgbClr val="0F1626"/>
          </a:solidFill>
          <a:ln w="15875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25988" y="1874519"/>
            <a:ext cx="124227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F2F7FB"/>
                </a:solidFill>
                <a:latin typeface="Calibri"/>
              </a:rPr>
              <a:t>Evidence briefing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10077994" y="2121408"/>
            <a:ext cx="164592" cy="237744"/>
          </a:xfrm>
          <a:prstGeom prst="rightArrow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260874" y="1783080"/>
            <a:ext cx="1425157" cy="914400"/>
          </a:xfrm>
          <a:prstGeom prst="roundRect">
            <a:avLst>
              <a:gd name="adj" fmla="val 10000"/>
            </a:avLst>
          </a:prstGeom>
          <a:solidFill>
            <a:srgbClr val="0F1626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352314" y="1874519"/>
            <a:ext cx="124227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F2F7FB"/>
                </a:solidFill>
                <a:latin typeface="Calibri"/>
              </a:rPr>
              <a:t>Human in control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3017520"/>
            <a:ext cx="11183112" cy="1783080"/>
          </a:xfrm>
          <a:prstGeom prst="roundRect">
            <a:avLst>
              <a:gd name="adj" fmla="val 6153"/>
            </a:avLst>
          </a:prstGeom>
          <a:solidFill>
            <a:srgbClr val="0F1626"/>
          </a:solidFill>
          <a:ln w="158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31089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2D3EE"/>
                </a:solidFill>
                <a:latin typeface="Consolas"/>
              </a:rPr>
              <a:t>THE CLOSING MESSAGE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3429000"/>
            <a:ext cx="106984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 i="0">
                <a:solidFill>
                  <a:srgbClr val="F2F7FB"/>
                </a:solidFill>
                <a:latin typeface="Calibri"/>
              </a:rPr>
              <a:t>We started with a table of sensor readings. We ended with an AI application that can understand structured data, make a prediction, retrieve trusted knowledge, select bounded tools, assemble evidence, preserve uncertainty, and keep a human reviewer in control.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" y="5074920"/>
            <a:ext cx="11183112" cy="685800"/>
          </a:xfrm>
          <a:prstGeom prst="roundRect">
            <a:avLst>
              <a:gd name="adj" fmla="val 13333"/>
            </a:avLst>
          </a:prstGeom>
          <a:solidFill>
            <a:srgbClr val="13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02920" y="5074920"/>
            <a:ext cx="64008" cy="6858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7240" y="5074920"/>
            <a:ext cx="107899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F2F7FB"/>
                </a:solidFill>
                <a:latin typeface="Calibri"/>
              </a:rPr>
              <a:t>Take back to work: pick ONE real workflow and write its five questions down before writing any code.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863840" y="-2926080"/>
            <a:ext cx="6858000" cy="6858000"/>
          </a:xfrm>
          <a:prstGeom prst="ellipse">
            <a:avLst/>
          </a:prstGeom>
          <a:gradFill rotWithShape="1">
            <a:gsLst>
              <a:gs pos="0">
                <a:srgbClr val="8B5CF6">
                  <a:alpha val="38000"/>
                </a:srgbClr>
              </a:gs>
              <a:gs pos="100000">
                <a:srgbClr val="8B5CF6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108960" y="3657600"/>
            <a:ext cx="6400800" cy="6400800"/>
          </a:xfrm>
          <a:prstGeom prst="ellipse">
            <a:avLst/>
          </a:prstGeom>
          <a:gradFill rotWithShape="1">
            <a:gsLst>
              <a:gs pos="0">
                <a:srgbClr val="22D3EE">
                  <a:alpha val="22000"/>
                </a:srgbClr>
              </a:gs>
              <a:gs pos="100000">
                <a:srgbClr val="22D3E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22D3EE"/>
                </a:solidFill>
                <a:latin typeface="Consolas"/>
              </a:rPr>
              <a:t>CLOSE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F7488"/>
                </a:solidFill>
                <a:latin typeface="Consolas"/>
              </a:rPr>
              <a:t>AI for Coders &amp; Software Engineers  |  ENEC 2026  |  Synthetic training material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22D3EE"/>
                </a:solidFill>
                <a:latin typeface="Consolas"/>
              </a:rPr>
              <a:t>15</a:t>
            </a:r>
            <a:r>
              <a:rPr sz="1100">
                <a:solidFill>
                  <a:srgbClr val="5F7488"/>
                </a:solidFill>
                <a:latin typeface="Consolas"/>
              </a:rPr>
              <a:t>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F2F7FB"/>
                </a:solidFill>
                <a:latin typeface="Calibri"/>
              </a:rPr>
              <a:t>Thank you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9FB4C8"/>
                </a:solidFill>
                <a:latin typeface="Calibri"/>
              </a:rPr>
              <a:t>Keep the evidence trail. Keep the human boundary.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783080"/>
            <a:ext cx="5486400" cy="2377440"/>
          </a:xfrm>
          <a:prstGeom prst="roundRect">
            <a:avLst>
              <a:gd name="adj" fmla="val 4615"/>
            </a:avLst>
          </a:prstGeom>
          <a:solidFill>
            <a:srgbClr val="0F1626"/>
          </a:solidFill>
          <a:ln w="12700">
            <a:solidFill>
              <a:srgbClr val="26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911095"/>
            <a:ext cx="54864" cy="38404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11095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2F7FB"/>
                </a:solidFill>
                <a:latin typeface="Calibri"/>
              </a:rPr>
              <a:t>Everything is in the repo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441448"/>
            <a:ext cx="5102352" cy="1627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590" b="1" i="0">
                <a:solidFill>
                  <a:srgbClr val="22D3EE"/>
                </a:solidFill>
                <a:latin typeface="Calibri"/>
              </a:rPr>
              <a:t>•  </a:t>
            </a:r>
            <a:r>
              <a:rPr sz="1590" b="0" i="0">
                <a:solidFill>
                  <a:srgbClr val="9FB4C8"/>
                </a:solidFill>
                <a:latin typeface="Calibri"/>
              </a:rPr>
              <a:t>Notebooks, data, documents, skills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590" b="1" i="0">
                <a:solidFill>
                  <a:srgbClr val="22D3EE"/>
                </a:solidFill>
                <a:latin typeface="Calibri"/>
              </a:rPr>
              <a:t>•  </a:t>
            </a:r>
            <a:r>
              <a:rPr sz="1590" b="0" i="0">
                <a:solidFill>
                  <a:srgbClr val="9FB4C8"/>
                </a:solidFill>
                <a:latin typeface="Calibri"/>
              </a:rPr>
              <a:t>Excel workbooks for Copilot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590" b="1" i="0">
                <a:solidFill>
                  <a:srgbClr val="22D3EE"/>
                </a:solidFill>
                <a:latin typeface="Calibri"/>
              </a:rPr>
              <a:t>•  </a:t>
            </a:r>
            <a:r>
              <a:rPr sz="1590" b="0" i="0">
                <a:solidFill>
                  <a:srgbClr val="9FB4C8"/>
                </a:solidFill>
                <a:latin typeface="Calibri"/>
              </a:rPr>
              <a:t>github.com/Decoding-Data-Science/enec2026oct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1783080"/>
            <a:ext cx="5486400" cy="2377440"/>
          </a:xfrm>
          <a:prstGeom prst="roundRect">
            <a:avLst>
              <a:gd name="adj" fmla="val 4615"/>
            </a:avLst>
          </a:prstGeom>
          <a:solidFill>
            <a:srgbClr val="0F1626"/>
          </a:solidFill>
          <a:ln w="12700">
            <a:solidFill>
              <a:srgbClr val="26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99632" y="1911095"/>
            <a:ext cx="54864" cy="384048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911095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2F7FB"/>
                </a:solidFill>
                <a:latin typeface="Calibri"/>
              </a:rPr>
              <a:t>Your next step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441448"/>
            <a:ext cx="5102352" cy="1627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590" b="1" i="0">
                <a:solidFill>
                  <a:srgbClr val="8B5CF6"/>
                </a:solidFill>
                <a:latin typeface="Calibri"/>
              </a:rPr>
              <a:t>•  </a:t>
            </a:r>
            <a:r>
              <a:rPr sz="1590" b="0" i="0">
                <a:solidFill>
                  <a:srgbClr val="9FB4C8"/>
                </a:solidFill>
                <a:latin typeface="Calibri"/>
              </a:rPr>
              <a:t>Revisit the Day 1 icebreaker answer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590" b="1" i="0">
                <a:solidFill>
                  <a:srgbClr val="8B5CF6"/>
                </a:solidFill>
                <a:latin typeface="Calibri"/>
              </a:rPr>
              <a:t>•  </a:t>
            </a:r>
            <a:r>
              <a:rPr sz="1590" b="0" i="0">
                <a:solidFill>
                  <a:srgbClr val="9FB4C8"/>
                </a:solidFill>
                <a:latin typeface="Calibri"/>
              </a:rPr>
              <a:t>Did you build or use that capability?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590" b="1" i="0">
                <a:solidFill>
                  <a:srgbClr val="8B5CF6"/>
                </a:solidFill>
                <a:latin typeface="Calibri"/>
              </a:rPr>
              <a:t>•  </a:t>
            </a:r>
            <a:r>
              <a:rPr sz="1590" b="0" i="0">
                <a:solidFill>
                  <a:srgbClr val="9FB4C8"/>
                </a:solidFill>
                <a:latin typeface="Calibri"/>
              </a:rPr>
              <a:t>Pick one workflow at work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4572000"/>
            <a:ext cx="11183112" cy="640080"/>
          </a:xfrm>
          <a:prstGeom prst="roundRect">
            <a:avLst>
              <a:gd name="adj" fmla="val 14285"/>
            </a:avLst>
          </a:prstGeom>
          <a:solidFill>
            <a:srgbClr val="13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4572000"/>
            <a:ext cx="64008" cy="6400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572000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F2F7FB"/>
                </a:solidFill>
                <a:latin typeface="Calibri"/>
              </a:rPr>
              <a:t>Mohammad Arshad Ahmed  |  Decoding Data Science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