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-2926080"/>
            <a:ext cx="6858000" cy="6858000"/>
          </a:xfrm>
          <a:prstGeom prst="ellipse">
            <a:avLst/>
          </a:prstGeom>
          <a:gradFill rotWithShape="1">
            <a:gsLst>
              <a:gs pos="0">
                <a:srgbClr val="8B5CF6">
                  <a:alpha val="38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108960" y="3657600"/>
            <a:ext cx="6400800" cy="6400800"/>
          </a:xfrm>
          <a:prstGeom prst="ellipse">
            <a:avLst/>
          </a:prstGeom>
          <a:gradFill rotWithShape="1">
            <a:gsLst>
              <a:gs pos="0">
                <a:srgbClr val="22D3EE">
                  <a:alpha val="22000"/>
                </a:srgbClr>
              </a:gs>
              <a:gs pos="100000">
                <a:srgbClr val="22D3E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943600" y="-1828800"/>
            <a:ext cx="8686800" cy="8686800"/>
          </a:xfrm>
          <a:prstGeom prst="ellipse">
            <a:avLst/>
          </a:prstGeom>
          <a:gradFill rotWithShape="1">
            <a:gsLst>
              <a:gs pos="0">
                <a:srgbClr val="8B5CF6">
                  <a:alpha val="45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22D3EE"/>
                </a:solidFill>
                <a:latin typeface="Consolas"/>
              </a:rPr>
              <a:t>DAY 3  |  AI FOR CODERS &amp; SOFTWARE ENGINEERS  | 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841248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4800" b="1" i="0">
                <a:solidFill>
                  <a:srgbClr val="F2F7FB"/>
                </a:solidFill>
                <a:latin typeface="Calibri"/>
              </a:rPr>
              <a:t>Agentic AI &amp;</a:t>
            </a:r>
          </a:p>
          <a:p>
            <a:pPr algn="l">
              <a:lnSpc>
                <a:spcPct val="95000"/>
              </a:lnSpc>
            </a:pPr>
            <a:r>
              <a:rPr sz="4800" b="1" i="0">
                <a:solidFill>
                  <a:srgbClr val="F2F7FB"/>
                </a:solidFill>
                <a:latin typeface="Calibri"/>
              </a:rPr>
              <a:t>Governed Agent Patterns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2900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9FB4C8"/>
                </a:solidFill>
                <a:latin typeface="Calibri"/>
              </a:rPr>
              <a:t>From retrieval to controlled tool use, with a human boundary that holds.</a:t>
            </a:r>
          </a:p>
        </p:txBody>
      </p:sp>
      <p:sp>
        <p:nvSpPr>
          <p:cNvPr id="8" name="Oval 7"/>
          <p:cNvSpPr/>
          <p:nvPr/>
        </p:nvSpPr>
        <p:spPr>
          <a:xfrm>
            <a:off x="749808" y="4434840"/>
            <a:ext cx="128016" cy="128016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4343400"/>
            <a:ext cx="7680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2F7FB"/>
                </a:solidFill>
                <a:latin typeface="Calibri"/>
              </a:rPr>
              <a:t>What makes an application an agent</a:t>
            </a:r>
          </a:p>
        </p:txBody>
      </p:sp>
      <p:sp>
        <p:nvSpPr>
          <p:cNvPr id="10" name="Oval 9"/>
          <p:cNvSpPr/>
          <p:nvPr/>
        </p:nvSpPr>
        <p:spPr>
          <a:xfrm>
            <a:off x="749808" y="4818888"/>
            <a:ext cx="128016" cy="128016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4727448"/>
            <a:ext cx="7680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2F7FB"/>
                </a:solidFill>
                <a:latin typeface="Calibri"/>
              </a:rPr>
              <a:t>Tools, skills, knowledge and memory, kept separate</a:t>
            </a:r>
          </a:p>
        </p:txBody>
      </p:sp>
      <p:sp>
        <p:nvSpPr>
          <p:cNvPr id="12" name="Oval 11"/>
          <p:cNvSpPr/>
          <p:nvPr/>
        </p:nvSpPr>
        <p:spPr>
          <a:xfrm>
            <a:off x="749808" y="5202936"/>
            <a:ext cx="128016" cy="128016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5111496"/>
            <a:ext cx="7680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2F7FB"/>
                </a:solidFill>
                <a:latin typeface="Calibri"/>
              </a:rPr>
              <a:t>Progressive disclosure, audit trail and an approval gate</a:t>
            </a:r>
          </a:p>
        </p:txBody>
      </p:sp>
      <p:sp>
        <p:nvSpPr>
          <p:cNvPr id="14" name="Oval 13"/>
          <p:cNvSpPr/>
          <p:nvPr/>
        </p:nvSpPr>
        <p:spPr>
          <a:xfrm>
            <a:off x="749808" y="5586983"/>
            <a:ext cx="128016" cy="128016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5495544"/>
            <a:ext cx="7680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2F7FB"/>
                </a:solidFill>
                <a:latin typeface="Calibri"/>
              </a:rPr>
              <a:t>When a supervisor with specialists is justified, and when it is not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60" y="1600200"/>
            <a:ext cx="2606040" cy="3200400"/>
          </a:xfrm>
          <a:prstGeom prst="roundRect">
            <a:avLst>
              <a:gd name="adj" fmla="val 7017"/>
            </a:avLst>
          </a:prstGeom>
          <a:solidFill>
            <a:srgbClr val="0F1626"/>
          </a:solidFill>
          <a:ln w="190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52560" y="1783080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 spc="200">
                <a:solidFill>
                  <a:srgbClr val="22D3EE"/>
                </a:solidFill>
                <a:latin typeface="Consolas"/>
              </a:rPr>
              <a:t>TODAY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0" y="2103120"/>
            <a:ext cx="26060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 i="0">
                <a:solidFill>
                  <a:srgbClr val="F2F7FB"/>
                </a:solidFill>
                <a:latin typeface="Calibri"/>
              </a:rPr>
              <a:t>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297180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 i="0">
                <a:solidFill>
                  <a:srgbClr val="9FB4C8"/>
                </a:solidFill>
                <a:latin typeface="Calibri"/>
              </a:rPr>
              <a:t>Choose a tool, stay in bounds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464040" y="3474720"/>
            <a:ext cx="1783080" cy="18288"/>
          </a:xfrm>
          <a:prstGeom prst="rect">
            <a:avLst/>
          </a:prstGeom>
          <a:solidFill>
            <a:srgbClr val="263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3611880"/>
            <a:ext cx="22402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9FB4C8"/>
                </a:solidFill>
                <a:latin typeface="Calibri"/>
              </a:rPr>
              <a:t>Three tools</a:t>
            </a:r>
          </a:p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9FB4C8"/>
                </a:solidFill>
                <a:latin typeface="Calibri"/>
              </a:rPr>
              <a:t>Runs in Colab</a:t>
            </a:r>
          </a:p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9FB4C8"/>
                </a:solidFill>
                <a:latin typeface="Calibri"/>
              </a:rPr>
              <a:t>Every call audited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2636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F7488"/>
                </a:solidFill>
                <a:latin typeface="Consolas"/>
              </a:rPr>
              <a:t>Instructor: Mohammad Arshad Ahmed   |   github.com/Decoding-Data-Science/enec2026oct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-2926080"/>
            <a:ext cx="6858000" cy="6858000"/>
          </a:xfrm>
          <a:prstGeom prst="ellipse">
            <a:avLst/>
          </a:prstGeom>
          <a:gradFill rotWithShape="1">
            <a:gsLst>
              <a:gs pos="0">
                <a:srgbClr val="8B5CF6">
                  <a:alpha val="38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108960" y="3657600"/>
            <a:ext cx="6400800" cy="6400800"/>
          </a:xfrm>
          <a:prstGeom prst="ellipse">
            <a:avLst/>
          </a:prstGeom>
          <a:gradFill rotWithShape="1">
            <a:gsLst>
              <a:gs pos="0">
                <a:srgbClr val="22D3EE">
                  <a:alpha val="22000"/>
                </a:srgbClr>
              </a:gs>
              <a:gs pos="100000">
                <a:srgbClr val="22D3E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2D3EE"/>
                </a:solidFill>
                <a:latin typeface="Consolas"/>
              </a:rPr>
              <a:t>RECAP: DAY 1 AND DAY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7488"/>
                </a:solidFill>
                <a:latin typeface="Consolas"/>
              </a:rPr>
              <a:t>AI for Coders &amp; Software Engineers  |  ENEC 2026  |  Synthetic training material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22D3EE"/>
                </a:solidFill>
                <a:latin typeface="Consolas"/>
              </a:rPr>
              <a:t>02</a:t>
            </a:r>
            <a:r>
              <a:rPr sz="1100">
                <a:solidFill>
                  <a:srgbClr val="5F7488"/>
                </a:solidFill>
                <a:latin typeface="Consolas"/>
              </a:rPr>
              <a:t>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2F7FB"/>
                </a:solidFill>
                <a:latin typeface="Calibri"/>
              </a:rPr>
              <a:t>From data to evidence. Today, add tools.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9FB4C8"/>
                </a:solidFill>
                <a:latin typeface="Calibri"/>
              </a:rPr>
              <a:t>Two days built two separate capabilities. Today they meet.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83080"/>
            <a:ext cx="5486400" cy="2011680"/>
          </a:xfrm>
          <a:prstGeom prst="roundRect">
            <a:avLst>
              <a:gd name="adj" fmla="val 5454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911095"/>
            <a:ext cx="54864" cy="3840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11095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Day 1: Copilot and the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441448"/>
            <a:ext cx="5102352" cy="1261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22D3EE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Structured prompts, checked against known answers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22D3EE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Asset 360, documents and the security layer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783080"/>
            <a:ext cx="5486400" cy="2011680"/>
          </a:xfrm>
          <a:prstGeom prst="roundRect">
            <a:avLst>
              <a:gd name="adj" fmla="val 5454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9632" y="1911095"/>
            <a:ext cx="54864" cy="38404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911095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Day 2: GenAI and governed RAG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441448"/>
            <a:ext cx="5102352" cy="1261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8B5CF6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Chunk, embed, retrieve, cite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8B5CF6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Approved vs draft vs superseded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023360"/>
            <a:ext cx="5440680" cy="731520"/>
          </a:xfrm>
          <a:prstGeom prst="roundRect">
            <a:avLst>
              <a:gd name="adj" fmla="val 12500"/>
            </a:avLst>
          </a:prstGeom>
          <a:solidFill>
            <a:srgbClr val="0F1626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023360"/>
            <a:ext cx="54406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 i="0">
                <a:solidFill>
                  <a:srgbClr val="F2F7FB"/>
                </a:solidFill>
                <a:latin typeface="Calibri"/>
              </a:rPr>
              <a:t>A model flag is not a verdict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5352" y="4023360"/>
            <a:ext cx="5440680" cy="731520"/>
          </a:xfrm>
          <a:prstGeom prst="roundRect">
            <a:avLst>
              <a:gd name="adj" fmla="val 12500"/>
            </a:avLst>
          </a:prstGeom>
          <a:solidFill>
            <a:srgbClr val="0F1626"/>
          </a:solidFill>
          <a:ln w="15875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4023360"/>
            <a:ext cx="54406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 i="0">
                <a:solidFill>
                  <a:srgbClr val="F2F7FB"/>
                </a:solidFill>
                <a:latin typeface="Calibri"/>
              </a:rPr>
              <a:t>Relevant is not authoritative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5120640"/>
            <a:ext cx="11183112" cy="685800"/>
          </a:xfrm>
          <a:prstGeom prst="roundRect">
            <a:avLst>
              <a:gd name="adj" fmla="val 13333"/>
            </a:avLst>
          </a:prstGeom>
          <a:solidFill>
            <a:srgbClr val="13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5120640"/>
            <a:ext cx="64008" cy="6858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120640"/>
            <a:ext cx="107899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F2F7FB"/>
                </a:solidFill>
                <a:latin typeface="Calibri"/>
              </a:rPr>
              <a:t>Day 3: structured facts + approved guidance, joined by a governed agent, ending at human review.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-2926080"/>
            <a:ext cx="6858000" cy="6858000"/>
          </a:xfrm>
          <a:prstGeom prst="ellipse">
            <a:avLst/>
          </a:prstGeom>
          <a:gradFill rotWithShape="1">
            <a:gsLst>
              <a:gs pos="0">
                <a:srgbClr val="8B5CF6">
                  <a:alpha val="38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108960" y="3657600"/>
            <a:ext cx="6400800" cy="6400800"/>
          </a:xfrm>
          <a:prstGeom prst="ellipse">
            <a:avLst/>
          </a:prstGeom>
          <a:gradFill rotWithShape="1">
            <a:gsLst>
              <a:gs pos="0">
                <a:srgbClr val="22D3EE">
                  <a:alpha val="22000"/>
                </a:srgbClr>
              </a:gs>
              <a:gs pos="100000">
                <a:srgbClr val="22D3E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2D3EE"/>
                </a:solidFill>
                <a:latin typeface="Consolas"/>
              </a:rPr>
              <a:t>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7488"/>
                </a:solidFill>
                <a:latin typeface="Consolas"/>
              </a:rPr>
              <a:t>AI for Coders &amp; Software Engineers  |  ENEC 2026  |  Synthetic training material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22D3EE"/>
                </a:solidFill>
                <a:latin typeface="Consolas"/>
              </a:rPr>
              <a:t>03</a:t>
            </a:r>
            <a:r>
              <a:rPr sz="1100">
                <a:solidFill>
                  <a:srgbClr val="5F7488"/>
                </a:solidFill>
                <a:latin typeface="Consolas"/>
              </a:rPr>
              <a:t>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2F7FB"/>
                </a:solidFill>
                <a:latin typeface="Calibri"/>
              </a:rPr>
              <a:t>What makes an application an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9FB4C8"/>
                </a:solidFill>
                <a:latin typeface="Calibri"/>
              </a:rPr>
              <a:t>A precise definition for a loosely used word.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83080"/>
            <a:ext cx="11183112" cy="1097280"/>
          </a:xfrm>
          <a:prstGeom prst="roundRect">
            <a:avLst>
              <a:gd name="adj" fmla="val 8333"/>
            </a:avLst>
          </a:prstGeom>
          <a:solidFill>
            <a:srgbClr val="0F1626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874519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2D3EE"/>
                </a:solidFill>
                <a:latin typeface="Consolas"/>
              </a:rPr>
              <a:t>DAY 3 DEFINITION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9456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2F7FB"/>
                </a:solidFill>
                <a:latin typeface="Calibri"/>
              </a:rPr>
              <a:t>An agent is an LLM-driven application that can choose approved tools to complete a bounded task.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54680"/>
            <a:ext cx="3611880" cy="2286000"/>
          </a:xfrm>
          <a:prstGeom prst="roundRect">
            <a:avLst>
              <a:gd name="adj" fmla="val 4800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3282696"/>
            <a:ext cx="54864" cy="3840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3282696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Choose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3813048"/>
            <a:ext cx="3227832" cy="1536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90" b="0" i="0">
                <a:solidFill>
                  <a:srgbClr val="9FB4C8"/>
                </a:solidFill>
                <a:latin typeface="Calibri"/>
              </a:rPr>
              <a:t>It decides which capability fits the question. Not a fixed pipeline: a decision.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88536" y="3154680"/>
            <a:ext cx="3611880" cy="2286000"/>
          </a:xfrm>
          <a:prstGeom prst="roundRect">
            <a:avLst>
              <a:gd name="adj" fmla="val 4800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88536" y="3282696"/>
            <a:ext cx="54864" cy="38404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9704" y="3282696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Approved tools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9704" y="3813048"/>
            <a:ext cx="3227832" cy="1536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90" b="0" i="0">
                <a:solidFill>
                  <a:srgbClr val="9FB4C8"/>
                </a:solidFill>
                <a:latin typeface="Calibri"/>
              </a:rPr>
              <a:t>The menu is fixed by design. The agent picks from it; it cannot invent permissions.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74152" y="3154680"/>
            <a:ext cx="3611880" cy="2286000"/>
          </a:xfrm>
          <a:prstGeom prst="roundRect">
            <a:avLst>
              <a:gd name="adj" fmla="val 4800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74152" y="3282696"/>
            <a:ext cx="54864" cy="38404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5320" y="3282696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Bounded task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3813048"/>
            <a:ext cx="3227832" cy="1536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90" b="0" i="0">
                <a:solidFill>
                  <a:srgbClr val="9FB4C8"/>
                </a:solidFill>
                <a:latin typeface="Calibri"/>
              </a:rPr>
              <a:t>Scope, output and stopping point are defined before the first tool call.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5669280"/>
            <a:ext cx="11183112" cy="530352"/>
          </a:xfrm>
          <a:prstGeom prst="roundRect">
            <a:avLst>
              <a:gd name="adj" fmla="val 17241"/>
            </a:avLst>
          </a:prstGeom>
          <a:solidFill>
            <a:srgbClr val="13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5669280"/>
            <a:ext cx="64008" cy="5303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669280"/>
            <a:ext cx="107899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F2F7FB"/>
                </a:solidFill>
                <a:latin typeface="Calibri"/>
              </a:rPr>
              <a:t>Teach one governed agent well before introducing multiple agents.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-2926080"/>
            <a:ext cx="6858000" cy="6858000"/>
          </a:xfrm>
          <a:prstGeom prst="ellipse">
            <a:avLst/>
          </a:prstGeom>
          <a:gradFill rotWithShape="1">
            <a:gsLst>
              <a:gs pos="0">
                <a:srgbClr val="8B5CF6">
                  <a:alpha val="38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108960" y="3657600"/>
            <a:ext cx="6400800" cy="6400800"/>
          </a:xfrm>
          <a:prstGeom prst="ellipse">
            <a:avLst/>
          </a:prstGeom>
          <a:gradFill rotWithShape="1">
            <a:gsLst>
              <a:gs pos="0">
                <a:srgbClr val="22D3EE">
                  <a:alpha val="22000"/>
                </a:srgbClr>
              </a:gs>
              <a:gs pos="100000">
                <a:srgbClr val="22D3E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2D3EE"/>
                </a:solidFill>
                <a:latin typeface="Consolas"/>
              </a:rPr>
              <a:t>NOTEBOOK 1: THE 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7488"/>
                </a:solidFill>
                <a:latin typeface="Consolas"/>
              </a:rPr>
              <a:t>AI for Coders &amp; Software Engineers  |  ENEC 2026  |  Synthetic training material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22D3EE"/>
                </a:solidFill>
                <a:latin typeface="Consolas"/>
              </a:rPr>
              <a:t>04</a:t>
            </a:r>
            <a:r>
              <a:rPr sz="1100">
                <a:solidFill>
                  <a:srgbClr val="5F7488"/>
                </a:solidFill>
                <a:latin typeface="Consolas"/>
              </a:rPr>
              <a:t>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2F7FB"/>
                </a:solidFill>
                <a:latin typeface="Calibri"/>
              </a:rPr>
              <a:t>A question RAG alone cannot answer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9FB4C8"/>
                </a:solidFill>
                <a:latin typeface="Calibri"/>
              </a:rPr>
              <a:t>One mission, three kinds of evidence, one decision about which tool to use.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83080"/>
            <a:ext cx="11183112" cy="914400"/>
          </a:xfrm>
          <a:prstGeom prst="roundRect">
            <a:avLst>
              <a:gd name="adj" fmla="val 10000"/>
            </a:avLst>
          </a:prstGeom>
          <a:solidFill>
            <a:srgbClr val="0F1626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783080"/>
            <a:ext cx="1069848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 i="0">
                <a:solidFill>
                  <a:srgbClr val="F2F7FB"/>
                </a:solidFill>
                <a:latin typeface="Calibri"/>
              </a:rPr>
              <a:t>"What was happening in A-001's data, what does the current approved procedure say, and what should be prepared for human reliability review?"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017520"/>
            <a:ext cx="1650492" cy="1188720"/>
          </a:xfrm>
          <a:prstGeom prst="roundRect">
            <a:avLst>
              <a:gd name="adj" fmla="val 7692"/>
            </a:avLst>
          </a:prstGeom>
          <a:solidFill>
            <a:srgbClr val="0F1626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108960"/>
            <a:ext cx="14676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F2F7FB"/>
                </a:solidFill>
                <a:latin typeface="Calibri"/>
              </a:rPr>
              <a:t>Question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171700" y="3493008"/>
            <a:ext cx="219456" cy="237744"/>
          </a:xfrm>
          <a:prstGeom prst="rightArrow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409444" y="3017520"/>
            <a:ext cx="1650492" cy="1188720"/>
          </a:xfrm>
          <a:prstGeom prst="roundRect">
            <a:avLst>
              <a:gd name="adj" fmla="val 7692"/>
            </a:avLst>
          </a:prstGeom>
          <a:solidFill>
            <a:srgbClr val="0F1626"/>
          </a:solidFill>
          <a:ln w="15875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00884" y="3108960"/>
            <a:ext cx="14676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F2F7FB"/>
                </a:solidFill>
                <a:latin typeface="Calibri"/>
              </a:rPr>
              <a:t>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00884" y="3529584"/>
            <a:ext cx="146761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chooses</a:t>
            </a:r>
          </a:p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tools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078223" y="3493008"/>
            <a:ext cx="219456" cy="237744"/>
          </a:xfrm>
          <a:prstGeom prst="rightArrow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315968" y="3017520"/>
            <a:ext cx="1650492" cy="1188720"/>
          </a:xfrm>
          <a:prstGeom prst="roundRect">
            <a:avLst>
              <a:gd name="adj" fmla="val 7692"/>
            </a:avLst>
          </a:prstGeom>
          <a:solidFill>
            <a:srgbClr val="0F1626"/>
          </a:solidFill>
          <a:ln w="15875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07407" y="3108960"/>
            <a:ext cx="14676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F2F7FB"/>
                </a:solidFill>
                <a:latin typeface="Calibri"/>
              </a:rPr>
              <a:t>Tools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07407" y="3529584"/>
            <a:ext cx="146761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SQL, documents,</a:t>
            </a:r>
          </a:p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forecast, ML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5984747" y="3493008"/>
            <a:ext cx="219456" cy="237744"/>
          </a:xfrm>
          <a:prstGeom prst="rightArrow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22492" y="3017520"/>
            <a:ext cx="1650492" cy="1188720"/>
          </a:xfrm>
          <a:prstGeom prst="roundRect">
            <a:avLst>
              <a:gd name="adj" fmla="val 7692"/>
            </a:avLst>
          </a:prstGeom>
          <a:solidFill>
            <a:srgbClr val="0F1626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13931" y="3108960"/>
            <a:ext cx="14676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F2F7FB"/>
                </a:solidFill>
                <a:latin typeface="Calibri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13931" y="3529584"/>
            <a:ext cx="146761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with sources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7891271" y="3493008"/>
            <a:ext cx="219456" cy="237744"/>
          </a:xfrm>
          <a:prstGeom prst="rightArrow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129016" y="3017520"/>
            <a:ext cx="1650492" cy="1188720"/>
          </a:xfrm>
          <a:prstGeom prst="roundRect">
            <a:avLst>
              <a:gd name="adj" fmla="val 7692"/>
            </a:avLst>
          </a:prstGeom>
          <a:solidFill>
            <a:srgbClr val="0F1626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0456" y="3108960"/>
            <a:ext cx="14676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F2F7FB"/>
                </a:solidFill>
                <a:latin typeface="Calibri"/>
              </a:rPr>
              <a:t>Briefing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0456" y="3529584"/>
            <a:ext cx="146761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bounded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9797796" y="3493008"/>
            <a:ext cx="219456" cy="237744"/>
          </a:xfrm>
          <a:prstGeom prst="rightArrow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035540" y="3017520"/>
            <a:ext cx="1650492" cy="1188720"/>
          </a:xfrm>
          <a:prstGeom prst="roundRect">
            <a:avLst>
              <a:gd name="adj" fmla="val 7692"/>
            </a:avLst>
          </a:prstGeom>
          <a:solidFill>
            <a:srgbClr val="0F1626"/>
          </a:solidFill>
          <a:ln w="15875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26980" y="3108960"/>
            <a:ext cx="14676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F2F7FB"/>
                </a:solidFill>
                <a:latin typeface="Calibri"/>
              </a:rPr>
              <a:t>Human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26980" y="3529584"/>
            <a:ext cx="146761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decides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4480560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9FB4C8"/>
                </a:solidFill>
                <a:latin typeface="Calibri"/>
              </a:rPr>
              <a:t>SQL tool: current structured facts       Document tool: approved guidance       Forecast tool: bounded calculation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5394960"/>
            <a:ext cx="11183112" cy="530352"/>
          </a:xfrm>
          <a:prstGeom prst="roundRect">
            <a:avLst>
              <a:gd name="adj" fmla="val 17241"/>
            </a:avLst>
          </a:prstGeom>
          <a:solidFill>
            <a:srgbClr val="13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02920" y="5394960"/>
            <a:ext cx="64008" cy="5303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5394960"/>
            <a:ext cx="107899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F2F7FB"/>
                </a:solidFill>
                <a:latin typeface="Calibri"/>
              </a:rPr>
              <a:t>The value is not any single tool. It is the governed choice between them.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-2926080"/>
            <a:ext cx="6858000" cy="6858000"/>
          </a:xfrm>
          <a:prstGeom prst="ellipse">
            <a:avLst/>
          </a:prstGeom>
          <a:gradFill rotWithShape="1">
            <a:gsLst>
              <a:gs pos="0">
                <a:srgbClr val="8B5CF6">
                  <a:alpha val="38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108960" y="3657600"/>
            <a:ext cx="6400800" cy="6400800"/>
          </a:xfrm>
          <a:prstGeom prst="ellipse">
            <a:avLst/>
          </a:prstGeom>
          <a:gradFill rotWithShape="1">
            <a:gsLst>
              <a:gs pos="0">
                <a:srgbClr val="22D3EE">
                  <a:alpha val="22000"/>
                </a:srgbClr>
              </a:gs>
              <a:gs pos="100000">
                <a:srgbClr val="22D3E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2D3EE"/>
                </a:solidFill>
                <a:latin typeface="Consolas"/>
              </a:rPr>
              <a:t>NOTEBOOK 1: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7488"/>
                </a:solidFill>
                <a:latin typeface="Consolas"/>
              </a:rPr>
              <a:t>AI for Coders &amp; Software Engineers  |  ENEC 2026  |  Synthetic training material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22D3EE"/>
                </a:solidFill>
                <a:latin typeface="Consolas"/>
              </a:rPr>
              <a:t>05</a:t>
            </a:r>
            <a:r>
              <a:rPr sz="1100">
                <a:solidFill>
                  <a:srgbClr val="5F7488"/>
                </a:solidFill>
                <a:latin typeface="Consolas"/>
              </a:rPr>
              <a:t>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2F7FB"/>
                </a:solidFill>
                <a:latin typeface="Calibri"/>
              </a:rPr>
              <a:t>Tools are just functions plus a description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9FB4C8"/>
                </a:solidFill>
                <a:latin typeface="Calibri"/>
              </a:rPr>
              <a:t>The description is part of the prompt. Write it like one.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783080"/>
          <a:ext cx="11183112" cy="32004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377440"/>
                <a:gridCol w="5120640"/>
                <a:gridCol w="3685032"/>
              </a:tblGrid>
              <a:tr h="640080">
                <a:tc>
                  <a:txBody>
                    <a:bodyPr wrap="square"/>
                    <a:lstStyle/>
                    <a:p>
                      <a:r>
                        <a:rPr sz="1400" b="1" i="0" spc="100">
                          <a:solidFill>
                            <a:srgbClr val="22D3EE"/>
                          </a:solidFill>
                          <a:latin typeface="Consolas"/>
                        </a:rPr>
                        <a:t>Tool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13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 spc="100">
                          <a:solidFill>
                            <a:srgbClr val="22D3EE"/>
                          </a:solidFill>
                          <a:latin typeface="Consolas"/>
                        </a:rPr>
                        <a:t>What it does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13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 spc="100">
                          <a:solidFill>
                            <a:srgbClr val="22D3EE"/>
                          </a:solidFill>
                          <a:latin typeface="Consolas"/>
                        </a:rPr>
                        <a:t>Boundary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131C30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550" b="1" i="0">
                          <a:solidFill>
                            <a:srgbClr val="F2F7FB"/>
                          </a:solidFill>
                          <a:latin typeface="Calibri"/>
                        </a:rPr>
                        <a:t>sql_query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50" b="0" i="0">
                          <a:solidFill>
                            <a:srgbClr val="F2F7FB"/>
                          </a:solidFill>
                          <a:latin typeface="Calibri"/>
                        </a:rPr>
                        <a:t>One read-only SELECT on the A-001 / Asset 360 tables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50" b="0" i="0">
                          <a:solidFill>
                            <a:srgbClr val="F2F7FB"/>
                          </a:solidFill>
                          <a:latin typeface="Calibri"/>
                        </a:rPr>
                        <a:t>Guard: single SELECT, no writes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550" b="1" i="0">
                          <a:solidFill>
                            <a:srgbClr val="F2F7FB"/>
                          </a:solidFill>
                          <a:latin typeface="Calibri"/>
                        </a:rPr>
                        <a:t>search_documents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50" b="0" i="0">
                          <a:solidFill>
                            <a:srgbClr val="F2F7FB"/>
                          </a:solidFill>
                          <a:latin typeface="Calibri"/>
                        </a:rPr>
                        <a:t>Semantic search with ID, status and version shown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50" b="0" i="0">
                          <a:solidFill>
                            <a:srgbClr val="F2F7FB"/>
                          </a:solidFill>
                          <a:latin typeface="Calibri"/>
                        </a:rPr>
                        <a:t>Can be limited to APPROVED only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550" b="1" i="0">
                          <a:solidFill>
                            <a:srgbClr val="F2F7FB"/>
                          </a:solidFill>
                          <a:latin typeface="Calibri"/>
                        </a:rPr>
                        <a:t>forecast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50" b="0" i="0">
                          <a:solidFill>
                            <a:srgbClr val="F2F7FB"/>
                          </a:solidFill>
                          <a:latin typeface="Calibri"/>
                        </a:rPr>
                        <a:t>7-day vibration forecast (Ridge model, optional extension 2)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50" b="0" i="0">
                          <a:solidFill>
                            <a:srgbClr val="F2F7FB"/>
                          </a:solidFill>
                          <a:latin typeface="Calibri"/>
                        </a:rPr>
                        <a:t>Statistical, not a failure prediction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550" b="1" i="0">
                          <a:solidFill>
                            <a:srgbClr val="F2F7FB"/>
                          </a:solidFill>
                          <a:latin typeface="Calibri"/>
                        </a:rPr>
                        <a:t>list_flagged_assets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50" b="0" i="0">
                          <a:solidFill>
                            <a:srgbClr val="F2F7FB"/>
                          </a:solidFill>
                          <a:latin typeface="Calibri"/>
                        </a:rPr>
                        <a:t>Decision-tree flags on log windows, joined to priority (new today)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50" b="0" i="0">
                          <a:solidFill>
                            <a:srgbClr val="F2F7FB"/>
                          </a:solidFill>
                          <a:latin typeface="Calibri"/>
                        </a:rPr>
                        <a:t>Read-only, triage evidence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02920" y="5138928"/>
            <a:ext cx="11183112" cy="1051560"/>
          </a:xfrm>
          <a:prstGeom prst="roundRect">
            <a:avLst>
              <a:gd name="adj" fmla="val 10434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266944"/>
            <a:ext cx="54864" cy="38404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5266944"/>
            <a:ext cx="108173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Why descriptions matter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5797296"/>
            <a:ext cx="10799064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0" i="0">
                <a:solidFill>
                  <a:srgbClr val="9FB4C8"/>
                </a:solidFill>
                <a:latin typeface="Calibri"/>
              </a:rPr>
              <a:t>The model never sees your code. It sees only the name, the description and the parameters.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-2926080"/>
            <a:ext cx="6858000" cy="6858000"/>
          </a:xfrm>
          <a:prstGeom prst="ellipse">
            <a:avLst/>
          </a:prstGeom>
          <a:gradFill rotWithShape="1">
            <a:gsLst>
              <a:gs pos="0">
                <a:srgbClr val="8B5CF6">
                  <a:alpha val="38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108960" y="3657600"/>
            <a:ext cx="6400800" cy="6400800"/>
          </a:xfrm>
          <a:prstGeom prst="ellipse">
            <a:avLst/>
          </a:prstGeom>
          <a:gradFill rotWithShape="1">
            <a:gsLst>
              <a:gs pos="0">
                <a:srgbClr val="22D3EE">
                  <a:alpha val="22000"/>
                </a:srgbClr>
              </a:gs>
              <a:gs pos="100000">
                <a:srgbClr val="22D3E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2D3EE"/>
                </a:solidFill>
                <a:latin typeface="Consolas"/>
              </a:rPr>
              <a:t>NOTEBOOK 1: THE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7488"/>
                </a:solidFill>
                <a:latin typeface="Consolas"/>
              </a:rPr>
              <a:t>AI for Coders &amp; Software Engineers  |  ENEC 2026  |  Synthetic training material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22D3EE"/>
                </a:solidFill>
                <a:latin typeface="Consolas"/>
              </a:rPr>
              <a:t>06</a:t>
            </a:r>
            <a:r>
              <a:rPr sz="1100">
                <a:solidFill>
                  <a:srgbClr val="5F7488"/>
                </a:solidFill>
                <a:latin typeface="Consolas"/>
              </a:rPr>
              <a:t>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2F7FB"/>
                </a:solidFill>
                <a:latin typeface="Calibri"/>
              </a:rPr>
              <a:t>The agent loop, in about 25 lines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9FB4C8"/>
                </a:solidFill>
                <a:latin typeface="Calibri"/>
              </a:rPr>
              <a:t>Reason, act, observe. Repeat until the model answers, or the step limit stops 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83080"/>
            <a:ext cx="6035040" cy="3840480"/>
          </a:xfrm>
          <a:prstGeom prst="roundRect">
            <a:avLst>
              <a:gd name="adj" fmla="val 1904"/>
            </a:avLst>
          </a:prstGeom>
          <a:solidFill>
            <a:srgbClr val="050810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874519"/>
            <a:ext cx="56692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120">
                <a:solidFill>
                  <a:srgbClr val="22D3EE"/>
                </a:solidFill>
                <a:latin typeface="Consolas"/>
              </a:rPr>
              <a:t>PSEUDO-CODE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130552"/>
            <a:ext cx="5632703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D6E4F0"/>
                </a:solidFill>
                <a:latin typeface="Consolas"/>
              </a:rPr>
              <a:t>messages = [system, user_question]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D6E4F0"/>
                </a:solidFill>
                <a:latin typeface="Consolas"/>
              </a:rPr>
              <a:t>for step in range(max_steps):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D6E4F0"/>
                </a:solidFill>
                <a:latin typeface="Consolas"/>
              </a:rPr>
              <a:t>    reply = model(messages, tools)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D6E4F0"/>
                </a:solidFill>
                <a:latin typeface="Consolas"/>
              </a:rPr>
              <a:t>    if no tool calls requested: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D6E4F0"/>
                </a:solidFill>
                <a:latin typeface="Consolas"/>
              </a:rPr>
              <a:t>        return reply.text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D6E4F0"/>
                </a:solidFill>
                <a:latin typeface="Consolas"/>
              </a:rPr>
              <a:t>    for call in reply.tool_calls: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D6E4F0"/>
                </a:solidFill>
                <a:latin typeface="Consolas"/>
              </a:rPr>
              <a:t>        result = run(call)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D6E4F0"/>
                </a:solidFill>
                <a:latin typeface="Consolas"/>
              </a:rPr>
              <a:t>        messages.append(result)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D6E4F0"/>
                </a:solidFill>
                <a:latin typeface="Consolas"/>
              </a:rPr>
              <a:t># step limit reached: stop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0" y="1819656"/>
            <a:ext cx="384048" cy="3840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0" y="1819656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070B14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1783080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2F7FB"/>
                </a:solidFill>
                <a:latin typeface="Calibri"/>
              </a:rPr>
              <a:t>Send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2066543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9FB4C8"/>
                </a:solidFill>
                <a:latin typeface="Calibri"/>
              </a:rPr>
              <a:t>conversation + tool descriptions</a:t>
            </a:r>
          </a:p>
        </p:txBody>
      </p:sp>
      <p:sp>
        <p:nvSpPr>
          <p:cNvPr id="16" name="Oval 15"/>
          <p:cNvSpPr/>
          <p:nvPr/>
        </p:nvSpPr>
        <p:spPr>
          <a:xfrm>
            <a:off x="6858000" y="2569464"/>
            <a:ext cx="384048" cy="3840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2569464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070B14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2532888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2F7FB"/>
                </a:solidFill>
                <a:latin typeface="Calibri"/>
              </a:rPr>
              <a:t>Model decides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2816352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9FB4C8"/>
                </a:solidFill>
                <a:latin typeface="Calibri"/>
              </a:rPr>
              <a:t>answer, or ask for a tool</a:t>
            </a:r>
          </a:p>
        </p:txBody>
      </p:sp>
      <p:sp>
        <p:nvSpPr>
          <p:cNvPr id="20" name="Oval 19"/>
          <p:cNvSpPr/>
          <p:nvPr/>
        </p:nvSpPr>
        <p:spPr>
          <a:xfrm>
            <a:off x="6858000" y="3319272"/>
            <a:ext cx="384048" cy="3840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0" y="3319272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070B14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3282696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2F7FB"/>
                </a:solidFill>
                <a:latin typeface="Calibri"/>
              </a:rPr>
              <a:t>Run the tool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3566160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9FB4C8"/>
                </a:solidFill>
                <a:latin typeface="Calibri"/>
              </a:rPr>
              <a:t>in your code, not the model</a:t>
            </a:r>
          </a:p>
        </p:txBody>
      </p:sp>
      <p:sp>
        <p:nvSpPr>
          <p:cNvPr id="24" name="Oval 23"/>
          <p:cNvSpPr/>
          <p:nvPr/>
        </p:nvSpPr>
        <p:spPr>
          <a:xfrm>
            <a:off x="6858000" y="4069080"/>
            <a:ext cx="384048" cy="3840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0" y="40690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070B14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40" y="4032504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2F7FB"/>
                </a:solidFill>
                <a:latin typeface="Calibri"/>
              </a:rPr>
              <a:t>Append result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6640" y="4315968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9FB4C8"/>
                </a:solidFill>
                <a:latin typeface="Calibri"/>
              </a:rPr>
              <a:t>the model reads the observation</a:t>
            </a:r>
          </a:p>
        </p:txBody>
      </p:sp>
      <p:sp>
        <p:nvSpPr>
          <p:cNvPr id="28" name="Oval 27"/>
          <p:cNvSpPr/>
          <p:nvPr/>
        </p:nvSpPr>
        <p:spPr>
          <a:xfrm>
            <a:off x="6858000" y="4818888"/>
            <a:ext cx="384048" cy="3840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0" y="481888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070B14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06640" y="4782312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2F7FB"/>
                </a:solidFill>
                <a:latin typeface="Calibri"/>
              </a:rPr>
              <a:t>Repeat or stop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06640" y="5065775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9FB4C8"/>
                </a:solidFill>
                <a:latin typeface="Calibri"/>
              </a:rPr>
              <a:t>final text, or step limit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5760720"/>
            <a:ext cx="11183112" cy="530352"/>
          </a:xfrm>
          <a:prstGeom prst="roundRect">
            <a:avLst>
              <a:gd name="adj" fmla="val 17241"/>
            </a:avLst>
          </a:prstGeom>
          <a:solidFill>
            <a:srgbClr val="13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02920" y="5760720"/>
            <a:ext cx="64008" cy="5303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5760720"/>
            <a:ext cx="107899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F2F7FB"/>
                </a:solidFill>
                <a:latin typeface="Calibri"/>
              </a:rPr>
              <a:t>The model never runs anything. Your code does, and your code decides what is allowed.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-2926080"/>
            <a:ext cx="6858000" cy="6858000"/>
          </a:xfrm>
          <a:prstGeom prst="ellipse">
            <a:avLst/>
          </a:prstGeom>
          <a:gradFill rotWithShape="1">
            <a:gsLst>
              <a:gs pos="0">
                <a:srgbClr val="8B5CF6">
                  <a:alpha val="38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108960" y="3657600"/>
            <a:ext cx="6400800" cy="6400800"/>
          </a:xfrm>
          <a:prstGeom prst="ellipse">
            <a:avLst/>
          </a:prstGeom>
          <a:gradFill rotWithShape="1">
            <a:gsLst>
              <a:gs pos="0">
                <a:srgbClr val="22D3EE">
                  <a:alpha val="22000"/>
                </a:srgbClr>
              </a:gs>
              <a:gs pos="100000">
                <a:srgbClr val="22D3E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2D3EE"/>
                </a:solidFill>
                <a:latin typeface="Consolas"/>
              </a:rPr>
              <a:t>NOTEBOOK 1: WATCH IT CHOOSE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7488"/>
                </a:solidFill>
                <a:latin typeface="Consolas"/>
              </a:rPr>
              <a:t>AI for Coders &amp; Software Engineers  |  ENEC 2026  |  Synthetic training material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22D3EE"/>
                </a:solidFill>
                <a:latin typeface="Consolas"/>
              </a:rPr>
              <a:t>07</a:t>
            </a:r>
            <a:r>
              <a:rPr sz="1100">
                <a:solidFill>
                  <a:srgbClr val="5F7488"/>
                </a:solidFill>
                <a:latin typeface="Consolas"/>
              </a:rPr>
              <a:t>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2F7FB"/>
                </a:solidFill>
                <a:latin typeface="Calibri"/>
              </a:rPr>
              <a:t>Same agent, different questions, different tools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9FB4C8"/>
                </a:solidFill>
                <a:latin typeface="Calibri"/>
              </a:rPr>
              <a:t>Read the tool trace after every answer.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783080"/>
          <a:ext cx="11183112" cy="283464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6766560"/>
                <a:gridCol w="4416552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400" b="1" i="0" spc="100">
                          <a:solidFill>
                            <a:srgbClr val="22D3EE"/>
                          </a:solidFill>
                          <a:latin typeface="Consolas"/>
                        </a:rPr>
                        <a:t>Question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13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 spc="100">
                          <a:solidFill>
                            <a:srgbClr val="22D3EE"/>
                          </a:solidFill>
                          <a:latin typeface="Consolas"/>
                        </a:rPr>
                        <a:t>Tools it should choose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131C30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50" b="1" i="0">
                          <a:solidFill>
                            <a:srgbClr val="F2F7FB"/>
                          </a:solidFill>
                          <a:latin typeface="Calibri"/>
                        </a:rPr>
                        <a:t>What is the health score of A-001?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50" b="0" i="0">
                          <a:solidFill>
                            <a:srgbClr val="F2F7FB"/>
                          </a:solidFill>
                          <a:latin typeface="Calibri"/>
                        </a:rPr>
                        <a:t>sql_query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50" b="1" i="0">
                          <a:solidFill>
                            <a:srgbClr val="F2F7FB"/>
                          </a:solidFill>
                          <a:latin typeface="Calibri"/>
                        </a:rPr>
                        <a:t>Which procedure is currently approved?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50" b="0" i="0">
                          <a:solidFill>
                            <a:srgbClr val="F2F7FB"/>
                          </a:solidFill>
                          <a:latin typeface="Calibri"/>
                        </a:rPr>
                        <a:t>search_documents (approved only)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50" b="1" i="0">
                          <a:solidFill>
                            <a:srgbClr val="F2F7FB"/>
                          </a:solidFill>
                          <a:latin typeface="Calibri"/>
                        </a:rPr>
                        <a:t>What is the vibration outlook for next week?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50" b="0" i="0">
                          <a:solidFill>
                            <a:srgbClr val="F2F7FB"/>
                          </a:solidFill>
                          <a:latin typeface="Calibri"/>
                        </a:rPr>
                        <a:t>forecast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50" b="1" i="0">
                          <a:solidFill>
                            <a:srgbClr val="F2F7FB"/>
                          </a:solidFill>
                          <a:latin typeface="Calibri"/>
                        </a:rPr>
                        <a:t>What happened, what does the procedure say, what should a reviewer prepare?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50" b="0" i="0">
                          <a:solidFill>
                            <a:srgbClr val="F2F7FB"/>
                          </a:solidFill>
                          <a:latin typeface="Calibri"/>
                        </a:rPr>
                        <a:t>sql_query + search_documents + forecast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02920" y="4892040"/>
            <a:ext cx="11183112" cy="1051560"/>
          </a:xfrm>
          <a:prstGeom prst="roundRect">
            <a:avLst>
              <a:gd name="adj" fmla="val 10434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020055"/>
            <a:ext cx="54864" cy="3840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5020055"/>
            <a:ext cx="108173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Check the trace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5550407"/>
            <a:ext cx="10799064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0" i="0">
                <a:solidFill>
                  <a:srgbClr val="9FB4C8"/>
                </a:solidFill>
                <a:latin typeface="Calibri"/>
              </a:rPr>
              <a:t>Right tool? Right arguments? Did it stop? Did it cite the sources it used?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-2926080"/>
            <a:ext cx="6858000" cy="6858000"/>
          </a:xfrm>
          <a:prstGeom prst="ellipse">
            <a:avLst/>
          </a:prstGeom>
          <a:gradFill rotWithShape="1">
            <a:gsLst>
              <a:gs pos="0">
                <a:srgbClr val="8B5CF6">
                  <a:alpha val="38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108960" y="3657600"/>
            <a:ext cx="6400800" cy="6400800"/>
          </a:xfrm>
          <a:prstGeom prst="ellipse">
            <a:avLst/>
          </a:prstGeom>
          <a:gradFill rotWithShape="1">
            <a:gsLst>
              <a:gs pos="0">
                <a:srgbClr val="22D3EE">
                  <a:alpha val="22000"/>
                </a:srgbClr>
              </a:gs>
              <a:gs pos="100000">
                <a:srgbClr val="22D3E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2D3EE"/>
                </a:solidFill>
                <a:latin typeface="Consolas"/>
              </a:rPr>
              <a:t>TOOL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7488"/>
                </a:solidFill>
                <a:latin typeface="Consolas"/>
              </a:rPr>
              <a:t>AI for Coders &amp; Software Engineers  |  ENEC 2026  |  Synthetic training material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22D3EE"/>
                </a:solidFill>
                <a:latin typeface="Consolas"/>
              </a:rPr>
              <a:t>08</a:t>
            </a:r>
            <a:r>
              <a:rPr sz="1100">
                <a:solidFill>
                  <a:srgbClr val="5F7488"/>
                </a:solidFill>
                <a:latin typeface="Consolas"/>
              </a:rPr>
              <a:t>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2F7FB"/>
                </a:solidFill>
                <a:latin typeface="Calibri"/>
              </a:rPr>
              <a:t>Every tool has a contract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9FB4C8"/>
                </a:solidFill>
                <a:latin typeface="Calibri"/>
              </a:rPr>
              <a:t>Capability and authority are defined before the first call.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83080"/>
            <a:ext cx="5486400" cy="3749039"/>
          </a:xfrm>
          <a:prstGeom prst="roundRect">
            <a:avLst>
              <a:gd name="adj" fmla="val 2926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911095"/>
            <a:ext cx="54864" cy="3840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11095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Tool contract checklist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441448"/>
            <a:ext cx="5102352" cy="2999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22D3EE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Allowed input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22D3EE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Allowed data and document scope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22D3EE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Expected output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22D3EE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Failure behaviour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22D3EE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Authority boundary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22D3EE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Audit fields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783080"/>
            <a:ext cx="5486400" cy="3749039"/>
          </a:xfrm>
          <a:prstGeom prst="roundRect">
            <a:avLst>
              <a:gd name="adj" fmla="val 1951"/>
            </a:avLst>
          </a:prstGeom>
          <a:solidFill>
            <a:srgbClr val="050810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1874519"/>
            <a:ext cx="5120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120">
                <a:solidFill>
                  <a:srgbClr val="22D3EE"/>
                </a:solidFill>
                <a:latin typeface="Consolas"/>
              </a:rPr>
              <a:t>EXAMPLE: THE SQL TOOL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130552"/>
            <a:ext cx="5084064" cy="3383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D6E4F0"/>
                </a:solidFill>
                <a:latin typeface="Consolas"/>
              </a:rPr>
              <a:t>sql_query(query)</a:t>
            </a:r>
          </a:p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D6E4F0"/>
                </a:solidFill>
                <a:latin typeface="Consolas"/>
              </a:rPr>
              <a:t>  scope   : read-only, A-001 tables</a:t>
            </a:r>
          </a:p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D6E4F0"/>
                </a:solidFill>
                <a:latin typeface="Consolas"/>
              </a:rPr>
              <a:t>  guard   : single SELECT only</a:t>
            </a:r>
          </a:p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D6E4F0"/>
                </a:solidFill>
                <a:latin typeface="Consolas"/>
              </a:rPr>
              <a:t>  returns : rows as JSON</a:t>
            </a:r>
          </a:p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D6E4F0"/>
                </a:solidFill>
                <a:latin typeface="Consolas"/>
              </a:rPr>
              <a:t>  on_fail : error text, never invented</a:t>
            </a:r>
          </a:p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D6E4F0"/>
                </a:solidFill>
                <a:latin typeface="Consolas"/>
              </a:rPr>
              <a:t>            facts</a:t>
            </a:r>
          </a:p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D6E4F0"/>
                </a:solidFill>
                <a:latin typeface="Consolas"/>
              </a:rPr>
              <a:t>  boundary: no writes, no actions</a:t>
            </a:r>
          </a:p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D6E4F0"/>
                </a:solidFill>
                <a:latin typeface="Consolas"/>
              </a:rPr>
              <a:t>  audit   : tool, args, time, summary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5760720"/>
            <a:ext cx="11183112" cy="530352"/>
          </a:xfrm>
          <a:prstGeom prst="roundRect">
            <a:avLst>
              <a:gd name="adj" fmla="val 17241"/>
            </a:avLst>
          </a:prstGeom>
          <a:solidFill>
            <a:srgbClr val="13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5760720"/>
            <a:ext cx="64008" cy="5303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760720"/>
            <a:ext cx="107899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F2F7FB"/>
                </a:solidFill>
                <a:latin typeface="Calibri"/>
              </a:rPr>
              <a:t>The orchestrator may choose a tool. It may not expand the tool's permissions.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-2926080"/>
            <a:ext cx="6858000" cy="6858000"/>
          </a:xfrm>
          <a:prstGeom prst="ellipse">
            <a:avLst/>
          </a:prstGeom>
          <a:gradFill rotWithShape="1">
            <a:gsLst>
              <a:gs pos="0">
                <a:srgbClr val="8B5CF6">
                  <a:alpha val="38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108960" y="3657600"/>
            <a:ext cx="6400800" cy="6400800"/>
          </a:xfrm>
          <a:prstGeom prst="ellipse">
            <a:avLst/>
          </a:prstGeom>
          <a:gradFill rotWithShape="1">
            <a:gsLst>
              <a:gs pos="0">
                <a:srgbClr val="22D3EE">
                  <a:alpha val="22000"/>
                </a:srgbClr>
              </a:gs>
              <a:gs pos="100000">
                <a:srgbClr val="22D3E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2D3EE"/>
                </a:solidFill>
                <a:latin typeface="Consolas"/>
              </a:rPr>
              <a:t>NOTEBOOK 1: ERRORS AND GUARDRAILS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7488"/>
                </a:solidFill>
                <a:latin typeface="Consolas"/>
              </a:rPr>
              <a:t>AI for Coders &amp; Software Engineers  |  ENEC 2026  |  Synthetic training material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22D3EE"/>
                </a:solidFill>
                <a:latin typeface="Consolas"/>
              </a:rPr>
              <a:t>09</a:t>
            </a:r>
            <a:r>
              <a:rPr sz="1100">
                <a:solidFill>
                  <a:srgbClr val="5F7488"/>
                </a:solidFill>
                <a:latin typeface="Consolas"/>
              </a:rPr>
              <a:t>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2F7FB"/>
                </a:solidFill>
                <a:latin typeface="Calibri"/>
              </a:rPr>
              <a:t>What happens when it goes wrong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9FB4C8"/>
                </a:solidFill>
                <a:latin typeface="Calibri"/>
              </a:rPr>
              <a:t>Plan for failure before you demo success.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83080"/>
            <a:ext cx="3611880" cy="3474720"/>
          </a:xfrm>
          <a:prstGeom prst="roundRect">
            <a:avLst>
              <a:gd name="adj" fmla="val 3157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911095"/>
            <a:ext cx="54864" cy="384048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11095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Bad SQL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441448"/>
            <a:ext cx="3227832" cy="2724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F87171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The guard rejects it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F87171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The error goes back to the model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F87171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The model may correct itself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88536" y="1783080"/>
            <a:ext cx="3611880" cy="3474720"/>
          </a:xfrm>
          <a:prstGeom prst="roundRect">
            <a:avLst>
              <a:gd name="adj" fmla="val 3157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88536" y="1911095"/>
            <a:ext cx="54864" cy="38404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9704" y="1911095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Unknown tool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9704" y="2441448"/>
            <a:ext cx="3227832" cy="2724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F5A623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Refused by your code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F5A623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Reported in the trace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F5A623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Never run silently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74152" y="1783080"/>
            <a:ext cx="3611880" cy="3474720"/>
          </a:xfrm>
          <a:prstGeom prst="roundRect">
            <a:avLst>
              <a:gd name="adj" fmla="val 3157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74152" y="1911095"/>
            <a:ext cx="54864" cy="38404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20" y="1911095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Endless loop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2441448"/>
            <a:ext cx="3227832" cy="2724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8B5CF6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A step limit stops it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8B5CF6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The run ends with a clear note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8B5CF6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Cost stays bounded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5486400"/>
            <a:ext cx="11183112" cy="530352"/>
          </a:xfrm>
          <a:prstGeom prst="roundRect">
            <a:avLst>
              <a:gd name="adj" fmla="val 17241"/>
            </a:avLst>
          </a:prstGeom>
          <a:solidFill>
            <a:srgbClr val="13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5486400"/>
            <a:ext cx="64008" cy="5303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486400"/>
            <a:ext cx="107899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F2F7FB"/>
                </a:solidFill>
                <a:latin typeface="Calibri"/>
              </a:rPr>
              <a:t>A smarter planner does not justify weaker controls.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-2926080"/>
            <a:ext cx="6858000" cy="6858000"/>
          </a:xfrm>
          <a:prstGeom prst="ellipse">
            <a:avLst/>
          </a:prstGeom>
          <a:gradFill rotWithShape="1">
            <a:gsLst>
              <a:gs pos="0">
                <a:srgbClr val="8B5CF6">
                  <a:alpha val="38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108960" y="3657600"/>
            <a:ext cx="6400800" cy="6400800"/>
          </a:xfrm>
          <a:prstGeom prst="ellipse">
            <a:avLst/>
          </a:prstGeom>
          <a:gradFill rotWithShape="1">
            <a:gsLst>
              <a:gs pos="0">
                <a:srgbClr val="22D3EE">
                  <a:alpha val="22000"/>
                </a:srgbClr>
              </a:gs>
              <a:gs pos="100000">
                <a:srgbClr val="22D3E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2D3EE"/>
                </a:solidFill>
                <a:latin typeface="Consolas"/>
              </a:rPr>
              <a:t>MACHINE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7488"/>
                </a:solidFill>
                <a:latin typeface="Consolas"/>
              </a:rPr>
              <a:t>AI for Coders &amp; Software Engineers  |  ENEC 2026  |  Synthetic training material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22D3EE"/>
                </a:solidFill>
                <a:latin typeface="Consolas"/>
              </a:rPr>
              <a:t>10</a:t>
            </a:r>
            <a:r>
              <a:rPr sz="1100">
                <a:solidFill>
                  <a:srgbClr val="5F7488"/>
                </a:solidFill>
                <a:latin typeface="Consolas"/>
              </a:rPr>
              <a:t>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2F7FB"/>
                </a:solidFill>
                <a:latin typeface="Calibri"/>
              </a:rPr>
              <a:t>Machine learning as one more tool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9FB4C8"/>
                </a:solidFill>
                <a:latin typeface="Calibri"/>
              </a:rPr>
              <a:t>A language model reads. A small model scores numbers. Combine them.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83080"/>
            <a:ext cx="3657600" cy="3200400"/>
          </a:xfrm>
          <a:prstGeom prst="roundRect">
            <a:avLst>
              <a:gd name="adj" fmla="val 3428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911095"/>
            <a:ext cx="54864" cy="38404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11095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120">
                <a:solidFill>
                  <a:srgbClr val="8B5CF6"/>
                </a:solidFill>
                <a:latin typeface="Consolas"/>
              </a:rPr>
              <a:t>LANGUAGE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148839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LLM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2606039"/>
            <a:ext cx="3273552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8B5CF6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Reads and writes language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8B5CF6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Explains, summarises, chooses a tool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8B5CF6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Poor at scoring 23,000 rows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8B5CF6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Can sound sure when wrong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70248" y="1783080"/>
            <a:ext cx="3657600" cy="3200400"/>
          </a:xfrm>
          <a:prstGeom prst="roundRect">
            <a:avLst>
              <a:gd name="adj" fmla="val 3428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70248" y="1911095"/>
            <a:ext cx="54864" cy="3840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71416" y="1911095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120">
                <a:solidFill>
                  <a:srgbClr val="22D3EE"/>
                </a:solidFill>
                <a:latin typeface="Consolas"/>
              </a:rPr>
              <a:t>MACHINE LEARNING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71416" y="2148839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Decision tree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71416" y="2606039"/>
            <a:ext cx="3273552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22D3EE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Scores numeric rows fast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22D3EE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Repeatable and checkable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22D3EE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Readable yes/no rules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22D3EE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Cannot explain in words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28431" y="1783080"/>
            <a:ext cx="3657600" cy="3200400"/>
          </a:xfrm>
          <a:prstGeom prst="roundRect">
            <a:avLst>
              <a:gd name="adj" fmla="val 3428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28431" y="1911095"/>
            <a:ext cx="54864" cy="38404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1911095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120">
                <a:solidFill>
                  <a:srgbClr val="34D399"/>
                </a:solidFill>
                <a:latin typeface="Consolas"/>
              </a:rPr>
              <a:t>WORKFLOW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2148839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Agent + person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606039"/>
            <a:ext cx="3273552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34D399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Agent asks the tree when needed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34D399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Joins the flag to priority and documents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34D399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Queues a human review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34D399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A person decides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5303520"/>
            <a:ext cx="11183112" cy="530352"/>
          </a:xfrm>
          <a:prstGeom prst="roundRect">
            <a:avLst>
              <a:gd name="adj" fmla="val 17241"/>
            </a:avLst>
          </a:prstGeom>
          <a:solidFill>
            <a:srgbClr val="13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5303520"/>
            <a:ext cx="64008" cy="5303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303520"/>
            <a:ext cx="107899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F2F7FB"/>
                </a:solidFill>
                <a:latin typeface="Calibri"/>
              </a:rPr>
              <a:t>Features in, a score out, a reason you can read, and a person at the end.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-2926080"/>
            <a:ext cx="6858000" cy="6858000"/>
          </a:xfrm>
          <a:prstGeom prst="ellipse">
            <a:avLst/>
          </a:prstGeom>
          <a:gradFill rotWithShape="1">
            <a:gsLst>
              <a:gs pos="0">
                <a:srgbClr val="8B5CF6">
                  <a:alpha val="38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108960" y="3657600"/>
            <a:ext cx="6400800" cy="6400800"/>
          </a:xfrm>
          <a:prstGeom prst="ellipse">
            <a:avLst/>
          </a:prstGeom>
          <a:gradFill rotWithShape="1">
            <a:gsLst>
              <a:gs pos="0">
                <a:srgbClr val="22D3EE">
                  <a:alpha val="22000"/>
                </a:srgbClr>
              </a:gs>
              <a:gs pos="100000">
                <a:srgbClr val="22D3E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2D3EE"/>
                </a:solidFill>
                <a:latin typeface="Consolas"/>
              </a:rPr>
              <a:t>MACHINE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7488"/>
                </a:solidFill>
                <a:latin typeface="Consolas"/>
              </a:rPr>
              <a:t>AI for Coders &amp; Software Engineers  |  ENEC 2026  |  Synthetic training material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22D3EE"/>
                </a:solidFill>
                <a:latin typeface="Consolas"/>
              </a:rPr>
              <a:t>11</a:t>
            </a:r>
            <a:r>
              <a:rPr sz="1100">
                <a:solidFill>
                  <a:srgbClr val="5F7488"/>
                </a:solidFill>
                <a:latin typeface="Consolas"/>
              </a:rPr>
              <a:t>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2F7FB"/>
                </a:solidFill>
                <a:latin typeface="Calibri"/>
              </a:rPr>
              <a:t>From raw logs to a flag an analyst can read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9FB4C8"/>
                </a:solidFill>
                <a:latin typeface="Calibri"/>
              </a:rPr>
              <a:t>Notebook Day3_02: train, judge honestly, then hand it to an agent.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83080"/>
            <a:ext cx="1673352" cy="1280160"/>
          </a:xfrm>
          <a:prstGeom prst="roundRect">
            <a:avLst>
              <a:gd name="adj" fmla="val 7142"/>
            </a:avLst>
          </a:prstGeom>
          <a:solidFill>
            <a:srgbClr val="0F1626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874519"/>
            <a:ext cx="14904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F2F7FB"/>
                </a:solidFill>
                <a:latin typeface="Calibri"/>
              </a:rPr>
              <a:t>Raw logs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295144"/>
            <a:ext cx="1490472" cy="731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0" i="0">
                <a:solidFill>
                  <a:srgbClr val="9FB4C8"/>
                </a:solidFill>
                <a:latin typeface="Calibri"/>
              </a:rPr>
              <a:t>logins, flows,</a:t>
            </a:r>
          </a:p>
          <a:p>
            <a:pPr algn="ctr"/>
            <a:r>
              <a:rPr sz="1250" b="0" i="0">
                <a:solidFill>
                  <a:srgbClr val="9FB4C8"/>
                </a:solidFill>
                <a:latin typeface="Calibri"/>
              </a:rPr>
              <a:t>commands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194560" y="2304288"/>
            <a:ext cx="192024" cy="237744"/>
          </a:xfrm>
          <a:prstGeom prst="rightArrow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404872" y="1783080"/>
            <a:ext cx="1673352" cy="1280160"/>
          </a:xfrm>
          <a:prstGeom prst="roundRect">
            <a:avLst>
              <a:gd name="adj" fmla="val 7142"/>
            </a:avLst>
          </a:prstGeom>
          <a:solidFill>
            <a:srgbClr val="0F1626"/>
          </a:solidFill>
          <a:ln w="15875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96312" y="1874519"/>
            <a:ext cx="14904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F2F7FB"/>
                </a:solidFill>
                <a:latin typeface="Calibri"/>
              </a:rPr>
              <a:t>15-min windows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96312" y="2478024"/>
            <a:ext cx="1490472" cy="731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0" i="0">
                <a:solidFill>
                  <a:srgbClr val="9FB4C8"/>
                </a:solidFill>
                <a:latin typeface="Calibri"/>
              </a:rPr>
              <a:t>one row per asset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096511" y="2304288"/>
            <a:ext cx="192024" cy="237744"/>
          </a:xfrm>
          <a:prstGeom prst="rightArrow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06824" y="1783080"/>
            <a:ext cx="1673352" cy="1280160"/>
          </a:xfrm>
          <a:prstGeom prst="roundRect">
            <a:avLst>
              <a:gd name="adj" fmla="val 7142"/>
            </a:avLst>
          </a:prstGeom>
          <a:solidFill>
            <a:srgbClr val="0F1626"/>
          </a:solidFill>
          <a:ln w="15875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98264" y="1874519"/>
            <a:ext cx="14904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F2F7FB"/>
                </a:solidFill>
                <a:latin typeface="Calibri"/>
              </a:rPr>
              <a:t>16 features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98264" y="2295144"/>
            <a:ext cx="1490472" cy="731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0" i="0">
                <a:solidFill>
                  <a:srgbClr val="9FB4C8"/>
                </a:solidFill>
                <a:latin typeface="Calibri"/>
              </a:rPr>
              <a:t>counts, ratios,</a:t>
            </a:r>
          </a:p>
          <a:p>
            <a:pPr algn="ctr"/>
            <a:r>
              <a:rPr sz="1250" b="0" i="0">
                <a:solidFill>
                  <a:srgbClr val="9FB4C8"/>
                </a:solidFill>
                <a:latin typeface="Calibri"/>
              </a:rPr>
              <a:t>flags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998464" y="2304288"/>
            <a:ext cx="192024" cy="237744"/>
          </a:xfrm>
          <a:prstGeom prst="rightArrow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08776" y="1783080"/>
            <a:ext cx="1673352" cy="1280160"/>
          </a:xfrm>
          <a:prstGeom prst="roundRect">
            <a:avLst>
              <a:gd name="adj" fmla="val 7142"/>
            </a:avLst>
          </a:prstGeom>
          <a:solidFill>
            <a:srgbClr val="0F1626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0216" y="1874519"/>
            <a:ext cx="14904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F2F7FB"/>
                </a:solidFill>
                <a:latin typeface="Calibri"/>
              </a:rPr>
              <a:t>Decision tree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0216" y="2295144"/>
            <a:ext cx="1490472" cy="731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0" i="0">
                <a:solidFill>
                  <a:srgbClr val="9FB4C8"/>
                </a:solidFill>
                <a:latin typeface="Calibri"/>
              </a:rPr>
              <a:t>readable rules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900416" y="2304288"/>
            <a:ext cx="192024" cy="237744"/>
          </a:xfrm>
          <a:prstGeom prst="rightArrow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110728" y="1783080"/>
            <a:ext cx="1673352" cy="1280160"/>
          </a:xfrm>
          <a:prstGeom prst="roundRect">
            <a:avLst>
              <a:gd name="adj" fmla="val 7142"/>
            </a:avLst>
          </a:prstGeom>
          <a:solidFill>
            <a:srgbClr val="0F1626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02168" y="1874519"/>
            <a:ext cx="14904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F2F7FB"/>
                </a:solidFill>
                <a:latin typeface="Calibri"/>
              </a:rPr>
              <a:t>Agent tool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02168" y="2295144"/>
            <a:ext cx="1490472" cy="731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0" i="0">
                <a:solidFill>
                  <a:srgbClr val="9FB4C8"/>
                </a:solidFill>
                <a:latin typeface="Calibri"/>
              </a:rPr>
              <a:t>read-only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9802368" y="2304288"/>
            <a:ext cx="192024" cy="237744"/>
          </a:xfrm>
          <a:prstGeom prst="rightArrow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0012680" y="1783080"/>
            <a:ext cx="1673352" cy="1280160"/>
          </a:xfrm>
          <a:prstGeom prst="roundRect">
            <a:avLst>
              <a:gd name="adj" fmla="val 7142"/>
            </a:avLst>
          </a:prstGeom>
          <a:solidFill>
            <a:srgbClr val="0F1626"/>
          </a:solidFill>
          <a:ln w="15875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04120" y="1874519"/>
            <a:ext cx="14904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F2F7FB"/>
                </a:solidFill>
                <a:latin typeface="Calibri"/>
              </a:rPr>
              <a:t>Analyst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04120" y="2295144"/>
            <a:ext cx="1490472" cy="731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0" i="0">
                <a:solidFill>
                  <a:srgbClr val="9FB4C8"/>
                </a:solidFill>
                <a:latin typeface="Calibri"/>
              </a:rPr>
              <a:t>decides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3383280"/>
            <a:ext cx="5486400" cy="2103120"/>
          </a:xfrm>
          <a:prstGeom prst="roundRect">
            <a:avLst>
              <a:gd name="adj" fmla="val 5217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02920" y="3511296"/>
            <a:ext cx="54864" cy="384048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4088" y="3511296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The accuracy trap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8" y="4041648"/>
            <a:ext cx="5102352" cy="1353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10" b="1" i="0">
                <a:solidFill>
                  <a:srgbClr val="F87171"/>
                </a:solidFill>
                <a:latin typeface="Calibri"/>
              </a:rPr>
              <a:t>•  </a:t>
            </a:r>
            <a:r>
              <a:rPr sz="1710" b="0" i="0">
                <a:solidFill>
                  <a:srgbClr val="9FB4C8"/>
                </a:solidFill>
                <a:latin typeface="Calibri"/>
              </a:rPr>
              <a:t>About 98% of windows are normal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10" b="1" i="0">
                <a:solidFill>
                  <a:srgbClr val="F87171"/>
                </a:solidFill>
                <a:latin typeface="Calibri"/>
              </a:rPr>
              <a:t>•  </a:t>
            </a:r>
            <a:r>
              <a:rPr sz="1710" b="0" i="0">
                <a:solidFill>
                  <a:srgbClr val="9FB4C8"/>
                </a:solidFill>
                <a:latin typeface="Calibri"/>
              </a:rPr>
              <a:t>Always saying normal scores about 98%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10" b="1" i="0">
                <a:solidFill>
                  <a:srgbClr val="F87171"/>
                </a:solidFill>
                <a:latin typeface="Calibri"/>
              </a:rPr>
              <a:t>•  </a:t>
            </a:r>
            <a:r>
              <a:rPr sz="1710" b="0" i="0">
                <a:solidFill>
                  <a:srgbClr val="9FB4C8"/>
                </a:solidFill>
                <a:latin typeface="Calibri"/>
              </a:rPr>
              <a:t>Judge by recall and precision on attacks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99632" y="3383280"/>
            <a:ext cx="5486400" cy="2103120"/>
          </a:xfrm>
          <a:prstGeom prst="roundRect">
            <a:avLst>
              <a:gd name="adj" fmla="val 5217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99632" y="3511296"/>
            <a:ext cx="54864" cy="38404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3511296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Honest evaluation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4041648"/>
            <a:ext cx="5102352" cy="1353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10" b="1" i="0">
                <a:solidFill>
                  <a:srgbClr val="34D399"/>
                </a:solidFill>
                <a:latin typeface="Calibri"/>
              </a:rPr>
              <a:t>•  </a:t>
            </a:r>
            <a:r>
              <a:rPr sz="1710" b="0" i="0">
                <a:solidFill>
                  <a:srgbClr val="9FB4C8"/>
                </a:solidFill>
                <a:latin typeface="Calibri"/>
              </a:rPr>
              <a:t>Split by time: train 21 days, test the last 9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10" b="1" i="0">
                <a:solidFill>
                  <a:srgbClr val="34D399"/>
                </a:solidFill>
                <a:latin typeface="Calibri"/>
              </a:rPr>
              <a:t>•  </a:t>
            </a:r>
            <a:r>
              <a:rPr sz="1710" b="0" i="0">
                <a:solidFill>
                  <a:srgbClr val="9FB4C8"/>
                </a:solidFill>
                <a:latin typeface="Calibri"/>
              </a:rPr>
              <a:t>Depth 5: recall 0.95, precision 0.78 on unseen days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10" b="1" i="0">
                <a:solidFill>
                  <a:srgbClr val="34D399"/>
                </a:solidFill>
                <a:latin typeface="Calibri"/>
              </a:rPr>
              <a:t>•  </a:t>
            </a:r>
            <a:r>
              <a:rPr sz="1710" b="0" i="0">
                <a:solidFill>
                  <a:srgbClr val="9FB4C8"/>
                </a:solidFill>
                <a:latin typeface="Calibri"/>
              </a:rPr>
              <a:t>Check which attack types it misses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2920" y="5760720"/>
            <a:ext cx="11183112" cy="530352"/>
          </a:xfrm>
          <a:prstGeom prst="roundRect">
            <a:avLst>
              <a:gd name="adj" fmla="val 17241"/>
            </a:avLst>
          </a:prstGeom>
          <a:solidFill>
            <a:srgbClr val="13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02920" y="5760720"/>
            <a:ext cx="64008" cy="53035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7240" y="5760720"/>
            <a:ext cx="107899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F2F7FB"/>
                </a:solidFill>
                <a:latin typeface="Calibri"/>
              </a:rPr>
              <a:t>The tree flags. It does not block traffic, isolate an asset or close an incident.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-2926080"/>
            <a:ext cx="6858000" cy="6858000"/>
          </a:xfrm>
          <a:prstGeom prst="ellipse">
            <a:avLst/>
          </a:prstGeom>
          <a:gradFill rotWithShape="1">
            <a:gsLst>
              <a:gs pos="0">
                <a:srgbClr val="8B5CF6">
                  <a:alpha val="38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108960" y="3657600"/>
            <a:ext cx="6400800" cy="6400800"/>
          </a:xfrm>
          <a:prstGeom prst="ellipse">
            <a:avLst/>
          </a:prstGeom>
          <a:gradFill rotWithShape="1">
            <a:gsLst>
              <a:gs pos="0">
                <a:srgbClr val="22D3EE">
                  <a:alpha val="22000"/>
                </a:srgbClr>
              </a:gs>
              <a:gs pos="100000">
                <a:srgbClr val="22D3E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2D3EE"/>
                </a:solidFill>
                <a:latin typeface="Consolas"/>
              </a:rPr>
              <a:t>MACHINE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7488"/>
                </a:solidFill>
                <a:latin typeface="Consolas"/>
              </a:rPr>
              <a:t>AI for Coders &amp; Software Engineers  |  ENEC 2026  |  Synthetic training material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22D3EE"/>
                </a:solidFill>
                <a:latin typeface="Consolas"/>
              </a:rPr>
              <a:t>12</a:t>
            </a:r>
            <a:r>
              <a:rPr sz="1100">
                <a:solidFill>
                  <a:srgbClr val="5F7488"/>
                </a:solidFill>
                <a:latin typeface="Consolas"/>
              </a:rPr>
              <a:t>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2F7FB"/>
                </a:solidFill>
                <a:latin typeface="Calibri"/>
              </a:rPr>
              <a:t>Give the model to the agent, with limits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9FB4C8"/>
                </a:solidFill>
                <a:latin typeface="Calibri"/>
              </a:rPr>
              <a:t>Same pattern as every tool: a function, a description and a boundary.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783080"/>
          <a:ext cx="11183112" cy="237744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926080"/>
                <a:gridCol w="5577840"/>
                <a:gridCol w="2679192"/>
              </a:tblGrid>
              <a:tr h="594360">
                <a:tc>
                  <a:txBody>
                    <a:bodyPr wrap="square"/>
                    <a:lstStyle/>
                    <a:p>
                      <a:r>
                        <a:rPr sz="1400" b="1" i="0" spc="100">
                          <a:solidFill>
                            <a:srgbClr val="22D3EE"/>
                          </a:solidFill>
                          <a:latin typeface="Consolas"/>
                        </a:rPr>
                        <a:t>Tool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13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 spc="100">
                          <a:solidFill>
                            <a:srgbClr val="22D3EE"/>
                          </a:solidFill>
                          <a:latin typeface="Consolas"/>
                        </a:rPr>
                        <a:t>What it does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13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 spc="100">
                          <a:solidFill>
                            <a:srgbClr val="22D3EE"/>
                          </a:solidFill>
                          <a:latin typeface="Consolas"/>
                        </a:rPr>
                        <a:t>Can it change anything?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131C30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r>
                        <a:rPr sz="1550" b="1" i="0">
                          <a:solidFill>
                            <a:srgbClr val="F2F7FB"/>
                          </a:solidFill>
                          <a:latin typeface="Calibri"/>
                        </a:rPr>
                        <a:t>list_flagged_assets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50" b="0" i="0">
                          <a:solidFill>
                            <a:srgbClr val="F2F7FB"/>
                          </a:solidFill>
                          <a:latin typeface="Calibri"/>
                        </a:rPr>
                        <a:t>Flagged assets in the last N days with criticality and priority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50" b="0" i="0">
                          <a:solidFill>
                            <a:srgbClr val="F2F7FB"/>
                          </a:solidFill>
                          <a:latin typeface="Calibri"/>
                        </a:rPr>
                        <a:t>No, read-only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r>
                        <a:rPr sz="1550" b="1" i="0">
                          <a:solidFill>
                            <a:srgbClr val="F2F7FB"/>
                          </a:solidFill>
                          <a:latin typeface="Calibri"/>
                        </a:rPr>
                        <a:t>score_asset_windows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50" b="0" i="0">
                          <a:solidFill>
                            <a:srgbClr val="F2F7FB"/>
                          </a:solidFill>
                          <a:latin typeface="Calibri"/>
                        </a:rPr>
                        <a:t>Flagged windows for one asset with the rule path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50" b="0" i="0">
                          <a:solidFill>
                            <a:srgbClr val="F2F7FB"/>
                          </a:solidFill>
                          <a:latin typeface="Calibri"/>
                        </a:rPr>
                        <a:t>No, read-only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r>
                        <a:rPr sz="1550" b="1" i="0">
                          <a:solidFill>
                            <a:srgbClr val="F2F7FB"/>
                          </a:solidFill>
                          <a:latin typeface="Calibri"/>
                        </a:rPr>
                        <a:t>request_human_review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50" b="0" i="0">
                          <a:solidFill>
                            <a:srgbClr val="F2F7FB"/>
                          </a:solidFill>
                          <a:latin typeface="Calibri"/>
                        </a:rPr>
                        <a:t>Adds a request to a review queue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50" b="0" i="0">
                          <a:solidFill>
                            <a:srgbClr val="F2F7FB"/>
                          </a:solidFill>
                          <a:latin typeface="Calibri"/>
                        </a:rPr>
                        <a:t>Records a request only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02920" y="4389120"/>
            <a:ext cx="5486400" cy="1234440"/>
          </a:xfrm>
          <a:prstGeom prst="roundRect">
            <a:avLst>
              <a:gd name="adj" fmla="val 8888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4517136"/>
            <a:ext cx="54864" cy="38404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4517136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Guards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5047488"/>
            <a:ext cx="5102352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0" i="0">
                <a:solidFill>
                  <a:srgbClr val="9FB4C8"/>
                </a:solidFill>
                <a:latin typeface="Calibri"/>
              </a:rPr>
              <a:t>Inputs clipped, step limit, system prompt forbids acting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4389120"/>
            <a:ext cx="5486400" cy="1234440"/>
          </a:xfrm>
          <a:prstGeom prst="roundRect">
            <a:avLst>
              <a:gd name="adj" fmla="val 8888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4517136"/>
            <a:ext cx="54864" cy="3840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4517136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Check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5047488"/>
            <a:ext cx="5102352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0" i="0">
                <a:solidFill>
                  <a:srgbClr val="9FB4C8"/>
                </a:solidFill>
                <a:latin typeface="Calibri"/>
              </a:rPr>
              <a:t>Run the tool by hand first. If the agent disagrees, the agent is wrong.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5806440"/>
            <a:ext cx="11183112" cy="530352"/>
          </a:xfrm>
          <a:prstGeom prst="roundRect">
            <a:avLst>
              <a:gd name="adj" fmla="val 17241"/>
            </a:avLst>
          </a:prstGeom>
          <a:solidFill>
            <a:srgbClr val="13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5806440"/>
            <a:ext cx="64008" cy="5303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806440"/>
            <a:ext cx="107899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F2F7FB"/>
                </a:solidFill>
                <a:latin typeface="Calibri"/>
              </a:rPr>
              <a:t>Also shown as a LlamaIndex FunctionTool: same idea, different framework.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-2926080"/>
            <a:ext cx="6858000" cy="6858000"/>
          </a:xfrm>
          <a:prstGeom prst="ellipse">
            <a:avLst/>
          </a:prstGeom>
          <a:gradFill rotWithShape="1">
            <a:gsLst>
              <a:gs pos="0">
                <a:srgbClr val="8B5CF6">
                  <a:alpha val="38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108960" y="3657600"/>
            <a:ext cx="6400800" cy="6400800"/>
          </a:xfrm>
          <a:prstGeom prst="ellipse">
            <a:avLst/>
          </a:prstGeom>
          <a:gradFill rotWithShape="1">
            <a:gsLst>
              <a:gs pos="0">
                <a:srgbClr val="22D3EE">
                  <a:alpha val="22000"/>
                </a:srgbClr>
              </a:gs>
              <a:gs pos="100000">
                <a:srgbClr val="22D3E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2D3EE"/>
                </a:solidFill>
                <a:latin typeface="Consolas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7488"/>
                </a:solidFill>
                <a:latin typeface="Consolas"/>
              </a:rPr>
              <a:t>AI for Coders &amp; Software Engineers  |  ENEC 2026  |  Synthetic training material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22D3EE"/>
                </a:solidFill>
                <a:latin typeface="Consolas"/>
              </a:rPr>
              <a:t>13</a:t>
            </a:r>
            <a:r>
              <a:rPr sz="1100">
                <a:solidFill>
                  <a:srgbClr val="5F7488"/>
                </a:solidFill>
                <a:latin typeface="Consolas"/>
              </a:rPr>
              <a:t>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2F7FB"/>
                </a:solidFill>
                <a:latin typeface="Calibri"/>
              </a:rPr>
              <a:t>Tools, skills, knowledge, memory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9FB4C8"/>
                </a:solidFill>
                <a:latin typeface="Calibri"/>
              </a:rPr>
              <a:t>Layers people constantly blur. Keep them separate.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737360"/>
          <a:ext cx="11183112" cy="352044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651760"/>
                <a:gridCol w="4023360"/>
                <a:gridCol w="4507992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400" b="1" i="0" spc="100">
                          <a:solidFill>
                            <a:srgbClr val="22D3EE"/>
                          </a:solidFill>
                          <a:latin typeface="Consolas"/>
                        </a:rPr>
                        <a:t>Layer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13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 spc="100">
                          <a:solidFill>
                            <a:srgbClr val="22D3EE"/>
                          </a:solidFill>
                          <a:latin typeface="Consolas"/>
                        </a:rPr>
                        <a:t>Meaning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13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 spc="100">
                          <a:solidFill>
                            <a:srgbClr val="22D3EE"/>
                          </a:solidFill>
                          <a:latin typeface="Consolas"/>
                        </a:rPr>
                        <a:t>A-001 example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131C30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550" b="1" i="0">
                          <a:solidFill>
                            <a:srgbClr val="F2F7FB"/>
                          </a:solidFill>
                          <a:latin typeface="Calibri"/>
                        </a:rPr>
                        <a:t>Tool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50" b="0" i="0">
                          <a:solidFill>
                            <a:srgbClr val="F2F7FB"/>
                          </a:solidFill>
                          <a:latin typeface="Calibri"/>
                        </a:rPr>
                        <a:t>What the application can call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50" b="0" i="0">
                          <a:solidFill>
                            <a:srgbClr val="F2F7FB"/>
                          </a:solidFill>
                          <a:latin typeface="Calibri"/>
                        </a:rPr>
                        <a:t>sql_query, search_documents, forecast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550" b="1" i="0">
                          <a:solidFill>
                            <a:srgbClr val="F2F7FB"/>
                          </a:solidFill>
                          <a:latin typeface="Calibri"/>
                        </a:rPr>
                        <a:t>Skill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50" b="0" i="0">
                          <a:solidFill>
                            <a:srgbClr val="F2F7FB"/>
                          </a:solidFill>
                          <a:latin typeface="Calibri"/>
                        </a:rPr>
                        <a:t>How a capability is performed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50" b="0" i="0">
                          <a:solidFill>
                            <a:srgbClr val="F2F7FB"/>
                          </a:solidFill>
                          <a:latin typeface="Calibri"/>
                        </a:rPr>
                        <a:t>asset_summary, approved_procedure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550" b="1" i="0">
                          <a:solidFill>
                            <a:srgbClr val="F2F7FB"/>
                          </a:solidFill>
                          <a:latin typeface="Calibri"/>
                        </a:rPr>
                        <a:t>Knowledge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50" b="0" i="0">
                          <a:solidFill>
                            <a:srgbClr val="F2F7FB"/>
                          </a:solidFill>
                          <a:latin typeface="Calibri"/>
                        </a:rPr>
                        <a:t>What evidence can be retrieved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50" b="0" i="0">
                          <a:solidFill>
                            <a:srgbClr val="F2F7FB"/>
                          </a:solidFill>
                          <a:latin typeface="Calibri"/>
                        </a:rPr>
                        <a:t>A-001 tables and nine documents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550" b="1" i="0">
                          <a:solidFill>
                            <a:srgbClr val="F2F7FB"/>
                          </a:solidFill>
                          <a:latin typeface="Calibri"/>
                        </a:rPr>
                        <a:t>Memory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50" b="0" i="0">
                          <a:solidFill>
                            <a:srgbClr val="F2F7FB"/>
                          </a:solidFill>
                          <a:latin typeface="Calibri"/>
                        </a:rPr>
                        <a:t>What context is intentionally retained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50" b="0" i="0">
                          <a:solidFill>
                            <a:srgbClr val="F2F7FB"/>
                          </a:solidFill>
                          <a:latin typeface="Calibri"/>
                        </a:rPr>
                        <a:t>Current asset, last skill, open gaps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550" b="1" i="0">
                          <a:solidFill>
                            <a:srgbClr val="F2F7FB"/>
                          </a:solidFill>
                          <a:latin typeface="Calibri"/>
                        </a:rPr>
                        <a:t>Progressive disclosure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50" b="0" i="0">
                          <a:solidFill>
                            <a:srgbClr val="F2F7FB"/>
                          </a:solidFill>
                          <a:latin typeface="Calibri"/>
                        </a:rPr>
                        <a:t>Load only what is needed now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50" b="0" i="0">
                          <a:solidFill>
                            <a:srgbClr val="F2F7FB"/>
                          </a:solidFill>
                          <a:latin typeface="Calibri"/>
                        </a:rPr>
                        <a:t>Read the catalog, then one skill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550" b="1" i="0">
                          <a:solidFill>
                            <a:srgbClr val="F2F7FB"/>
                          </a:solidFill>
                          <a:latin typeface="Calibri"/>
                        </a:rPr>
                        <a:t>Governance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50" b="0" i="0">
                          <a:solidFill>
                            <a:srgbClr val="F2F7FB"/>
                          </a:solidFill>
                          <a:latin typeface="Calibri"/>
                        </a:rPr>
                        <a:t>What the system may do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50" b="0" i="0">
                          <a:solidFill>
                            <a:srgbClr val="F2F7FB"/>
                          </a:solidFill>
                          <a:latin typeface="Calibri"/>
                        </a:rPr>
                        <a:t>Read evidence, draft, stop before approval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02920" y="5577840"/>
            <a:ext cx="11183112" cy="530352"/>
          </a:xfrm>
          <a:prstGeom prst="roundRect">
            <a:avLst>
              <a:gd name="adj" fmla="val 17241"/>
            </a:avLst>
          </a:prstGeom>
          <a:solidFill>
            <a:srgbClr val="13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577840"/>
            <a:ext cx="64008" cy="5303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577840"/>
            <a:ext cx="107899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F2F7FB"/>
                </a:solidFill>
                <a:latin typeface="Calibri"/>
              </a:rPr>
              <a:t>A tool without a skill is unguided. A skill without tool limits is unsafe. You need both, on purpose.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-2926080"/>
            <a:ext cx="6858000" cy="6858000"/>
          </a:xfrm>
          <a:prstGeom prst="ellipse">
            <a:avLst/>
          </a:prstGeom>
          <a:gradFill rotWithShape="1">
            <a:gsLst>
              <a:gs pos="0">
                <a:srgbClr val="8B5CF6">
                  <a:alpha val="38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108960" y="3657600"/>
            <a:ext cx="6400800" cy="6400800"/>
          </a:xfrm>
          <a:prstGeom prst="ellipse">
            <a:avLst/>
          </a:prstGeom>
          <a:gradFill rotWithShape="1">
            <a:gsLst>
              <a:gs pos="0">
                <a:srgbClr val="22D3EE">
                  <a:alpha val="22000"/>
                </a:srgbClr>
              </a:gs>
              <a:gs pos="100000">
                <a:srgbClr val="22D3E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2D3EE"/>
                </a:solidFill>
                <a:latin typeface="Consolas"/>
              </a:rPr>
              <a:t>NOTEBOOK 2: SKILLS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7488"/>
                </a:solidFill>
                <a:latin typeface="Consolas"/>
              </a:rPr>
              <a:t>AI for Coders &amp; Software Engineers  |  ENEC 2026  |  Synthetic training material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22D3EE"/>
                </a:solidFill>
                <a:latin typeface="Consolas"/>
              </a:rPr>
              <a:t>14</a:t>
            </a:r>
            <a:r>
              <a:rPr sz="1100">
                <a:solidFill>
                  <a:srgbClr val="5F7488"/>
                </a:solidFill>
                <a:latin typeface="Consolas"/>
              </a:rPr>
              <a:t>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2F7FB"/>
                </a:solidFill>
                <a:latin typeface="Calibri"/>
              </a:rPr>
              <a:t>The three teaching skills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9FB4C8"/>
                </a:solidFill>
                <a:latin typeface="Calibri"/>
              </a:rPr>
              <a:t>Small markdown files, each with a clear evidence scope.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83080"/>
            <a:ext cx="3611880" cy="3108960"/>
          </a:xfrm>
          <a:prstGeom prst="roundRect">
            <a:avLst>
              <a:gd name="adj" fmla="val 3529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911095"/>
            <a:ext cx="54864" cy="3840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11095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asset_summary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441448"/>
            <a:ext cx="3227832" cy="23591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90" b="1" i="0">
                <a:solidFill>
                  <a:srgbClr val="22D3EE"/>
                </a:solidFill>
                <a:latin typeface="Calibri"/>
              </a:rPr>
              <a:t>•  </a:t>
            </a:r>
            <a:r>
              <a:rPr sz="1590" b="0" i="0">
                <a:solidFill>
                  <a:srgbClr val="9FB4C8"/>
                </a:solidFill>
                <a:latin typeface="Calibri"/>
              </a:rPr>
              <a:t>Evidence: SQL only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90" b="1" i="0">
                <a:solidFill>
                  <a:srgbClr val="22D3EE"/>
                </a:solidFill>
                <a:latin typeface="Calibri"/>
              </a:rPr>
              <a:t>•  </a:t>
            </a:r>
            <a:r>
              <a:rPr sz="1590" b="0" i="0">
                <a:solidFill>
                  <a:srgbClr val="9FB4C8"/>
                </a:solidFill>
                <a:latin typeface="Calibri"/>
              </a:rPr>
              <a:t>Current structured facts about the asset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90" b="1" i="0">
                <a:solidFill>
                  <a:srgbClr val="22D3EE"/>
                </a:solidFill>
                <a:latin typeface="Calibri"/>
              </a:rPr>
              <a:t>•  </a:t>
            </a:r>
            <a:r>
              <a:rPr sz="1590" b="0" i="0">
                <a:solidFill>
                  <a:srgbClr val="9FB4C8"/>
                </a:solidFill>
                <a:latin typeface="Calibri"/>
              </a:rPr>
              <a:t>No documents, no interpretation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88536" y="1783080"/>
            <a:ext cx="3611880" cy="3108960"/>
          </a:xfrm>
          <a:prstGeom prst="roundRect">
            <a:avLst>
              <a:gd name="adj" fmla="val 3529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88536" y="1911095"/>
            <a:ext cx="54864" cy="38404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9704" y="1911095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approved_procedure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9704" y="2441448"/>
            <a:ext cx="3227832" cy="23591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90" b="1" i="0">
                <a:solidFill>
                  <a:srgbClr val="8B5CF6"/>
                </a:solidFill>
                <a:latin typeface="Calibri"/>
              </a:rPr>
              <a:t>•  </a:t>
            </a:r>
            <a:r>
              <a:rPr sz="1590" b="0" i="0">
                <a:solidFill>
                  <a:srgbClr val="9FB4C8"/>
                </a:solidFill>
                <a:latin typeface="Calibri"/>
              </a:rPr>
              <a:t>Evidence: documents only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90" b="1" i="0">
                <a:solidFill>
                  <a:srgbClr val="8B5CF6"/>
                </a:solidFill>
                <a:latin typeface="Calibri"/>
              </a:rPr>
              <a:t>•  </a:t>
            </a:r>
            <a:r>
              <a:rPr sz="1590" b="0" i="0">
                <a:solidFill>
                  <a:srgbClr val="9FB4C8"/>
                </a:solidFill>
                <a:latin typeface="Calibri"/>
              </a:rPr>
              <a:t>Identify the current approved guidance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90" b="1" i="0">
                <a:solidFill>
                  <a:srgbClr val="8B5CF6"/>
                </a:solidFill>
                <a:latin typeface="Calibri"/>
              </a:rPr>
              <a:t>•  </a:t>
            </a:r>
            <a:r>
              <a:rPr sz="1590" b="0" i="0">
                <a:solidFill>
                  <a:srgbClr val="9FB4C8"/>
                </a:solidFill>
                <a:latin typeface="Calibri"/>
              </a:rPr>
              <a:t>Drafts and superseded excluded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74152" y="1783080"/>
            <a:ext cx="3611880" cy="3108960"/>
          </a:xfrm>
          <a:prstGeom prst="roundRect">
            <a:avLst>
              <a:gd name="adj" fmla="val 3529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74152" y="1911095"/>
            <a:ext cx="54864" cy="38404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20" y="1911095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reliability_review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2441448"/>
            <a:ext cx="3227832" cy="23591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90" b="1" i="0">
                <a:solidFill>
                  <a:srgbClr val="F5A623"/>
                </a:solidFill>
                <a:latin typeface="Calibri"/>
              </a:rPr>
              <a:t>•  </a:t>
            </a:r>
            <a:r>
              <a:rPr sz="1590" b="0" i="0">
                <a:solidFill>
                  <a:srgbClr val="9FB4C8"/>
                </a:solidFill>
                <a:latin typeface="Calibri"/>
              </a:rPr>
              <a:t>Evidence: SQL + documents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90" b="1" i="0">
                <a:solidFill>
                  <a:srgbClr val="F5A623"/>
                </a:solidFill>
                <a:latin typeface="Calibri"/>
              </a:rPr>
              <a:t>•  </a:t>
            </a:r>
            <a:r>
              <a:rPr sz="1590" b="0" i="0">
                <a:solidFill>
                  <a:srgbClr val="9FB4C8"/>
                </a:solidFill>
                <a:latin typeface="Calibri"/>
              </a:rPr>
              <a:t>Prepare an evidence-backed briefing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90" b="1" i="0">
                <a:solidFill>
                  <a:srgbClr val="F5A623"/>
                </a:solidFill>
                <a:latin typeface="Calibri"/>
              </a:rPr>
              <a:t>•  </a:t>
            </a:r>
            <a:r>
              <a:rPr sz="1590" b="0" i="0">
                <a:solidFill>
                  <a:srgbClr val="9FB4C8"/>
                </a:solidFill>
                <a:latin typeface="Calibri"/>
              </a:rPr>
              <a:t>Drafts it; never approves it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5257800"/>
            <a:ext cx="11183112" cy="530352"/>
          </a:xfrm>
          <a:prstGeom prst="roundRect">
            <a:avLst>
              <a:gd name="adj" fmla="val 17241"/>
            </a:avLst>
          </a:prstGeom>
          <a:solidFill>
            <a:srgbClr val="13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5257800"/>
            <a:ext cx="64008" cy="5303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257800"/>
            <a:ext cx="107899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F2F7FB"/>
                </a:solidFill>
                <a:latin typeface="Calibri"/>
              </a:rPr>
              <a:t>A skill is a playbook in a file. Add a new skill by writing a new file, not new code.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-2926080"/>
            <a:ext cx="6858000" cy="6858000"/>
          </a:xfrm>
          <a:prstGeom prst="ellipse">
            <a:avLst/>
          </a:prstGeom>
          <a:gradFill rotWithShape="1">
            <a:gsLst>
              <a:gs pos="0">
                <a:srgbClr val="8B5CF6">
                  <a:alpha val="38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108960" y="3657600"/>
            <a:ext cx="6400800" cy="6400800"/>
          </a:xfrm>
          <a:prstGeom prst="ellipse">
            <a:avLst/>
          </a:prstGeom>
          <a:gradFill rotWithShape="1">
            <a:gsLst>
              <a:gs pos="0">
                <a:srgbClr val="22D3EE">
                  <a:alpha val="22000"/>
                </a:srgbClr>
              </a:gs>
              <a:gs pos="100000">
                <a:srgbClr val="22D3E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2D3EE"/>
                </a:solidFill>
                <a:latin typeface="Consolas"/>
              </a:rPr>
              <a:t>NOTEBOOK 2: PROGRESSIVE DISCLOSURE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7488"/>
                </a:solidFill>
                <a:latin typeface="Consolas"/>
              </a:rPr>
              <a:t>AI for Coders &amp; Software Engineers  |  ENEC 2026  |  Synthetic training material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22D3EE"/>
                </a:solidFill>
                <a:latin typeface="Consolas"/>
              </a:rPr>
              <a:t>15</a:t>
            </a:r>
            <a:r>
              <a:rPr sz="1100">
                <a:solidFill>
                  <a:srgbClr val="5F7488"/>
                </a:solidFill>
                <a:latin typeface="Consolas"/>
              </a:rPr>
              <a:t>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2F7FB"/>
                </a:solidFill>
                <a:latin typeface="Calibri"/>
              </a:rPr>
              <a:t>Catalog first. One skill. Only its tools.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9FB4C8"/>
                </a:solidFill>
                <a:latin typeface="Calibri"/>
              </a:rPr>
              <a:t>Keep prompts short and behaviour consistent.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83080"/>
            <a:ext cx="1673352" cy="1280160"/>
          </a:xfrm>
          <a:prstGeom prst="roundRect">
            <a:avLst>
              <a:gd name="adj" fmla="val 7142"/>
            </a:avLst>
          </a:prstGeom>
          <a:solidFill>
            <a:srgbClr val="0F1626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874519"/>
            <a:ext cx="14904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F2F7FB"/>
                </a:solidFill>
                <a:latin typeface="Calibri"/>
              </a:rPr>
              <a:t>Question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194560" y="2304288"/>
            <a:ext cx="192024" cy="237744"/>
          </a:xfrm>
          <a:prstGeom prst="rightArrow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404872" y="1783080"/>
            <a:ext cx="1673352" cy="1280160"/>
          </a:xfrm>
          <a:prstGeom prst="roundRect">
            <a:avLst>
              <a:gd name="adj" fmla="val 7142"/>
            </a:avLst>
          </a:prstGeom>
          <a:solidFill>
            <a:srgbClr val="0F1626"/>
          </a:solidFill>
          <a:ln w="15875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96312" y="1874519"/>
            <a:ext cx="14904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F2F7FB"/>
                </a:solidFill>
                <a:latin typeface="Calibri"/>
              </a:rPr>
              <a:t>Read catalog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96312" y="2295144"/>
            <a:ext cx="1490472" cy="731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0" i="0">
                <a:solidFill>
                  <a:srgbClr val="9FB4C8"/>
                </a:solidFill>
                <a:latin typeface="Calibri"/>
              </a:rPr>
              <a:t>a few lines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096511" y="2304288"/>
            <a:ext cx="192024" cy="237744"/>
          </a:xfrm>
          <a:prstGeom prst="rightArrow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06824" y="1783080"/>
            <a:ext cx="1673352" cy="1280160"/>
          </a:xfrm>
          <a:prstGeom prst="roundRect">
            <a:avLst>
              <a:gd name="adj" fmla="val 7142"/>
            </a:avLst>
          </a:prstGeom>
          <a:solidFill>
            <a:srgbClr val="0F1626"/>
          </a:solidFill>
          <a:ln w="15875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98264" y="1874519"/>
            <a:ext cx="14904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F2F7FB"/>
                </a:solidFill>
                <a:latin typeface="Calibri"/>
              </a:rPr>
              <a:t>Pick ONE skill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98264" y="2478024"/>
            <a:ext cx="1490472" cy="731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0" i="0">
                <a:solidFill>
                  <a:srgbClr val="9FB4C8"/>
                </a:solidFill>
                <a:latin typeface="Calibri"/>
              </a:rPr>
              <a:t>model chooses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998464" y="2304288"/>
            <a:ext cx="192024" cy="237744"/>
          </a:xfrm>
          <a:prstGeom prst="rightArrow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08776" y="1783080"/>
            <a:ext cx="1673352" cy="1280160"/>
          </a:xfrm>
          <a:prstGeom prst="roundRect">
            <a:avLst>
              <a:gd name="adj" fmla="val 7142"/>
            </a:avLst>
          </a:prstGeom>
          <a:solidFill>
            <a:srgbClr val="0F1626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0216" y="1874519"/>
            <a:ext cx="14904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F2F7FB"/>
                </a:solidFill>
                <a:latin typeface="Calibri"/>
              </a:rPr>
              <a:t>Load that skill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0216" y="2478024"/>
            <a:ext cx="1490472" cy="731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0" i="0">
                <a:solidFill>
                  <a:srgbClr val="9FB4C8"/>
                </a:solidFill>
                <a:latin typeface="Calibri"/>
              </a:rPr>
              <a:t>full instructions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7900416" y="2304288"/>
            <a:ext cx="192024" cy="237744"/>
          </a:xfrm>
          <a:prstGeom prst="rightArrow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110728" y="1783080"/>
            <a:ext cx="1673352" cy="1280160"/>
          </a:xfrm>
          <a:prstGeom prst="roundRect">
            <a:avLst>
              <a:gd name="adj" fmla="val 7142"/>
            </a:avLst>
          </a:prstGeom>
          <a:solidFill>
            <a:srgbClr val="0F1626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02168" y="1874519"/>
            <a:ext cx="14904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F2F7FB"/>
                </a:solidFill>
                <a:latin typeface="Calibri"/>
              </a:rPr>
              <a:t>Offer its tools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02168" y="2478024"/>
            <a:ext cx="1490472" cy="731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0" i="0">
                <a:solidFill>
                  <a:srgbClr val="9FB4C8"/>
                </a:solidFill>
                <a:latin typeface="Calibri"/>
              </a:rPr>
              <a:t>and no others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9802368" y="2304288"/>
            <a:ext cx="192024" cy="237744"/>
          </a:xfrm>
          <a:prstGeom prst="rightArrow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0012680" y="1783080"/>
            <a:ext cx="1673352" cy="1280160"/>
          </a:xfrm>
          <a:prstGeom prst="roundRect">
            <a:avLst>
              <a:gd name="adj" fmla="val 7142"/>
            </a:avLst>
          </a:prstGeom>
          <a:solidFill>
            <a:srgbClr val="0F1626"/>
          </a:solidFill>
          <a:ln w="15875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04120" y="1874519"/>
            <a:ext cx="14904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F2F7FB"/>
                </a:solidFill>
                <a:latin typeface="Calibri"/>
              </a:rPr>
              <a:t>Bounded output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3383280"/>
            <a:ext cx="5486400" cy="2194560"/>
          </a:xfrm>
          <a:prstGeom prst="roundRect">
            <a:avLst>
              <a:gd name="adj" fmla="val 5000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2920" y="3511296"/>
            <a:ext cx="54864" cy="3840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4088" y="3511296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Step 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" y="4041648"/>
            <a:ext cx="5102352" cy="1444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22D3EE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The model sees only the catalog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22D3EE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It names the skill that fits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99632" y="3383280"/>
            <a:ext cx="5486400" cy="2194560"/>
          </a:xfrm>
          <a:prstGeom prst="roundRect">
            <a:avLst>
              <a:gd name="adj" fmla="val 5000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99632" y="3511296"/>
            <a:ext cx="54864" cy="38404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3511296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Step 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4041648"/>
            <a:ext cx="5102352" cy="1444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8B5CF6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Your code loads that skill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8B5CF6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Only the tools it permits are offered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2920" y="5760720"/>
            <a:ext cx="11183112" cy="530352"/>
          </a:xfrm>
          <a:prstGeom prst="roundRect">
            <a:avLst>
              <a:gd name="adj" fmla="val 17241"/>
            </a:avLst>
          </a:prstGeom>
          <a:solidFill>
            <a:srgbClr val="13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" y="5760720"/>
            <a:ext cx="64008" cy="5303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7240" y="5760720"/>
            <a:ext cx="107899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F2F7FB"/>
                </a:solidFill>
                <a:latin typeface="Calibri"/>
              </a:rPr>
              <a:t>The approved_procedure skill can only search documents. Even if the model wanted SQL, the tool is not offered.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-2926080"/>
            <a:ext cx="6858000" cy="6858000"/>
          </a:xfrm>
          <a:prstGeom prst="ellipse">
            <a:avLst/>
          </a:prstGeom>
          <a:gradFill rotWithShape="1">
            <a:gsLst>
              <a:gs pos="0">
                <a:srgbClr val="8B5CF6">
                  <a:alpha val="38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108960" y="3657600"/>
            <a:ext cx="6400800" cy="6400800"/>
          </a:xfrm>
          <a:prstGeom prst="ellipse">
            <a:avLst/>
          </a:prstGeom>
          <a:gradFill rotWithShape="1">
            <a:gsLst>
              <a:gs pos="0">
                <a:srgbClr val="22D3EE">
                  <a:alpha val="22000"/>
                </a:srgbClr>
              </a:gs>
              <a:gs pos="100000">
                <a:srgbClr val="22D3E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2D3EE"/>
                </a:solidFill>
                <a:latin typeface="Consolas"/>
              </a:rPr>
              <a:t>NOTEBOOK 2: MEMORY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7488"/>
                </a:solidFill>
                <a:latin typeface="Consolas"/>
              </a:rPr>
              <a:t>AI for Coders &amp; Software Engineers  |  ENEC 2026  |  Synthetic training material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22D3EE"/>
                </a:solidFill>
                <a:latin typeface="Consolas"/>
              </a:rPr>
              <a:t>16</a:t>
            </a:r>
            <a:r>
              <a:rPr sz="1100">
                <a:solidFill>
                  <a:srgbClr val="5F7488"/>
                </a:solidFill>
                <a:latin typeface="Consolas"/>
              </a:rPr>
              <a:t>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2F7FB"/>
                </a:solidFill>
                <a:latin typeface="Calibri"/>
              </a:rPr>
              <a:t>Memory: small, explicit, user-controlled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9FB4C8"/>
                </a:solidFill>
                <a:latin typeface="Calibri"/>
              </a:rPr>
              <a:t>Without memory every turn starts blank.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83080"/>
            <a:ext cx="5486400" cy="2743200"/>
          </a:xfrm>
          <a:prstGeom prst="roundRect">
            <a:avLst>
              <a:gd name="adj" fmla="val 4000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911095"/>
            <a:ext cx="54864" cy="3840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11095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How it works here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441448"/>
            <a:ext cx="5102352" cy="1993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22D3EE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A small dictionary of facts we choose to keep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22D3EE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Saved to a file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22D3EE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Injected into the system prompt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783080"/>
            <a:ext cx="5486400" cy="2743200"/>
          </a:xfrm>
          <a:prstGeom prst="roundRect">
            <a:avLst>
              <a:gd name="adj" fmla="val 4000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9632" y="1911095"/>
            <a:ext cx="54864" cy="38404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911095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Rules we follow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441448"/>
            <a:ext cx="5102352" cy="1993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F5A623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Keep only what is useful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F5A623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Never store secrets or personal data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F5A623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Let the user see it and clear it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663440"/>
            <a:ext cx="11183112" cy="1188720"/>
          </a:xfrm>
          <a:prstGeom prst="roundRect">
            <a:avLst>
              <a:gd name="adj" fmla="val 9230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4791455"/>
            <a:ext cx="54864" cy="38404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" y="4791455"/>
            <a:ext cx="108173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Memory is not the whole chat history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" y="5577840"/>
            <a:ext cx="107990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90" b="0" i="0">
                <a:solidFill>
                  <a:srgbClr val="9FB4C8"/>
                </a:solidFill>
                <a:latin typeface="Calibri"/>
              </a:rPr>
              <a:t>It is what was intentionally retained: the selected asset, the last skill, an unresolved gap.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-2926080"/>
            <a:ext cx="6858000" cy="6858000"/>
          </a:xfrm>
          <a:prstGeom prst="ellipse">
            <a:avLst/>
          </a:prstGeom>
          <a:gradFill rotWithShape="1">
            <a:gsLst>
              <a:gs pos="0">
                <a:srgbClr val="8B5CF6">
                  <a:alpha val="38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108960" y="3657600"/>
            <a:ext cx="6400800" cy="6400800"/>
          </a:xfrm>
          <a:prstGeom prst="ellipse">
            <a:avLst/>
          </a:prstGeom>
          <a:gradFill rotWithShape="1">
            <a:gsLst>
              <a:gs pos="0">
                <a:srgbClr val="22D3EE">
                  <a:alpha val="22000"/>
                </a:srgbClr>
              </a:gs>
              <a:gs pos="100000">
                <a:srgbClr val="22D3E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2D3EE"/>
                </a:solidFill>
                <a:latin typeface="Consolas"/>
              </a:rPr>
              <a:t>NOTEBOOK 2: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7488"/>
                </a:solidFill>
                <a:latin typeface="Consolas"/>
              </a:rPr>
              <a:t>AI for Coders &amp; Software Engineers  |  ENEC 2026  |  Synthetic training material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22D3EE"/>
                </a:solidFill>
                <a:latin typeface="Consolas"/>
              </a:rPr>
              <a:t>17</a:t>
            </a:r>
            <a:r>
              <a:rPr sz="1100">
                <a:solidFill>
                  <a:srgbClr val="5F7488"/>
                </a:solidFill>
                <a:latin typeface="Consolas"/>
              </a:rPr>
              <a:t>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2F7FB"/>
                </a:solidFill>
                <a:latin typeface="Calibri"/>
              </a:rPr>
              <a:t>Two controls every enterprise agent needs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9FB4C8"/>
                </a:solidFill>
                <a:latin typeface="Calibri"/>
              </a:rPr>
              <a:t>Governance is code, not a policy document.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83080"/>
            <a:ext cx="5486400" cy="3200400"/>
          </a:xfrm>
          <a:prstGeom prst="roundRect">
            <a:avLst>
              <a:gd name="adj" fmla="val 3428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911095"/>
            <a:ext cx="54864" cy="3840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11095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1  Audit trail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441448"/>
            <a:ext cx="5102352" cy="2450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22D3EE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Record every tool call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22D3EE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Who, what, when, result summary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22D3EE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Written at the moment of the call, not reconstructed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783080"/>
            <a:ext cx="5486400" cy="3200400"/>
          </a:xfrm>
          <a:prstGeom prst="roundRect">
            <a:avLst>
              <a:gd name="adj" fmla="val 3428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9632" y="1911095"/>
            <a:ext cx="54864" cy="38404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911095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2  Approval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441448"/>
            <a:ext cx="5102352" cy="2450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F5A623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The agent may prepare a recommendation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F5A623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A consequential step goes to a review queue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F5A623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The agent cannot approve itself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5074920"/>
            <a:ext cx="3483864" cy="914400"/>
          </a:xfrm>
          <a:prstGeom prst="roundRect">
            <a:avLst>
              <a:gd name="adj" fmla="val 10000"/>
            </a:avLst>
          </a:prstGeom>
          <a:solidFill>
            <a:srgbClr val="0F1626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5166359"/>
            <a:ext cx="330098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F2F7FB"/>
                </a:solidFill>
                <a:latin typeface="Calibri"/>
              </a:rPr>
              <a:t>Draft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5586983"/>
            <a:ext cx="33009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9FB4C8"/>
                </a:solidFill>
                <a:latin typeface="Calibri"/>
              </a:rPr>
              <a:t>agent prepares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4005072" y="5413248"/>
            <a:ext cx="329184" cy="237744"/>
          </a:xfrm>
          <a:prstGeom prst="rightArrow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352544" y="5074920"/>
            <a:ext cx="3483864" cy="914400"/>
          </a:xfrm>
          <a:prstGeom prst="roundRect">
            <a:avLst>
              <a:gd name="adj" fmla="val 10000"/>
            </a:avLst>
          </a:prstGeom>
          <a:solidFill>
            <a:srgbClr val="0F1626"/>
          </a:solidFill>
          <a:ln w="15875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43983" y="5166359"/>
            <a:ext cx="330098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F2F7FB"/>
                </a:solidFill>
                <a:latin typeface="Calibri"/>
              </a:rPr>
              <a:t>Review queue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983" y="5586983"/>
            <a:ext cx="33009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9FB4C8"/>
                </a:solidFill>
                <a:latin typeface="Calibri"/>
              </a:rPr>
              <a:t>waits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854696" y="5413248"/>
            <a:ext cx="329184" cy="237744"/>
          </a:xfrm>
          <a:prstGeom prst="rightArrow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202168" y="5074920"/>
            <a:ext cx="3483864" cy="914400"/>
          </a:xfrm>
          <a:prstGeom prst="roundRect">
            <a:avLst>
              <a:gd name="adj" fmla="val 10000"/>
            </a:avLst>
          </a:prstGeom>
          <a:solidFill>
            <a:srgbClr val="0F1626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93608" y="5166359"/>
            <a:ext cx="330098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F2F7FB"/>
                </a:solidFill>
                <a:latin typeface="Calibri"/>
              </a:rPr>
              <a:t>Human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93608" y="5586983"/>
            <a:ext cx="33009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9FB4C8"/>
                </a:solidFill>
                <a:latin typeface="Calibri"/>
              </a:rPr>
              <a:t>approves, revises or rejects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-2926080"/>
            <a:ext cx="6858000" cy="6858000"/>
          </a:xfrm>
          <a:prstGeom prst="ellipse">
            <a:avLst/>
          </a:prstGeom>
          <a:gradFill rotWithShape="1">
            <a:gsLst>
              <a:gs pos="0">
                <a:srgbClr val="8B5CF6">
                  <a:alpha val="38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108960" y="3657600"/>
            <a:ext cx="6400800" cy="6400800"/>
          </a:xfrm>
          <a:prstGeom prst="ellipse">
            <a:avLst/>
          </a:prstGeom>
          <a:gradFill rotWithShape="1">
            <a:gsLst>
              <a:gs pos="0">
                <a:srgbClr val="22D3EE">
                  <a:alpha val="22000"/>
                </a:srgbClr>
              </a:gs>
              <a:gs pos="100000">
                <a:srgbClr val="22D3E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2D3EE"/>
                </a:solidFill>
                <a:latin typeface="Consolas"/>
              </a:rPr>
              <a:t>NOTEBOOK 2: WORKFLOW STATE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7488"/>
                </a:solidFill>
                <a:latin typeface="Consolas"/>
              </a:rPr>
              <a:t>AI for Coders &amp; Software Engineers  |  ENEC 2026  |  Synthetic training material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22D3EE"/>
                </a:solidFill>
                <a:latin typeface="Consolas"/>
              </a:rPr>
              <a:t>18</a:t>
            </a:r>
            <a:r>
              <a:rPr sz="1100">
                <a:solidFill>
                  <a:srgbClr val="5F7488"/>
                </a:solidFill>
                <a:latin typeface="Consolas"/>
              </a:rPr>
              <a:t>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2F7FB"/>
                </a:solidFill>
                <a:latin typeface="Calibri"/>
              </a:rPr>
              <a:t>Memory vs workflow state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9FB4C8"/>
                </a:solidFill>
                <a:latin typeface="Calibri"/>
              </a:rPr>
              <a:t>Both are remembered. They answer different questions.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83080"/>
            <a:ext cx="5486400" cy="2286000"/>
          </a:xfrm>
          <a:prstGeom prst="roundRect">
            <a:avLst>
              <a:gd name="adj" fmla="val 4800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911095"/>
            <a:ext cx="54864" cy="3840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11095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Memory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441448"/>
            <a:ext cx="5102352" cy="1536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10" b="1" i="0">
                <a:solidFill>
                  <a:srgbClr val="22D3EE"/>
                </a:solidFill>
                <a:latin typeface="Calibri"/>
              </a:rPr>
              <a:t>•  </a:t>
            </a:r>
            <a:r>
              <a:rPr sz="1710" b="0" i="0">
                <a:solidFill>
                  <a:srgbClr val="9FB4C8"/>
                </a:solidFill>
                <a:latin typeface="Calibri"/>
              </a:rPr>
              <a:t>Context that may help future steps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10" b="1" i="0">
                <a:solidFill>
                  <a:srgbClr val="22D3EE"/>
                </a:solidFill>
                <a:latin typeface="Calibri"/>
              </a:rPr>
              <a:t>•  </a:t>
            </a:r>
            <a:r>
              <a:rPr sz="1710" b="0" i="0">
                <a:solidFill>
                  <a:srgbClr val="9FB4C8"/>
                </a:solidFill>
                <a:latin typeface="Calibri"/>
              </a:rPr>
              <a:t>Intentional and bounded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783080"/>
            <a:ext cx="5486400" cy="2286000"/>
          </a:xfrm>
          <a:prstGeom prst="roundRect">
            <a:avLst>
              <a:gd name="adj" fmla="val 4800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9632" y="1911095"/>
            <a:ext cx="54864" cy="38404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911095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Workflow 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441448"/>
            <a:ext cx="5102352" cy="1536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10" b="1" i="0">
                <a:solidFill>
                  <a:srgbClr val="8B5CF6"/>
                </a:solidFill>
                <a:latin typeface="Calibri"/>
              </a:rPr>
              <a:t>•  </a:t>
            </a:r>
            <a:r>
              <a:rPr sz="1710" b="0" i="0">
                <a:solidFill>
                  <a:srgbClr val="9FB4C8"/>
                </a:solidFill>
                <a:latin typeface="Calibri"/>
              </a:rPr>
              <a:t>The explicit stage of the current process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10" b="1" i="0">
                <a:solidFill>
                  <a:srgbClr val="8B5CF6"/>
                </a:solidFill>
                <a:latin typeface="Calibri"/>
              </a:rPr>
              <a:t>•  </a:t>
            </a:r>
            <a:r>
              <a:rPr sz="1710" b="0" i="0">
                <a:solidFill>
                  <a:srgbClr val="9FB4C8"/>
                </a:solidFill>
                <a:latin typeface="Calibri"/>
              </a:rPr>
              <a:t>Inspectable and auditable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10" b="1" i="0">
                <a:solidFill>
                  <a:srgbClr val="8B5CF6"/>
                </a:solidFill>
                <a:latin typeface="Calibri"/>
              </a:rPr>
              <a:t>•  </a:t>
            </a:r>
            <a:r>
              <a:rPr sz="1710" b="0" i="0">
                <a:solidFill>
                  <a:srgbClr val="9FB4C8"/>
                </a:solidFill>
                <a:latin typeface="Calibri"/>
              </a:rPr>
              <a:t>Drives what the agent may do next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389120"/>
            <a:ext cx="2002536" cy="822960"/>
          </a:xfrm>
          <a:prstGeom prst="roundRect">
            <a:avLst>
              <a:gd name="adj" fmla="val 11111"/>
            </a:avLst>
          </a:prstGeom>
          <a:solidFill>
            <a:srgbClr val="0F1626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4480559"/>
            <a:ext cx="181965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F2F7FB"/>
                </a:solidFill>
                <a:latin typeface="Calibri"/>
              </a:rPr>
              <a:t>Received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2523744" y="4681728"/>
            <a:ext cx="256032" cy="237744"/>
          </a:xfrm>
          <a:prstGeom prst="rightArrow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798064" y="4389120"/>
            <a:ext cx="2002536" cy="822960"/>
          </a:xfrm>
          <a:prstGeom prst="roundRect">
            <a:avLst>
              <a:gd name="adj" fmla="val 11111"/>
            </a:avLst>
          </a:prstGeom>
          <a:solidFill>
            <a:srgbClr val="0F1626"/>
          </a:solidFill>
          <a:ln w="15875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89504" y="4480559"/>
            <a:ext cx="181965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F2F7FB"/>
                </a:solidFill>
                <a:latin typeface="Calibri"/>
              </a:rPr>
              <a:t>Guarded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4818888" y="4681728"/>
            <a:ext cx="256032" cy="237744"/>
          </a:xfrm>
          <a:prstGeom prst="rightArrow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093208" y="4389120"/>
            <a:ext cx="2002536" cy="822960"/>
          </a:xfrm>
          <a:prstGeom prst="roundRect">
            <a:avLst>
              <a:gd name="adj" fmla="val 11111"/>
            </a:avLst>
          </a:prstGeom>
          <a:solidFill>
            <a:srgbClr val="0F1626"/>
          </a:solidFill>
          <a:ln w="15875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84648" y="4480559"/>
            <a:ext cx="181965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F2F7FB"/>
                </a:solidFill>
                <a:latin typeface="Calibri"/>
              </a:rPr>
              <a:t>Investigated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7114032" y="4681728"/>
            <a:ext cx="256032" cy="237744"/>
          </a:xfrm>
          <a:prstGeom prst="rightArrow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388352" y="4389120"/>
            <a:ext cx="2002536" cy="822960"/>
          </a:xfrm>
          <a:prstGeom prst="roundRect">
            <a:avLst>
              <a:gd name="adj" fmla="val 11111"/>
            </a:avLst>
          </a:prstGeom>
          <a:solidFill>
            <a:srgbClr val="0F1626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79792" y="4480559"/>
            <a:ext cx="181965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F2F7FB"/>
                </a:solidFill>
                <a:latin typeface="Calibri"/>
              </a:rPr>
              <a:t>Drafted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9409176" y="4681728"/>
            <a:ext cx="256032" cy="237744"/>
          </a:xfrm>
          <a:prstGeom prst="rightArrow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683496" y="4389120"/>
            <a:ext cx="2002536" cy="822960"/>
          </a:xfrm>
          <a:prstGeom prst="roundRect">
            <a:avLst>
              <a:gd name="adj" fmla="val 11111"/>
            </a:avLst>
          </a:prstGeom>
          <a:solidFill>
            <a:srgbClr val="0F1626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74936" y="4480559"/>
            <a:ext cx="181965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F2F7FB"/>
                </a:solidFill>
                <a:latin typeface="Calibri"/>
              </a:rPr>
              <a:t>Reviewed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5486400"/>
            <a:ext cx="11183112" cy="530352"/>
          </a:xfrm>
          <a:prstGeom prst="roundRect">
            <a:avLst>
              <a:gd name="adj" fmla="val 17241"/>
            </a:avLst>
          </a:prstGeom>
          <a:solidFill>
            <a:srgbClr val="13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02920" y="5486400"/>
            <a:ext cx="64008" cy="5303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5486400"/>
            <a:ext cx="107899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F2F7FB"/>
                </a:solidFill>
                <a:latin typeface="Calibri"/>
              </a:rPr>
              <a:t>Only the reviewer moves a draft from DRAFTED to REVIEWED. Every transition writes an audit event.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-2926080"/>
            <a:ext cx="6858000" cy="6858000"/>
          </a:xfrm>
          <a:prstGeom prst="ellipse">
            <a:avLst/>
          </a:prstGeom>
          <a:gradFill rotWithShape="1">
            <a:gsLst>
              <a:gs pos="0">
                <a:srgbClr val="8B5CF6">
                  <a:alpha val="38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108960" y="3657600"/>
            <a:ext cx="6400800" cy="6400800"/>
          </a:xfrm>
          <a:prstGeom prst="ellipse">
            <a:avLst/>
          </a:prstGeom>
          <a:gradFill rotWithShape="1">
            <a:gsLst>
              <a:gs pos="0">
                <a:srgbClr val="22D3EE">
                  <a:alpha val="22000"/>
                </a:srgbClr>
              </a:gs>
              <a:gs pos="100000">
                <a:srgbClr val="22D3E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2D3EE"/>
                </a:solidFill>
                <a:latin typeface="Consolas"/>
              </a:rPr>
              <a:t>NOTEBOOK 2: MULTI-AGENT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7488"/>
                </a:solidFill>
                <a:latin typeface="Consolas"/>
              </a:rPr>
              <a:t>AI for Coders &amp; Software Engineers  |  ENEC 2026  |  Synthetic training material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22D3EE"/>
                </a:solidFill>
                <a:latin typeface="Consolas"/>
              </a:rPr>
              <a:t>19</a:t>
            </a:r>
            <a:r>
              <a:rPr sz="1100">
                <a:solidFill>
                  <a:srgbClr val="5F7488"/>
                </a:solidFill>
                <a:latin typeface="Consolas"/>
              </a:rPr>
              <a:t>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2F7FB"/>
                </a:solidFill>
                <a:latin typeface="Calibri"/>
              </a:rPr>
              <a:t>Single agent, or supervisor plus specialists?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9FB4C8"/>
                </a:solidFill>
                <a:latin typeface="Calibri"/>
              </a:rPr>
              <a:t>An architecture choice, not a maturity badge.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737360"/>
            <a:ext cx="3200400" cy="822960"/>
          </a:xfrm>
          <a:prstGeom prst="roundRect">
            <a:avLst>
              <a:gd name="adj" fmla="val 11111"/>
            </a:avLst>
          </a:prstGeom>
          <a:solidFill>
            <a:srgbClr val="0F1626"/>
          </a:solidFill>
          <a:ln w="1905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737360"/>
            <a:ext cx="32004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2F7FB"/>
                </a:solidFill>
                <a:latin typeface="Calibri"/>
              </a:rPr>
              <a:t>Supervisor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971800"/>
            <a:ext cx="3538728" cy="1554480"/>
          </a:xfrm>
          <a:prstGeom prst="roundRect">
            <a:avLst>
              <a:gd name="adj" fmla="val 5882"/>
            </a:avLst>
          </a:prstGeom>
          <a:solidFill>
            <a:srgbClr val="0F1626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3108960"/>
            <a:ext cx="35387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0">
                <a:solidFill>
                  <a:srgbClr val="F2F7FB"/>
                </a:solidFill>
                <a:latin typeface="Calibri"/>
              </a:rPr>
              <a:t>Data specialist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611880"/>
            <a:ext cx="317296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SQL + forecast tools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58568" y="2724912"/>
            <a:ext cx="27432" cy="246888"/>
          </a:xfrm>
          <a:prstGeom prst="rect">
            <a:avLst/>
          </a:prstGeom>
          <a:solidFill>
            <a:srgbClr val="9F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25112" y="2971800"/>
            <a:ext cx="3538728" cy="1554480"/>
          </a:xfrm>
          <a:prstGeom prst="roundRect">
            <a:avLst>
              <a:gd name="adj" fmla="val 5882"/>
            </a:avLst>
          </a:prstGeom>
          <a:solidFill>
            <a:srgbClr val="0F1626"/>
          </a:solidFill>
          <a:ln w="15875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25112" y="3108960"/>
            <a:ext cx="35387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0">
                <a:solidFill>
                  <a:srgbClr val="F2F7FB"/>
                </a:solidFill>
                <a:latin typeface="Calibri"/>
              </a:rPr>
              <a:t>Document specialist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7992" y="3611880"/>
            <a:ext cx="317296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document search only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80759" y="2724912"/>
            <a:ext cx="27432" cy="246888"/>
          </a:xfrm>
          <a:prstGeom prst="rect">
            <a:avLst/>
          </a:prstGeom>
          <a:solidFill>
            <a:srgbClr val="9F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147304" y="2971800"/>
            <a:ext cx="3538728" cy="1554480"/>
          </a:xfrm>
          <a:prstGeom prst="roundRect">
            <a:avLst>
              <a:gd name="adj" fmla="val 5882"/>
            </a:avLst>
          </a:prstGeom>
          <a:solidFill>
            <a:srgbClr val="0F1626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47304" y="3108960"/>
            <a:ext cx="35387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0">
                <a:solidFill>
                  <a:srgbClr val="F2F7FB"/>
                </a:solidFill>
                <a:latin typeface="Calibri"/>
              </a:rPr>
              <a:t>Reviewer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0183" y="3611880"/>
            <a:ext cx="317296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writes the briefing from their outputs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02952" y="2724912"/>
            <a:ext cx="27432" cy="246888"/>
          </a:xfrm>
          <a:prstGeom prst="rect">
            <a:avLst/>
          </a:prstGeom>
          <a:solidFill>
            <a:srgbClr val="9F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258568" y="2697480"/>
            <a:ext cx="7662672" cy="27432"/>
          </a:xfrm>
          <a:prstGeom prst="rect">
            <a:avLst/>
          </a:prstGeom>
          <a:solidFill>
            <a:srgbClr val="9F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080760" y="2560320"/>
            <a:ext cx="27432" cy="155448"/>
          </a:xfrm>
          <a:prstGeom prst="rect">
            <a:avLst/>
          </a:prstGeom>
          <a:solidFill>
            <a:srgbClr val="9F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02920" y="4892040"/>
            <a:ext cx="11183112" cy="530352"/>
          </a:xfrm>
          <a:prstGeom prst="roundRect">
            <a:avLst>
              <a:gd name="adj" fmla="val 17241"/>
            </a:avLst>
          </a:prstGeom>
          <a:solidFill>
            <a:srgbClr val="13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4892040"/>
            <a:ext cx="64008" cy="5303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4892040"/>
            <a:ext cx="107899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F2F7FB"/>
                </a:solidFill>
                <a:latin typeface="Calibri"/>
              </a:rPr>
              <a:t>Each specialist has a smaller toolset and a narrower prompt. A person still closes the loop.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-2926080"/>
            <a:ext cx="6858000" cy="6858000"/>
          </a:xfrm>
          <a:prstGeom prst="ellipse">
            <a:avLst/>
          </a:prstGeom>
          <a:gradFill rotWithShape="1">
            <a:gsLst>
              <a:gs pos="0">
                <a:srgbClr val="8B5CF6">
                  <a:alpha val="38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108960" y="3657600"/>
            <a:ext cx="6400800" cy="6400800"/>
          </a:xfrm>
          <a:prstGeom prst="ellipse">
            <a:avLst/>
          </a:prstGeom>
          <a:gradFill rotWithShape="1">
            <a:gsLst>
              <a:gs pos="0">
                <a:srgbClr val="22D3EE">
                  <a:alpha val="22000"/>
                </a:srgbClr>
              </a:gs>
              <a:gs pos="100000">
                <a:srgbClr val="22D3E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2D3EE"/>
                </a:solidFill>
                <a:latin typeface="Consolas"/>
              </a:rPr>
              <a:t>ARCHITECTURE CHOICE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7488"/>
                </a:solidFill>
                <a:latin typeface="Consolas"/>
              </a:rPr>
              <a:t>AI for Coders &amp; Software Engineers  |  ENEC 2026  |  Synthetic training material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22D3EE"/>
                </a:solidFill>
                <a:latin typeface="Consolas"/>
              </a:rPr>
              <a:t>20</a:t>
            </a:r>
            <a:r>
              <a:rPr sz="1100">
                <a:solidFill>
                  <a:srgbClr val="5F7488"/>
                </a:solidFill>
                <a:latin typeface="Consolas"/>
              </a:rPr>
              <a:t>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2F7FB"/>
                </a:solidFill>
                <a:latin typeface="Calibri"/>
              </a:rPr>
              <a:t>When is multi-agent worth it?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9FB4C8"/>
                </a:solidFill>
                <a:latin typeface="Calibri"/>
              </a:rPr>
              <a:t>More agents means more calls, more latency and more places to fail.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83080"/>
            <a:ext cx="5486400" cy="3291840"/>
          </a:xfrm>
          <a:prstGeom prst="roundRect">
            <a:avLst>
              <a:gd name="adj" fmla="val 3333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911095"/>
            <a:ext cx="54864" cy="38404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11095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Use multi-agent when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441448"/>
            <a:ext cx="5102352" cy="2542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10" b="1" i="0">
                <a:solidFill>
                  <a:srgbClr val="34D399"/>
                </a:solidFill>
                <a:latin typeface="Calibri"/>
              </a:rPr>
              <a:t>•  </a:t>
            </a:r>
            <a:r>
              <a:rPr sz="1710" b="0" i="0">
                <a:solidFill>
                  <a:srgbClr val="9FB4C8"/>
                </a:solidFill>
                <a:latin typeface="Calibri"/>
              </a:rPr>
              <a:t>Tasks need clearly different tools or permissions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10" b="1" i="0">
                <a:solidFill>
                  <a:srgbClr val="34D399"/>
                </a:solidFill>
                <a:latin typeface="Calibri"/>
              </a:rPr>
              <a:t>•  </a:t>
            </a:r>
            <a:r>
              <a:rPr sz="1710" b="0" i="0">
                <a:solidFill>
                  <a:srgbClr val="9FB4C8"/>
                </a:solidFill>
                <a:latin typeface="Calibri"/>
              </a:rPr>
              <a:t>You want to test each specialist separately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10" b="1" i="0">
                <a:solidFill>
                  <a:srgbClr val="34D399"/>
                </a:solidFill>
                <a:latin typeface="Calibri"/>
              </a:rPr>
              <a:t>•  </a:t>
            </a:r>
            <a:r>
              <a:rPr sz="1710" b="0" i="0">
                <a:solidFill>
                  <a:srgbClr val="9FB4C8"/>
                </a:solidFill>
                <a:latin typeface="Calibri"/>
              </a:rPr>
              <a:t>Different teams own different capabilities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783080"/>
            <a:ext cx="5486400" cy="3291840"/>
          </a:xfrm>
          <a:prstGeom prst="roundRect">
            <a:avLst>
              <a:gd name="adj" fmla="val 3333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9632" y="1911095"/>
            <a:ext cx="54864" cy="38404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911095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Stay with one agent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441448"/>
            <a:ext cx="5102352" cy="2542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10" b="1" i="0">
                <a:solidFill>
                  <a:srgbClr val="F5A623"/>
                </a:solidFill>
                <a:latin typeface="Calibri"/>
              </a:rPr>
              <a:t>•  </a:t>
            </a:r>
            <a:r>
              <a:rPr sz="1710" b="0" i="0">
                <a:solidFill>
                  <a:srgbClr val="9FB4C8"/>
                </a:solidFill>
                <a:latin typeface="Calibri"/>
              </a:rPr>
              <a:t>The task fits one prompt and a few tools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10" b="1" i="0">
                <a:solidFill>
                  <a:srgbClr val="F5A623"/>
                </a:solidFill>
                <a:latin typeface="Calibri"/>
              </a:rPr>
              <a:t>•  </a:t>
            </a:r>
            <a:r>
              <a:rPr sz="1710" b="0" i="0">
                <a:solidFill>
                  <a:srgbClr val="9FB4C8"/>
                </a:solidFill>
                <a:latin typeface="Calibri"/>
              </a:rPr>
              <a:t>Latency and cost matter most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10" b="1" i="0">
                <a:solidFill>
                  <a:srgbClr val="F5A623"/>
                </a:solidFill>
                <a:latin typeface="Calibri"/>
              </a:rPr>
              <a:t>•  </a:t>
            </a:r>
            <a:r>
              <a:rPr sz="1710" b="0" i="0">
                <a:solidFill>
                  <a:srgbClr val="9FB4C8"/>
                </a:solidFill>
                <a:latin typeface="Calibri"/>
              </a:rPr>
              <a:t>You cannot yet explain why a second agent helps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5349240"/>
            <a:ext cx="11183112" cy="530352"/>
          </a:xfrm>
          <a:prstGeom prst="roundRect">
            <a:avLst>
              <a:gd name="adj" fmla="val 17241"/>
            </a:avLst>
          </a:prstGeom>
          <a:solidFill>
            <a:srgbClr val="13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5349240"/>
            <a:ext cx="64008" cy="5303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349240"/>
            <a:ext cx="107899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F2F7FB"/>
                </a:solidFill>
                <a:latin typeface="Calibri"/>
              </a:rPr>
              <a:t>Start with one agent. Split only when you can name the reason.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-2926080"/>
            <a:ext cx="6858000" cy="6858000"/>
          </a:xfrm>
          <a:prstGeom prst="ellipse">
            <a:avLst/>
          </a:prstGeom>
          <a:gradFill rotWithShape="1">
            <a:gsLst>
              <a:gs pos="0">
                <a:srgbClr val="8B5CF6">
                  <a:alpha val="38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108960" y="3657600"/>
            <a:ext cx="6400800" cy="6400800"/>
          </a:xfrm>
          <a:prstGeom prst="ellipse">
            <a:avLst/>
          </a:prstGeom>
          <a:gradFill rotWithShape="1">
            <a:gsLst>
              <a:gs pos="0">
                <a:srgbClr val="22D3EE">
                  <a:alpha val="22000"/>
                </a:srgbClr>
              </a:gs>
              <a:gs pos="100000">
                <a:srgbClr val="22D3E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2D3EE"/>
                </a:solidFill>
                <a:latin typeface="Consolas"/>
              </a:rPr>
              <a:t>DAY 3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7488"/>
                </a:solidFill>
                <a:latin typeface="Consolas"/>
              </a:rPr>
              <a:t>AI for Coders &amp; Software Engineers  |  ENEC 2026  |  Synthetic training material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22D3EE"/>
                </a:solidFill>
                <a:latin typeface="Consolas"/>
              </a:rPr>
              <a:t>21</a:t>
            </a:r>
            <a:r>
              <a:rPr sz="1100">
                <a:solidFill>
                  <a:srgbClr val="5F7488"/>
                </a:solidFill>
                <a:latin typeface="Consolas"/>
              </a:rPr>
              <a:t>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2F7FB"/>
                </a:solidFill>
                <a:latin typeface="Calibri"/>
              </a:rPr>
              <a:t>Hands-on mission: the governed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9FB4C8"/>
                </a:solidFill>
                <a:latin typeface="Calibri"/>
              </a:rPr>
              <a:t>Combine structured facts, retrieval and a decision tree into one bounded application.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1819656"/>
            <a:ext cx="384048" cy="3840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819656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070B14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19" y="178308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2F7FB"/>
                </a:solidFill>
                <a:latin typeface="Calibri"/>
              </a:rPr>
              <a:t>Run the SQL tool for A-001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19" y="2066543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9FB4C8"/>
                </a:solidFill>
                <a:latin typeface="Calibri"/>
              </a:rPr>
              <a:t>structured facts, read-only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2688336"/>
            <a:ext cx="384048" cy="3840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688336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070B14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19" y="265176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2F7FB"/>
                </a:solidFill>
                <a:latin typeface="Calibri"/>
              </a:rPr>
              <a:t>Run the document tool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19" y="2935224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9FB4C8"/>
                </a:solidFill>
                <a:latin typeface="Calibri"/>
              </a:rPr>
              <a:t>approved documents only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3557015"/>
            <a:ext cx="384048" cy="3840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557015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070B14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19" y="3520439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2F7FB"/>
                </a:solidFill>
                <a:latin typeface="Calibri"/>
              </a:rPr>
              <a:t>Ask the hybrid question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19" y="3803903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9FB4C8"/>
                </a:solidFill>
                <a:latin typeface="Calibri"/>
              </a:rPr>
              <a:t>watch the agent choose</a:t>
            </a:r>
          </a:p>
        </p:txBody>
      </p:sp>
      <p:sp>
        <p:nvSpPr>
          <p:cNvPr id="21" name="Oval 20"/>
          <p:cNvSpPr/>
          <p:nvPr/>
        </p:nvSpPr>
        <p:spPr>
          <a:xfrm>
            <a:off x="6309360" y="1819656"/>
            <a:ext cx="384048" cy="3840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1819656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070B14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178308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2F7FB"/>
                </a:solidFill>
                <a:latin typeface="Calibri"/>
              </a:rPr>
              <a:t>Train and judge the decision tree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066543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9FB4C8"/>
                </a:solidFill>
                <a:latin typeface="Calibri"/>
              </a:rPr>
              <a:t>recall, precision, unseen days</a:t>
            </a:r>
          </a:p>
        </p:txBody>
      </p:sp>
      <p:sp>
        <p:nvSpPr>
          <p:cNvPr id="25" name="Oval 24"/>
          <p:cNvSpPr/>
          <p:nvPr/>
        </p:nvSpPr>
        <p:spPr>
          <a:xfrm>
            <a:off x="6309360" y="2688336"/>
            <a:ext cx="384048" cy="3840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2688336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070B14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265176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2F7FB"/>
                </a:solidFill>
                <a:latin typeface="Calibri"/>
              </a:rPr>
              <a:t>Let the agent call the tree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2935224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9FB4C8"/>
                </a:solidFill>
                <a:latin typeface="Calibri"/>
              </a:rPr>
              <a:t>then queue a human review</a:t>
            </a:r>
          </a:p>
        </p:txBody>
      </p:sp>
      <p:sp>
        <p:nvSpPr>
          <p:cNvPr id="29" name="Oval 28"/>
          <p:cNvSpPr/>
          <p:nvPr/>
        </p:nvSpPr>
        <p:spPr>
          <a:xfrm>
            <a:off x="6309360" y="3557015"/>
            <a:ext cx="384048" cy="3840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0" y="3557015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070B14"/>
                </a:solidFill>
                <a:latin typeface="Calibri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3520439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2F7FB"/>
                </a:solidFill>
                <a:latin typeface="Calibri"/>
              </a:rPr>
              <a:t>Find the approval boundary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3803903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9FB4C8"/>
                </a:solidFill>
                <a:latin typeface="Calibri"/>
              </a:rPr>
              <a:t>where the agent must stop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617720"/>
            <a:ext cx="356616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4617720"/>
            <a:ext cx="35661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2D3EE"/>
                </a:solidFill>
                <a:latin typeface="Consolas"/>
              </a:rPr>
              <a:t>Day3_01  Tool-calling agent  |  75 min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43400" y="4617720"/>
            <a:ext cx="356616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43400" y="4617720"/>
            <a:ext cx="35661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34D399"/>
                </a:solidFill>
                <a:latin typeface="Consolas"/>
              </a:rPr>
              <a:t>Day3_02  Decision tree tool  |  75 min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46720" y="4617720"/>
            <a:ext cx="356616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46720" y="4617720"/>
            <a:ext cx="35661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8B5CF6"/>
                </a:solidFill>
                <a:latin typeface="Consolas"/>
              </a:rPr>
              <a:t>Day3_03  Governance  |  75 min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2920" y="5669280"/>
            <a:ext cx="11183112" cy="530352"/>
          </a:xfrm>
          <a:prstGeom prst="roundRect">
            <a:avLst>
              <a:gd name="adj" fmla="val 17241"/>
            </a:avLst>
          </a:prstGeom>
          <a:solidFill>
            <a:srgbClr val="13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02920" y="5669280"/>
            <a:ext cx="64008" cy="5303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" y="5669280"/>
            <a:ext cx="107899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F2F7FB"/>
                </a:solidFill>
                <a:latin typeface="Calibri"/>
              </a:rPr>
              <a:t>Then sketch: is multi-agent justified here? One sentence, with a reason.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-2926080"/>
            <a:ext cx="6858000" cy="6858000"/>
          </a:xfrm>
          <a:prstGeom prst="ellipse">
            <a:avLst/>
          </a:prstGeom>
          <a:gradFill rotWithShape="1">
            <a:gsLst>
              <a:gs pos="0">
                <a:srgbClr val="8B5CF6">
                  <a:alpha val="38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108960" y="3657600"/>
            <a:ext cx="6400800" cy="6400800"/>
          </a:xfrm>
          <a:prstGeom prst="ellipse">
            <a:avLst/>
          </a:prstGeom>
          <a:gradFill rotWithShape="1">
            <a:gsLst>
              <a:gs pos="0">
                <a:srgbClr val="22D3EE">
                  <a:alpha val="22000"/>
                </a:srgbClr>
              </a:gs>
              <a:gs pos="100000">
                <a:srgbClr val="22D3E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2D3EE"/>
                </a:solidFill>
                <a:latin typeface="Consolas"/>
              </a:rPr>
              <a:t>DAY 3 TO DAY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7488"/>
                </a:solidFill>
                <a:latin typeface="Consolas"/>
              </a:rPr>
              <a:t>AI for Coders &amp; Software Engineers  |  ENEC 2026  |  Synthetic training material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22D3EE"/>
                </a:solidFill>
                <a:latin typeface="Consolas"/>
              </a:rPr>
              <a:t>22</a:t>
            </a:r>
            <a:r>
              <a:rPr sz="1100">
                <a:solidFill>
                  <a:srgbClr val="5F7488"/>
                </a:solidFill>
                <a:latin typeface="Consolas"/>
              </a:rPr>
              <a:t>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2F7FB"/>
                </a:solidFill>
                <a:latin typeface="Calibri"/>
              </a:rPr>
              <a:t>You now own every piece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9FB4C8"/>
                </a:solidFill>
                <a:latin typeface="Calibri"/>
              </a:rPr>
              <a:t>Tomorrow: integration, traceability, and proving control end to end.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83080"/>
            <a:ext cx="5486400" cy="3200400"/>
          </a:xfrm>
          <a:prstGeom prst="roundRect">
            <a:avLst>
              <a:gd name="adj" fmla="val 3428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911095"/>
            <a:ext cx="54864" cy="38404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11095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Built so far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441448"/>
            <a:ext cx="5102352" cy="2450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10" b="1" i="0">
                <a:solidFill>
                  <a:srgbClr val="34D399"/>
                </a:solidFill>
                <a:latin typeface="Calibri"/>
              </a:rPr>
              <a:t>•  </a:t>
            </a:r>
            <a:r>
              <a:rPr sz="1710" b="0" i="0">
                <a:solidFill>
                  <a:srgbClr val="9FB4C8"/>
                </a:solidFill>
                <a:latin typeface="Calibri"/>
              </a:rPr>
              <a:t>Day 1: Copilot, structured prompts and the data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10" b="1" i="0">
                <a:solidFill>
                  <a:srgbClr val="34D399"/>
                </a:solidFill>
                <a:latin typeface="Calibri"/>
              </a:rPr>
              <a:t>•  </a:t>
            </a:r>
            <a:r>
              <a:rPr sz="1710" b="0" i="0">
                <a:solidFill>
                  <a:srgbClr val="9FB4C8"/>
                </a:solidFill>
                <a:latin typeface="Calibri"/>
              </a:rPr>
              <a:t>Day 2: grounded, cited answers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10" b="1" i="0">
                <a:solidFill>
                  <a:srgbClr val="34D399"/>
                </a:solidFill>
                <a:latin typeface="Calibri"/>
              </a:rPr>
              <a:t>•  </a:t>
            </a:r>
            <a:r>
              <a:rPr sz="1710" b="0" i="0">
                <a:solidFill>
                  <a:srgbClr val="9FB4C8"/>
                </a:solidFill>
                <a:latin typeface="Calibri"/>
              </a:rPr>
              <a:t>Day 3: an agent choosing bounded tools, one of them a decision tree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783080"/>
            <a:ext cx="5486400" cy="3200400"/>
          </a:xfrm>
          <a:prstGeom prst="roundRect">
            <a:avLst>
              <a:gd name="adj" fmla="val 3428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9632" y="1911095"/>
            <a:ext cx="54864" cy="3840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911095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What Day 4 adds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441448"/>
            <a:ext cx="5102352" cy="2450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10" b="1" i="0">
                <a:solidFill>
                  <a:srgbClr val="22D3EE"/>
                </a:solidFill>
                <a:latin typeface="Calibri"/>
              </a:rPr>
              <a:t>•  </a:t>
            </a:r>
            <a:r>
              <a:rPr sz="1710" b="0" i="0">
                <a:solidFill>
                  <a:srgbClr val="9FB4C8"/>
                </a:solidFill>
                <a:latin typeface="Calibri"/>
              </a:rPr>
              <a:t>Very little new theory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10" b="1" i="0">
                <a:solidFill>
                  <a:srgbClr val="22D3EE"/>
                </a:solidFill>
                <a:latin typeface="Calibri"/>
              </a:rPr>
              <a:t>•  </a:t>
            </a:r>
            <a:r>
              <a:rPr sz="1710" b="0" i="0">
                <a:solidFill>
                  <a:srgbClr val="9FB4C8"/>
                </a:solidFill>
                <a:latin typeface="Calibri"/>
              </a:rPr>
              <a:t>One integrated, inspectable workflow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10" b="1" i="0">
                <a:solidFill>
                  <a:srgbClr val="22D3EE"/>
                </a:solidFill>
                <a:latin typeface="Calibri"/>
              </a:rPr>
              <a:t>•  </a:t>
            </a:r>
            <a:r>
              <a:rPr sz="1710" b="0" i="0">
                <a:solidFill>
                  <a:srgbClr val="9FB4C8"/>
                </a:solidFill>
                <a:latin typeface="Calibri"/>
              </a:rPr>
              <a:t>An evidence-backed review briefing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10" b="1" i="0">
                <a:solidFill>
                  <a:srgbClr val="22D3EE"/>
                </a:solidFill>
                <a:latin typeface="Calibri"/>
              </a:rPr>
              <a:t>•  </a:t>
            </a:r>
            <a:r>
              <a:rPr sz="1710" b="0" i="0">
                <a:solidFill>
                  <a:srgbClr val="9FB4C8"/>
                </a:solidFill>
                <a:latin typeface="Calibri"/>
              </a:rPr>
              <a:t>A small app inside Colab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5303520"/>
            <a:ext cx="11183112" cy="530352"/>
          </a:xfrm>
          <a:prstGeom prst="roundRect">
            <a:avLst>
              <a:gd name="adj" fmla="val 17241"/>
            </a:avLst>
          </a:prstGeom>
          <a:solidFill>
            <a:srgbClr val="13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5303520"/>
            <a:ext cx="64008" cy="5303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303520"/>
            <a:ext cx="107899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F2F7FB"/>
                </a:solidFill>
                <a:latin typeface="Calibri"/>
              </a:rPr>
              <a:t>The demo that matters is not the smartest answer. It is the most inspectable run.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-2926080"/>
            <a:ext cx="6858000" cy="6858000"/>
          </a:xfrm>
          <a:prstGeom prst="ellipse">
            <a:avLst/>
          </a:prstGeom>
          <a:gradFill rotWithShape="1">
            <a:gsLst>
              <a:gs pos="0">
                <a:srgbClr val="8B5CF6">
                  <a:alpha val="38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108960" y="3657600"/>
            <a:ext cx="6400800" cy="6400800"/>
          </a:xfrm>
          <a:prstGeom prst="ellipse">
            <a:avLst/>
          </a:prstGeom>
          <a:gradFill rotWithShape="1">
            <a:gsLst>
              <a:gs pos="0">
                <a:srgbClr val="22D3EE">
                  <a:alpha val="22000"/>
                </a:srgbClr>
              </a:gs>
              <a:gs pos="100000">
                <a:srgbClr val="22D3E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2D3EE"/>
                </a:solidFill>
                <a:latin typeface="Consolas"/>
              </a:rPr>
              <a:t>PREPARE FOR THE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7488"/>
                </a:solidFill>
                <a:latin typeface="Consolas"/>
              </a:rPr>
              <a:t>AI for Coders &amp; Software Engineers  |  ENEC 2026  |  Synthetic training material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22D3EE"/>
                </a:solidFill>
                <a:latin typeface="Consolas"/>
              </a:rPr>
              <a:t>23</a:t>
            </a:r>
            <a:r>
              <a:rPr sz="1100">
                <a:solidFill>
                  <a:srgbClr val="5F7488"/>
                </a:solidFill>
                <a:latin typeface="Consolas"/>
              </a:rPr>
              <a:t>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2F7FB"/>
                </a:solidFill>
                <a:latin typeface="Calibri"/>
              </a:rPr>
              <a:t>By Day 4, build one decision aid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9FB4C8"/>
                </a:solidFill>
                <a:latin typeface="Calibri"/>
              </a:rPr>
              <a:t>Start with your job. Design backward from the human decision.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1819656"/>
            <a:ext cx="384048" cy="3840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819656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070B14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19" y="178308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F2F7FB"/>
                </a:solidFill>
                <a:latin typeface="Calibri"/>
              </a:rPr>
              <a:t>What problem?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2688336"/>
            <a:ext cx="384048" cy="3840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688336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070B14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19" y="265176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F2F7FB"/>
                </a:solidFill>
                <a:latin typeface="Calibri"/>
              </a:rPr>
              <a:t>Whose decision?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3557015"/>
            <a:ext cx="384048" cy="3840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557015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070B14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19" y="3520439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F2F7FB"/>
                </a:solidFill>
                <a:latin typeface="Calibri"/>
              </a:rPr>
              <a:t>What value or risk?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" y="4425696"/>
            <a:ext cx="384048" cy="3840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425696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070B14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19" y="438912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F2F7FB"/>
                </a:solidFill>
                <a:latin typeface="Calibri"/>
              </a:rPr>
              <a:t>Which data and documents?</a:t>
            </a:r>
          </a:p>
        </p:txBody>
      </p:sp>
      <p:sp>
        <p:nvSpPr>
          <p:cNvPr id="21" name="Oval 20"/>
          <p:cNvSpPr/>
          <p:nvPr/>
        </p:nvSpPr>
        <p:spPr>
          <a:xfrm>
            <a:off x="6309360" y="1819656"/>
            <a:ext cx="384048" cy="3840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1819656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070B14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178308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F2F7FB"/>
                </a:solidFill>
                <a:latin typeface="Calibri"/>
              </a:rPr>
              <a:t>Which technique?</a:t>
            </a:r>
          </a:p>
        </p:txBody>
      </p:sp>
      <p:sp>
        <p:nvSpPr>
          <p:cNvPr id="24" name="Oval 23"/>
          <p:cNvSpPr/>
          <p:nvPr/>
        </p:nvSpPr>
        <p:spPr>
          <a:xfrm>
            <a:off x="6309360" y="2688336"/>
            <a:ext cx="384048" cy="3840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2688336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070B14"/>
                </a:solidFill>
                <a:latin typeface="Calibri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65176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F2F7FB"/>
                </a:solidFill>
                <a:latin typeface="Calibri"/>
              </a:rPr>
              <a:t>What evidence and test?</a:t>
            </a:r>
          </a:p>
        </p:txBody>
      </p:sp>
      <p:sp>
        <p:nvSpPr>
          <p:cNvPr id="27" name="Oval 26"/>
          <p:cNvSpPr/>
          <p:nvPr/>
        </p:nvSpPr>
        <p:spPr>
          <a:xfrm>
            <a:off x="6309360" y="3557015"/>
            <a:ext cx="384048" cy="3840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3557015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070B14"/>
                </a:solidFill>
                <a:latin typeface="Calibri"/>
              </a:rPr>
              <a:t>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3520439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F2F7FB"/>
                </a:solidFill>
                <a:latin typeface="Calibri"/>
              </a:rPr>
              <a:t>Where does a human approve?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5349240"/>
            <a:ext cx="11183112" cy="530352"/>
          </a:xfrm>
          <a:prstGeom prst="roundRect">
            <a:avLst>
              <a:gd name="adj" fmla="val 17241"/>
            </a:avLst>
          </a:prstGeom>
          <a:solidFill>
            <a:srgbClr val="13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2920" y="5349240"/>
            <a:ext cx="64008" cy="5303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5349240"/>
            <a:ext cx="107899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F2F7FB"/>
                </a:solidFill>
                <a:latin typeface="Calibri"/>
              </a:rPr>
              <a:t>Build something useful. Keep the person in control.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