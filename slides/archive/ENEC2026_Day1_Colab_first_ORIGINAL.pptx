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mean vibration (mm/s)</c:v>
                </c:pt>
              </c:strCache>
            </c:strRef>
          </c:tx>
          <c:spPr>
            <a:ln w="34925">
              <a:solidFill>
                <a:srgbClr val="22D3EE"/>
              </a:solidFill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27 May</c:v>
                </c:pt>
                <c:pt idx="1">
                  <c:v>28 May</c:v>
                </c:pt>
                <c:pt idx="2">
                  <c:v>29 May</c:v>
                </c:pt>
                <c:pt idx="3">
                  <c:v>30 May</c:v>
                </c:pt>
                <c:pt idx="4">
                  <c:v>31 May</c:v>
                </c:pt>
                <c:pt idx="5">
                  <c:v>01 Jun</c:v>
                </c:pt>
                <c:pt idx="6">
                  <c:v>02 Jun</c:v>
                </c:pt>
                <c:pt idx="7">
                  <c:v>03 Jun</c:v>
                </c:pt>
                <c:pt idx="8">
                  <c:v>04 Jun</c:v>
                </c:pt>
                <c:pt idx="9">
                  <c:v>05 Jun</c:v>
                </c:pt>
                <c:pt idx="10">
                  <c:v>06 Jun</c:v>
                </c:pt>
                <c:pt idx="11">
                  <c:v>07 Jun</c:v>
                </c:pt>
                <c:pt idx="12">
                  <c:v>08 Jun</c:v>
                </c:pt>
                <c:pt idx="13">
                  <c:v>09 Jun</c:v>
                </c:pt>
                <c:pt idx="14">
                  <c:v>10 Jun</c:v>
                </c:pt>
                <c:pt idx="15">
                  <c:v>11 Jun</c:v>
                </c:pt>
                <c:pt idx="16">
                  <c:v>12 Jun</c:v>
                </c:pt>
                <c:pt idx="17">
                  <c:v>13 Jun</c:v>
                </c:pt>
                <c:pt idx="18">
                  <c:v>14 Jun</c:v>
                </c:pt>
                <c:pt idx="19">
                  <c:v>15 Jun</c:v>
                </c:pt>
                <c:pt idx="20">
                  <c:v>16 Jun</c:v>
                </c:pt>
                <c:pt idx="21">
                  <c:v>17 Jun</c:v>
                </c:pt>
                <c:pt idx="22">
                  <c:v>18 Jun</c:v>
                </c:pt>
                <c:pt idx="23">
                  <c:v>19 Jun</c:v>
                </c:pt>
                <c:pt idx="24">
                  <c:v>20 Jun</c:v>
                </c:pt>
                <c:pt idx="25">
                  <c:v>21 Jun</c:v>
                </c:pt>
                <c:pt idx="26">
                  <c:v>22 Jun</c:v>
                </c:pt>
                <c:pt idx="27">
                  <c:v>23 Jun</c:v>
                </c:pt>
                <c:pt idx="28">
                  <c:v>24 Jun</c:v>
                </c:pt>
                <c:pt idx="29">
                  <c:v>25 Jun</c:v>
                </c:pt>
                <c:pt idx="30">
                  <c:v>26 Jun</c:v>
                </c:pt>
                <c:pt idx="31">
                  <c:v>27 Jun</c:v>
                </c:pt>
                <c:pt idx="32">
                  <c:v>28 Jun</c:v>
                </c:pt>
                <c:pt idx="33">
                  <c:v>29 Jun</c:v>
                </c:pt>
                <c:pt idx="34">
                  <c:v>30 Jun</c:v>
                </c:pt>
                <c:pt idx="35">
                  <c:v>01 Jul</c:v>
                </c:pt>
                <c:pt idx="36">
                  <c:v>02 Jul</c:v>
                </c:pt>
                <c:pt idx="37">
                  <c:v>03 Jul</c:v>
                </c:pt>
                <c:pt idx="38">
                  <c:v>04 Jul</c:v>
                </c:pt>
                <c:pt idx="39">
                  <c:v>05 Jul</c:v>
                </c:pt>
                <c:pt idx="40">
                  <c:v>06 Jul</c:v>
                </c:pt>
                <c:pt idx="41">
                  <c:v>07 Jul</c:v>
                </c:pt>
                <c:pt idx="42">
                  <c:v>08 Jul</c:v>
                </c:pt>
                <c:pt idx="43">
                  <c:v>09 Jul</c:v>
                </c:pt>
                <c:pt idx="44">
                  <c:v>10 Jul</c:v>
                </c:pt>
                <c:pt idx="45">
                  <c:v>11 Jul</c:v>
                </c:pt>
                <c:pt idx="46">
                  <c:v>12 Jul</c:v>
                </c:pt>
                <c:pt idx="47">
                  <c:v>13 Jul</c:v>
                </c:pt>
                <c:pt idx="48">
                  <c:v>14 Jul</c:v>
                </c:pt>
                <c:pt idx="49">
                  <c:v>15 Jul</c:v>
                </c:pt>
                <c:pt idx="50">
                  <c:v>16 Jul</c:v>
                </c:pt>
                <c:pt idx="51">
                  <c:v>17 Jul</c:v>
                </c:pt>
                <c:pt idx="52">
                  <c:v>18 Jul</c:v>
                </c:pt>
                <c:pt idx="53">
                  <c:v>19 Jul</c:v>
                </c:pt>
                <c:pt idx="54">
                  <c:v>20 Jul</c:v>
                </c:pt>
                <c:pt idx="55">
                  <c:v>21 Jul</c:v>
                </c:pt>
                <c:pt idx="56">
                  <c:v>22 Jul</c:v>
                </c:pt>
                <c:pt idx="57">
                  <c:v>23 Jul</c:v>
                </c:pt>
                <c:pt idx="58">
                  <c:v>24 Jul</c:v>
                </c:pt>
                <c:pt idx="59">
                  <c:v>25 Jul</c:v>
                </c:pt>
                <c:pt idx="60">
                  <c:v>26 Jul</c:v>
                </c:pt>
                <c:pt idx="61">
                  <c:v>27 Jul</c:v>
                </c:pt>
                <c:pt idx="62">
                  <c:v>28 Jul</c:v>
                </c:pt>
                <c:pt idx="63">
                  <c:v>29 Jul</c:v>
                </c:pt>
                <c:pt idx="64">
                  <c:v>30 Jul</c:v>
                </c:pt>
                <c:pt idx="65">
                  <c:v>31 Jul</c:v>
                </c:pt>
                <c:pt idx="66">
                  <c:v>01 Aug</c:v>
                </c:pt>
                <c:pt idx="67">
                  <c:v>02 Aug</c:v>
                </c:pt>
                <c:pt idx="68">
                  <c:v>03 Aug</c:v>
                </c:pt>
                <c:pt idx="69">
                  <c:v>04 Aug</c:v>
                </c:pt>
                <c:pt idx="70">
                  <c:v>05 Aug</c:v>
                </c:pt>
                <c:pt idx="71">
                  <c:v>06 Aug</c:v>
                </c:pt>
                <c:pt idx="72">
                  <c:v>07 Aug</c:v>
                </c:pt>
                <c:pt idx="73">
                  <c:v>08 Aug</c:v>
                </c:pt>
                <c:pt idx="74">
                  <c:v>09 Aug</c:v>
                </c:pt>
                <c:pt idx="75">
                  <c:v>10 Aug</c:v>
                </c:pt>
                <c:pt idx="76">
                  <c:v>11 Aug</c:v>
                </c:pt>
                <c:pt idx="77">
                  <c:v>12 Aug</c:v>
                </c:pt>
                <c:pt idx="78">
                  <c:v>13 Aug</c:v>
                </c:pt>
                <c:pt idx="79">
                  <c:v>14 Aug</c:v>
                </c:pt>
                <c:pt idx="80">
                  <c:v>15 Aug</c:v>
                </c:pt>
                <c:pt idx="81">
                  <c:v>16 Aug</c:v>
                </c:pt>
                <c:pt idx="82">
                  <c:v>17 Aug</c:v>
                </c:pt>
                <c:pt idx="83">
                  <c:v>18 Aug</c:v>
                </c:pt>
                <c:pt idx="84">
                  <c:v>19 Aug</c:v>
                </c:pt>
                <c:pt idx="85">
                  <c:v>20 Aug</c:v>
                </c:pt>
                <c:pt idx="86">
                  <c:v>21 Aug</c:v>
                </c:pt>
                <c:pt idx="87">
                  <c:v>22 Aug</c:v>
                </c:pt>
                <c:pt idx="88">
                  <c:v>23 Aug</c:v>
                </c:pt>
                <c:pt idx="89">
                  <c:v>24 Aug</c:v>
                </c:pt>
                <c:pt idx="90">
                  <c:v>25 Aug</c:v>
                </c:pt>
              </c:strCache>
            </c:strRef>
          </c:cat>
          <c:val>
            <c:numRef>
              <c:f>Sheet1!$B$2:$B$92</c:f>
              <c:numCache>
                <c:formatCode>General</c:formatCode>
                <c:ptCount val="91"/>
                <c:pt idx="0">
                  <c:v>1.33</c:v>
                </c:pt>
                <c:pt idx="1">
                  <c:v>1.33</c:v>
                </c:pt>
                <c:pt idx="2">
                  <c:v>1.36</c:v>
                </c:pt>
                <c:pt idx="3">
                  <c:v>1.5</c:v>
                </c:pt>
                <c:pt idx="4">
                  <c:v>1.49</c:v>
                </c:pt>
                <c:pt idx="5">
                  <c:v>1.46</c:v>
                </c:pt>
                <c:pt idx="6">
                  <c:v>1.43</c:v>
                </c:pt>
                <c:pt idx="7">
                  <c:v>1.49</c:v>
                </c:pt>
                <c:pt idx="8">
                  <c:v>1.46</c:v>
                </c:pt>
                <c:pt idx="9">
                  <c:v>1.44</c:v>
                </c:pt>
                <c:pt idx="10">
                  <c:v>1.41</c:v>
                </c:pt>
                <c:pt idx="11">
                  <c:v>1.41</c:v>
                </c:pt>
                <c:pt idx="12">
                  <c:v>1.54</c:v>
                </c:pt>
                <c:pt idx="13">
                  <c:v>1.5</c:v>
                </c:pt>
                <c:pt idx="14">
                  <c:v>1.61</c:v>
                </c:pt>
                <c:pt idx="15">
                  <c:v>1.54</c:v>
                </c:pt>
                <c:pt idx="16">
                  <c:v>1.46</c:v>
                </c:pt>
                <c:pt idx="17">
                  <c:v>1.4</c:v>
                </c:pt>
                <c:pt idx="18">
                  <c:v>1.36</c:v>
                </c:pt>
                <c:pt idx="19">
                  <c:v>1.53</c:v>
                </c:pt>
                <c:pt idx="20">
                  <c:v>1.43</c:v>
                </c:pt>
                <c:pt idx="21">
                  <c:v>1.5</c:v>
                </c:pt>
                <c:pt idx="22">
                  <c:v>1.46</c:v>
                </c:pt>
                <c:pt idx="23">
                  <c:v>1.44</c:v>
                </c:pt>
                <c:pt idx="24">
                  <c:v>1.38</c:v>
                </c:pt>
                <c:pt idx="25">
                  <c:v>1.54</c:v>
                </c:pt>
                <c:pt idx="26">
                  <c:v>1.34</c:v>
                </c:pt>
                <c:pt idx="27">
                  <c:v>1.45</c:v>
                </c:pt>
                <c:pt idx="28">
                  <c:v>1.47</c:v>
                </c:pt>
                <c:pt idx="29">
                  <c:v>1.5</c:v>
                </c:pt>
                <c:pt idx="30">
                  <c:v>1.46</c:v>
                </c:pt>
                <c:pt idx="31">
                  <c:v>1.32</c:v>
                </c:pt>
                <c:pt idx="32">
                  <c:v>1.34</c:v>
                </c:pt>
                <c:pt idx="33">
                  <c:v>1.6</c:v>
                </c:pt>
                <c:pt idx="34">
                  <c:v>1.47</c:v>
                </c:pt>
                <c:pt idx="35">
                  <c:v>1.45</c:v>
                </c:pt>
                <c:pt idx="36">
                  <c:v>1.44</c:v>
                </c:pt>
                <c:pt idx="37">
                  <c:v>1.52</c:v>
                </c:pt>
                <c:pt idx="38">
                  <c:v>1.61</c:v>
                </c:pt>
                <c:pt idx="39">
                  <c:v>1.48</c:v>
                </c:pt>
                <c:pt idx="40">
                  <c:v>1.49</c:v>
                </c:pt>
                <c:pt idx="41">
                  <c:v>1.43</c:v>
                </c:pt>
                <c:pt idx="42">
                  <c:v>1.46</c:v>
                </c:pt>
                <c:pt idx="43">
                  <c:v>1.31</c:v>
                </c:pt>
                <c:pt idx="44">
                  <c:v>1.4</c:v>
                </c:pt>
                <c:pt idx="45">
                  <c:v>1.56</c:v>
                </c:pt>
                <c:pt idx="46">
                  <c:v>1.37</c:v>
                </c:pt>
                <c:pt idx="47">
                  <c:v>1.44</c:v>
                </c:pt>
                <c:pt idx="48">
                  <c:v>1.38</c:v>
                </c:pt>
                <c:pt idx="49">
                  <c:v>1.41</c:v>
                </c:pt>
                <c:pt idx="50">
                  <c:v>1.36</c:v>
                </c:pt>
                <c:pt idx="51">
                  <c:v>1.36</c:v>
                </c:pt>
                <c:pt idx="52">
                  <c:v>1.38</c:v>
                </c:pt>
                <c:pt idx="53">
                  <c:v>1.49</c:v>
                </c:pt>
                <c:pt idx="54">
                  <c:v>1.54</c:v>
                </c:pt>
                <c:pt idx="55">
                  <c:v>1.35</c:v>
                </c:pt>
                <c:pt idx="56">
                  <c:v>1.47</c:v>
                </c:pt>
                <c:pt idx="57">
                  <c:v>1.8</c:v>
                </c:pt>
                <c:pt idx="58">
                  <c:v>1.91</c:v>
                </c:pt>
                <c:pt idx="59">
                  <c:v>1.84</c:v>
                </c:pt>
                <c:pt idx="60">
                  <c:v>1.99</c:v>
                </c:pt>
                <c:pt idx="61">
                  <c:v>2.28</c:v>
                </c:pt>
                <c:pt idx="62">
                  <c:v>2.36</c:v>
                </c:pt>
                <c:pt idx="63">
                  <c:v>2.34</c:v>
                </c:pt>
                <c:pt idx="64">
                  <c:v>2.48</c:v>
                </c:pt>
                <c:pt idx="65">
                  <c:v>2.65</c:v>
                </c:pt>
                <c:pt idx="66">
                  <c:v>2.85</c:v>
                </c:pt>
                <c:pt idx="67">
                  <c:v>2.85</c:v>
                </c:pt>
                <c:pt idx="68">
                  <c:v>3.01</c:v>
                </c:pt>
                <c:pt idx="69">
                  <c:v>3.11</c:v>
                </c:pt>
                <c:pt idx="70">
                  <c:v>3.38</c:v>
                </c:pt>
                <c:pt idx="71">
                  <c:v>3.23</c:v>
                </c:pt>
                <c:pt idx="72">
                  <c:v>3.46</c:v>
                </c:pt>
                <c:pt idx="73">
                  <c:v>3.55</c:v>
                </c:pt>
                <c:pt idx="74">
                  <c:v>3.85</c:v>
                </c:pt>
                <c:pt idx="75">
                  <c:v>3.76</c:v>
                </c:pt>
                <c:pt idx="76">
                  <c:v>3.99</c:v>
                </c:pt>
                <c:pt idx="77">
                  <c:v>4.06</c:v>
                </c:pt>
                <c:pt idx="78">
                  <c:v>4.26</c:v>
                </c:pt>
                <c:pt idx="79">
                  <c:v>4.24</c:v>
                </c:pt>
                <c:pt idx="80">
                  <c:v>4.47</c:v>
                </c:pt>
                <c:pt idx="81">
                  <c:v>4.71</c:v>
                </c:pt>
                <c:pt idx="82">
                  <c:v>4.83</c:v>
                </c:pt>
                <c:pt idx="83">
                  <c:v>4.93</c:v>
                </c:pt>
                <c:pt idx="84">
                  <c:v>4.96</c:v>
                </c:pt>
                <c:pt idx="85">
                  <c:v>5.12</c:v>
                </c:pt>
                <c:pt idx="86">
                  <c:v>5.18</c:v>
                </c:pt>
                <c:pt idx="87">
                  <c:v>5.36</c:v>
                </c:pt>
                <c:pt idx="88">
                  <c:v>5.43</c:v>
                </c:pt>
                <c:pt idx="89">
                  <c:v>5.62</c:v>
                </c:pt>
                <c:pt idx="90">
                  <c:v>5.5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6324A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  <c:tickLblSkip val="14"/>
        <c:tickMarkSkip val="14"/>
      </c:catAx>
      <c:valAx>
        <c:axId val="2140495176"/>
        <c:scaling/>
        <c:delete val="0"/>
        <c:axPos val="l"/>
        <c:majorGridlines>
          <c:spPr>
            <a:ln>
              <a:solidFill>
                <a:srgbClr val="26324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9FB4C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MAE (mm/s)</c:v>
                </c:pt>
              </c:strCache>
            </c:strRef>
          </c:tx>
          <c:dPt>
            <c:idx val="0"/>
            <c:spPr>
              <a:solidFill>
                <a:srgbClr val="F5A623"/>
              </a:solidFill>
            </c:spPr>
          </c:dPt>
          <c:dPt>
            <c:idx val="1"/>
            <c:spPr>
              <a:solidFill>
                <a:srgbClr val="22D3EE"/>
              </a:solidFill>
            </c:spPr>
          </c:dPt>
          <c:cat>
            <c:strRef>
              <c:f>Sheet1!$A$2:$A$3</c:f>
              <c:strCache>
                <c:ptCount val="2"/>
                <c:pt idx="0">
                  <c:v>Repeat last day (baseline)</c:v>
                </c:pt>
                <c:pt idx="1">
                  <c:v>Ridge model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0.406</c:v>
                </c:pt>
                <c:pt idx="1">
                  <c:v>0.355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400" b="1">
                  <a:solidFill>
                    <a:srgbClr val="F2F7F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6324A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26324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9FB4C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-1828800"/>
            <a:ext cx="8686800" cy="8686800"/>
          </a:xfrm>
          <a:prstGeom prst="ellipse">
            <a:avLst/>
          </a:prstGeom>
          <a:gradFill rotWithShape="1">
            <a:gsLst>
              <a:gs pos="0">
                <a:srgbClr val="8B5CF6">
                  <a:alpha val="45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22D3EE"/>
                </a:solidFill>
                <a:latin typeface="Consolas"/>
              </a:rPr>
              <a:t>DAY 1  |  AI FOR CODERS &amp; SOFTWARE ENGINEERS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8412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000" b="1" i="0">
                <a:solidFill>
                  <a:srgbClr val="F2F7FB"/>
                </a:solidFill>
                <a:latin typeface="Calibri"/>
              </a:rPr>
              <a:t>Colab, Enterprise Data</a:t>
            </a:r>
          </a:p>
          <a:p>
            <a:pPr algn="l">
              <a:lnSpc>
                <a:spcPct val="95000"/>
              </a:lnSpc>
            </a:pPr>
            <a:r>
              <a:rPr sz="5000" b="1" i="0">
                <a:solidFill>
                  <a:srgbClr val="F2F7FB"/>
                </a:solidFill>
                <a:latin typeface="Calibri"/>
              </a:rPr>
              <a:t>&amp;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9FB4C8"/>
                </a:solidFill>
                <a:latin typeface="Calibri"/>
              </a:rPr>
              <a:t>From a table of sensor readings to an honest forecast.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4434840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343400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2F7FB"/>
                </a:solidFill>
                <a:latin typeface="Calibri"/>
              </a:rPr>
              <a:t>Four-day applied enterprise AI programme, one scenario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818888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727448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2F7FB"/>
                </a:solidFill>
                <a:latin typeface="Calibri"/>
              </a:rPr>
              <a:t>Hands-on in Google Colab, with your own OpenAI key in Secrets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5202936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5111496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2F7FB"/>
                </a:solidFill>
                <a:latin typeface="Calibri"/>
              </a:rPr>
              <a:t>Prompting, SQL, anomaly flags and a 7-day vibration forecast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5586983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5495544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2F7FB"/>
                </a:solidFill>
                <a:latin typeface="Calibri"/>
              </a:rPr>
              <a:t>Today builds the data foundation for RAG and agents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600200"/>
            <a:ext cx="2606040" cy="3200400"/>
          </a:xfrm>
          <a:prstGeom prst="roundRect">
            <a:avLst>
              <a:gd name="adj" fmla="val 7017"/>
            </a:avLst>
          </a:prstGeom>
          <a:solidFill>
            <a:srgbClr val="0F1626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7830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200">
                <a:solidFill>
                  <a:srgbClr val="22D3EE"/>
                </a:solidFill>
                <a:latin typeface="Consolas"/>
              </a:rPr>
              <a:t>ASSET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10312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2F7FB"/>
                </a:solidFill>
                <a:latin typeface="Calibri"/>
              </a:rPr>
              <a:t>A-001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9718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9FB4C8"/>
                </a:solidFill>
                <a:latin typeface="Calibri"/>
              </a:rPr>
              <a:t>Cooling-water pump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64040" y="3474720"/>
            <a:ext cx="1783080" cy="18288"/>
          </a:xfrm>
          <a:prstGeom prst="rect">
            <a:avLst/>
          </a:prstGeom>
          <a:solidFill>
            <a:srgbClr val="26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6118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FB4C8"/>
                </a:solidFill>
                <a:latin typeface="Calibri"/>
              </a:rPr>
              <a:t>Synthetic scenario</a:t>
            </a:r>
          </a:p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FB4C8"/>
                </a:solidFill>
                <a:latin typeface="Calibri"/>
              </a:rPr>
              <a:t>Colab + OpenAI only</a:t>
            </a:r>
          </a:p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FB4C8"/>
                </a:solidFill>
                <a:latin typeface="Calibri"/>
              </a:rPr>
              <a:t>Nothing to install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7488"/>
                </a:solidFill>
                <a:latin typeface="Consolas"/>
              </a:rPr>
              <a:t>Instructor: Mohammad Arshad Ahmed   |   github.com/Decoding-Data-Science/enec2026oct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ICEBREAKER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02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What do you want to build by Day 4?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Keep your answer. We will revisit it at the end of the programme.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1183112" cy="1188720"/>
          </a:xfrm>
          <a:prstGeom prst="roundRect">
            <a:avLst>
              <a:gd name="adj" fmla="val 7692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F2F7FB"/>
                </a:solidFill>
                <a:latin typeface="Calibri"/>
              </a:rPr>
              <a:t>What is one AI capability you would love to build or use confidently by Day 4?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4612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374136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37413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Then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904487"/>
            <a:ext cx="5102352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16-day ENEC deep dive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First cohort completed, January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324612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3374136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7413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04487"/>
            <a:ext cx="5102352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3.5 days of accelerated learning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Plus a final half-day team capstone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2356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62356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62356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Beginner or expert, everyone learns. Practical, hands-on, high-energy.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THE 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03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One asset. Four days. One application.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Each day adds one layer to the same A-001 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002536" cy="1417320"/>
          </a:xfrm>
          <a:prstGeom prst="roundRect">
            <a:avLst>
              <a:gd name="adj" fmla="val 6451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A-001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95144"/>
            <a:ext cx="18196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one pump,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one story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23744" y="2372868"/>
            <a:ext cx="256032" cy="237744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98064" y="1783080"/>
            <a:ext cx="2002536" cy="1417320"/>
          </a:xfrm>
          <a:prstGeom prst="roundRect">
            <a:avLst>
              <a:gd name="adj" fmla="val 6451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4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Data +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4" y="2295144"/>
            <a:ext cx="18196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Day 1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prompts, SQL,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forecast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18888" y="2372868"/>
            <a:ext cx="256032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93208" y="1783080"/>
            <a:ext cx="2002536" cy="1417320"/>
          </a:xfrm>
          <a:prstGeom prst="roundRect">
            <a:avLst>
              <a:gd name="adj" fmla="val 6451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GenAI +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295144"/>
            <a:ext cx="18196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Day 2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cited answers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14032" y="2372868"/>
            <a:ext cx="256032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88352" y="1783080"/>
            <a:ext cx="2002536" cy="1417320"/>
          </a:xfrm>
          <a:prstGeom prst="roundRect">
            <a:avLst>
              <a:gd name="adj" fmla="val 6451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2295144"/>
            <a:ext cx="18196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Day 3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bounded tools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09176" y="2372868"/>
            <a:ext cx="256032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83496" y="1783080"/>
            <a:ext cx="2002536" cy="1417320"/>
          </a:xfrm>
          <a:prstGeom prst="roundRect">
            <a:avLst>
              <a:gd name="adj" fmla="val 6451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4936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Capstone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6" y="2295144"/>
            <a:ext cx="18196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Day 4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briefing + app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38328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511296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351129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The five questions we repeat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4041648"/>
            <a:ext cx="5102352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90" b="0" i="0">
                <a:solidFill>
                  <a:srgbClr val="9FB4C8"/>
                </a:solidFill>
                <a:latin typeface="Calibri"/>
              </a:rPr>
              <a:t>1  What do we know from the data?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90" b="0" i="0">
                <a:solidFill>
                  <a:srgbClr val="9FB4C8"/>
                </a:solidFill>
                <a:latin typeface="Calibri"/>
              </a:rPr>
              <a:t>2  What can we predict?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90" b="0" i="0">
                <a:solidFill>
                  <a:srgbClr val="9FB4C8"/>
                </a:solidFill>
                <a:latin typeface="Calibri"/>
              </a:rPr>
              <a:t>3  What does the organisation know?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90" b="0" i="0">
                <a:solidFill>
                  <a:srgbClr val="9FB4C8"/>
                </a:solidFill>
                <a:latin typeface="Calibri"/>
              </a:rPr>
              <a:t>4  What should the AI application do with it?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90" b="0" i="0">
                <a:solidFill>
                  <a:srgbClr val="9FB4C8"/>
                </a:solidFill>
                <a:latin typeface="Calibri"/>
              </a:rPr>
              <a:t>5  Where must a human remain responsible?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383280"/>
            <a:ext cx="5513832" cy="2286000"/>
          </a:xfrm>
          <a:prstGeom prst="roundRect">
            <a:avLst>
              <a:gd name="adj" fmla="val 48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3511296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3511296"/>
            <a:ext cx="5148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Teaching rhythm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4041648"/>
            <a:ext cx="5129784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90" b="1" i="0">
                <a:solidFill>
                  <a:srgbClr val="F5A623"/>
                </a:solidFill>
                <a:latin typeface="Calibri"/>
              </a:rPr>
              <a:t>WHY  </a:t>
            </a:r>
            <a:r>
              <a:rPr sz="1490" b="0" i="0">
                <a:solidFill>
                  <a:srgbClr val="9FB4C8"/>
                </a:solidFill>
                <a:latin typeface="Calibri"/>
              </a:rPr>
              <a:t>the enterprise problem first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90" b="1" i="0">
                <a:solidFill>
                  <a:srgbClr val="F5A623"/>
                </a:solidFill>
                <a:latin typeface="Calibri"/>
              </a:rPr>
              <a:t>WHAT  </a:t>
            </a:r>
            <a:r>
              <a:rPr sz="1490" b="0" i="0">
                <a:solidFill>
                  <a:srgbClr val="9FB4C8"/>
                </a:solidFill>
                <a:latin typeface="Calibri"/>
              </a:rPr>
              <a:t>the new capability, smallest working version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90" b="1" i="0">
                <a:solidFill>
                  <a:srgbClr val="F5A623"/>
                </a:solidFill>
                <a:latin typeface="Calibri"/>
              </a:rPr>
              <a:t>HOW  </a:t>
            </a:r>
            <a:r>
              <a:rPr sz="1490" b="0" i="0">
                <a:solidFill>
                  <a:srgbClr val="9FB4C8"/>
                </a:solidFill>
                <a:latin typeface="Calibri"/>
              </a:rPr>
              <a:t>hands-on in the Colab notebook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90" b="1" i="0">
                <a:solidFill>
                  <a:srgbClr val="F5A623"/>
                </a:solidFill>
                <a:latin typeface="Calibri"/>
              </a:rPr>
              <a:t>SO WHAT  </a:t>
            </a:r>
            <a:r>
              <a:rPr sz="1490" b="0" i="0">
                <a:solidFill>
                  <a:srgbClr val="9FB4C8"/>
                </a:solidFill>
                <a:latin typeface="Calibri"/>
              </a:rPr>
              <a:t>what it proves, and what it does not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80644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80644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The technology changes every day. The A-001 story stays the same.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THE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04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Meet A-001: our single enterprise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One synthetic cooling-water pump carries every exercise in the programme.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4206240" cy="3931920"/>
          </a:xfrm>
          <a:prstGeom prst="roundRect">
            <a:avLst>
              <a:gd name="adj" fmla="val 279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65376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865376"/>
            <a:ext cx="38404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22D3EE"/>
                </a:solidFill>
                <a:latin typeface="Consolas"/>
              </a:rPr>
              <a:t>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103120"/>
            <a:ext cx="38404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Structured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560320"/>
            <a:ext cx="3822191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Asset master and system context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Hourly sensor readings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Asset health scores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Work orders, inspections, maintenance history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Projects, risks and document links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Open work: 6 orders, 3 high priority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Health score: 68.05, risk MEDIUM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937760" y="1737360"/>
          <a:ext cx="6748272" cy="39319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48640"/>
                <a:gridCol w="4206240"/>
                <a:gridCol w="1993392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3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#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Document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Status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Reliability &amp; Escalation Policy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34D399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Operating &amp; Usage Guide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34D399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Inspection Procedure V1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87171"/>
                          </a:solidFill>
                          <a:latin typeface="Calibri"/>
                        </a:rPr>
                        <a:t>SUPERSEDED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Inspection &amp; PM Procedure V2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34D399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Inspection Procedure V3D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5A623"/>
                          </a:solidFill>
                          <a:latin typeface="Calibri"/>
                        </a:rPr>
                        <a:t>DRAFT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06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Troubleshooting &amp; Diagnostic Guide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34D399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07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Condition Monitoring Report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34D399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08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Inspection Work Order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5A623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09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Field Condition Report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34D399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02920" y="580644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580644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80644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Tables give structured facts. Documents give organisational knowledge. Neither replaces the other.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ENTERPRISE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05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The Asset 360 data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A deliberately small slice: every table loads in seconds, in your own Colab session.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91640"/>
          <a:ext cx="11183112" cy="362102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937760"/>
                <a:gridCol w="2011680"/>
                <a:gridCol w="4233672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3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Table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Rows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Teaching use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assets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Asset master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asset_360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One-row-per-asset summary view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a001_sensor_hourly_90d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2,160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Last 90 days of hourly A-001 sensor data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a001_event_timeline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What happened, in order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a001_asset_health_scores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Condition over time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work_orders / inspections / maintenance_history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1,500 / 600 / 900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Operational response and evidence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a001_project_risk_360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Risks and project context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a001_source_documents / a001_document_evidence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9 / 18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Document register and links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48640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48640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48640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Know the grain of every table before you query it: one asset, one hour, one event, one document.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5332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4C8"/>
                </a:solidFill>
                <a:latin typeface="Calibri"/>
              </a:rPr>
              <a:t>Same data as Excel Tables for Copilot: asset_360.xlsx and project_360.xlsx in the repo (data/excel).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THE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06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Start with the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Then choose the data, architecture and technique.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440680" cy="1051560"/>
          </a:xfrm>
          <a:prstGeom prst="roundRect">
            <a:avLst>
              <a:gd name="adj" fmla="val 8695"/>
            </a:avLst>
          </a:prstGeom>
          <a:solidFill>
            <a:srgbClr val="0F1626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onsolas"/>
              </a:rPr>
              <a:t>NOT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2F7FB"/>
                </a:solidFill>
                <a:latin typeface="Calibri"/>
              </a:rPr>
              <a:t>"Where can we put an LLM?"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783080"/>
            <a:ext cx="5440680" cy="1051560"/>
          </a:xfrm>
          <a:prstGeom prst="roundRect">
            <a:avLst>
              <a:gd name="adj" fmla="val 8695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87451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onsolas"/>
              </a:rPr>
              <a:t>INSTEAD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1945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2F7FB"/>
                </a:solidFill>
                <a:latin typeface="Calibri"/>
              </a:rPr>
              <a:t>"Which decision or risk are we improving?"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91840"/>
            <a:ext cx="1401644" cy="822960"/>
          </a:xfrm>
          <a:prstGeom prst="roundRect">
            <a:avLst>
              <a:gd name="adj" fmla="val 11111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83280"/>
            <a:ext cx="12187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2F7FB"/>
                </a:solidFill>
                <a:latin typeface="Calibri"/>
              </a:rPr>
              <a:t>Problem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922852" y="3584448"/>
            <a:ext cx="192024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133164" y="3291840"/>
            <a:ext cx="1401644" cy="822960"/>
          </a:xfrm>
          <a:prstGeom prst="roundRect">
            <a:avLst>
              <a:gd name="adj" fmla="val 11111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24604" y="3383280"/>
            <a:ext cx="12187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2F7FB"/>
                </a:solidFill>
                <a:latin typeface="Calibri"/>
              </a:rPr>
              <a:t>Value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553097" y="3584448"/>
            <a:ext cx="192024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763409" y="3291840"/>
            <a:ext cx="1401644" cy="822960"/>
          </a:xfrm>
          <a:prstGeom prst="roundRect">
            <a:avLst>
              <a:gd name="adj" fmla="val 11111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54849" y="3383280"/>
            <a:ext cx="12187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2F7FB"/>
                </a:solidFill>
                <a:latin typeface="Calibri"/>
              </a:rPr>
              <a:t>Data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183341" y="3584448"/>
            <a:ext cx="192024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393653" y="3291840"/>
            <a:ext cx="1401644" cy="822960"/>
          </a:xfrm>
          <a:prstGeom prst="roundRect">
            <a:avLst>
              <a:gd name="adj" fmla="val 11111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5093" y="3383280"/>
            <a:ext cx="12187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2F7FB"/>
                </a:solidFill>
                <a:latin typeface="Calibri"/>
              </a:rPr>
              <a:t>Architecture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813586" y="3584448"/>
            <a:ext cx="192024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23898" y="3291840"/>
            <a:ext cx="1401644" cy="822960"/>
          </a:xfrm>
          <a:prstGeom prst="roundRect">
            <a:avLst>
              <a:gd name="adj" fmla="val 11111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5338" y="3383280"/>
            <a:ext cx="12187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2F7FB"/>
                </a:solidFill>
                <a:latin typeface="Calibri"/>
              </a:rPr>
              <a:t>Technique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443830" y="3584448"/>
            <a:ext cx="192024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54142" y="3291840"/>
            <a:ext cx="1401644" cy="822960"/>
          </a:xfrm>
          <a:prstGeom prst="roundRect">
            <a:avLst>
              <a:gd name="adj" fmla="val 11111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45582" y="3383280"/>
            <a:ext cx="12187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2F7FB"/>
                </a:solidFill>
                <a:latin typeface="Calibri"/>
              </a:rPr>
              <a:t>Application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0074075" y="3584448"/>
            <a:ext cx="192024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284387" y="3291840"/>
            <a:ext cx="1401644" cy="822960"/>
          </a:xfrm>
          <a:prstGeom prst="roundRect">
            <a:avLst>
              <a:gd name="adj" fmla="val 11111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75827" y="3383280"/>
            <a:ext cx="12187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2F7FB"/>
                </a:solidFill>
                <a:latin typeface="Calibri"/>
              </a:rPr>
              <a:t>Human decision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343400"/>
            <a:ext cx="5486400" cy="1280160"/>
          </a:xfrm>
          <a:prstGeom prst="roundRect">
            <a:avLst>
              <a:gd name="adj" fmla="val 8571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4471416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447141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How the last cohort was judged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" y="5257800"/>
            <a:ext cx="5102352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Idea /10 and Plan /10: both counted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9632" y="4343400"/>
            <a:ext cx="5486400" cy="1280160"/>
          </a:xfrm>
          <a:prstGeom prst="roundRect">
            <a:avLst>
              <a:gd name="adj" fmla="val 8571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99632" y="4471416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47141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Four capstones, four questions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257800"/>
            <a:ext cx="5102352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Vendors, workload, OT cyber, suppliers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80644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580644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80644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The system prepares evidence. People remain accountable.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CHOOSE THE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07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Same asset. Different questions.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Forecast and optimise first. Agents gather evidence within bounds.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83112" cy="3657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840480"/>
                <a:gridCol w="3657600"/>
                <a:gridCol w="368503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The question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The technique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Where in this programme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What happened?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SQL / analytics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Day 1, notebook 2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What next?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Forecasting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Day 1, notebook 3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Is this unusual?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Anomaly detection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Day 1, notebook 3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What kind / how much?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Classification / regression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Day 1, notebook 3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What is the best plan?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Optimisation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Capstone idea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What does policy say?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Governed RAG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Day 2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Gather the evidence?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Bounded agent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Day 3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71500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Use the simplest technique that answers the question. An agent is the last resort, not the first.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08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Google Colab: a simple mental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Five words you can navigate by: notebook, runtime, files, secrets,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002536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Notebook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95144"/>
            <a:ext cx="18196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cells of text,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SQL and Python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23744" y="2350008"/>
            <a:ext cx="256032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98064" y="1783080"/>
            <a:ext cx="2002536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4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4" y="2295144"/>
            <a:ext cx="18196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where the code runs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(a temporary VM)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18888" y="2350008"/>
            <a:ext cx="256032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93208" y="1783080"/>
            <a:ext cx="2002536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295144"/>
            <a:ext cx="18196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data and documents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cloned from GitHub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14032" y="2350008"/>
            <a:ext cx="256032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88352" y="1783080"/>
            <a:ext cx="2002536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Secrets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2295144"/>
            <a:ext cx="18196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your OpenAI key,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never in code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09176" y="2350008"/>
            <a:ext cx="256032" cy="237744"/>
          </a:xfrm>
          <a:prstGeom prst="rightArrow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83496" y="1783080"/>
            <a:ext cx="2002536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4936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6" y="2295144"/>
            <a:ext cx="18196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insight, chart,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forecast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47472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602736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360273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What to remember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4133087"/>
            <a:ext cx="5102352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The session is temporary: close it and files are gone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Re-running from the top rebuilds everything in about a minute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Download or save to Drive anything you want to keep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347472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3602736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60273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What this setup does not need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133087"/>
            <a:ext cx="5102352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No workspace, cluster or storage administration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No large file downloads: the data is a small slice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No hosting account: everything runs in the notebook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80644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80644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If you can say where code runs and where data lives, you can navigate Colab.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HANDS-ON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09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From zero to ready in five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The first notebook does the heavy lifting. Run cells top to bottom with Shift + Enter.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2002536" cy="1325880"/>
          </a:xfrm>
          <a:prstGeom prst="roundRect">
            <a:avLst>
              <a:gd name="adj" fmla="val 6896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Open Colab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49424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colab.research.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google.com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23744" y="2281428"/>
            <a:ext cx="256032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98064" y="1737360"/>
            <a:ext cx="2002536" cy="1325880"/>
          </a:xfrm>
          <a:prstGeom prst="roundRect">
            <a:avLst>
              <a:gd name="adj" fmla="val 6896"/>
            </a:avLst>
          </a:prstGeom>
          <a:solidFill>
            <a:srgbClr val="0F1626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4" y="182880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Add the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4" y="2249424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Secrets panel: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OPENAI_API_KEY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18888" y="2281428"/>
            <a:ext cx="256032" cy="237744"/>
          </a:xfrm>
          <a:prstGeom prst="rightArrow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93208" y="1737360"/>
            <a:ext cx="2002536" cy="1325880"/>
          </a:xfrm>
          <a:prstGeom prst="roundRect">
            <a:avLst>
              <a:gd name="adj" fmla="val 6896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182880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Open notebook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249424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from the README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link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14032" y="2281428"/>
            <a:ext cx="256032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88352" y="1737360"/>
            <a:ext cx="2002536" cy="1325880"/>
          </a:xfrm>
          <a:prstGeom prst="roundRect">
            <a:avLst>
              <a:gd name="adj" fmla="val 6896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182880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Run setup cells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2432304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install, clone,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load tables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09176" y="2281428"/>
            <a:ext cx="256032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83496" y="1737360"/>
            <a:ext cx="2002536" cy="1325880"/>
          </a:xfrm>
          <a:prstGeom prst="roundRect">
            <a:avLst>
              <a:gd name="adj" fmla="val 6896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4936" y="182880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6" y="2249424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A-001 found,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model picked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38328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050810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47472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22D3EE"/>
                </a:solidFill>
                <a:latin typeface="Consolas"/>
              </a:rPr>
              <a:t>READY WHEN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3730752"/>
            <a:ext cx="508406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[x] OpenAI key found in Colab Secrets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[x] A model is selected from the fallback list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[x] Tables loaded (12)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[x] A-001 found in asset_360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[x] Documents found (9)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2" y="338328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9632" y="3511296"/>
            <a:ext cx="54864" cy="3840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51129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Rules for the 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41648"/>
            <a:ext cx="5102352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Add it once; turn Notebook access ON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Never type it into a code cell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If it may have leaked, revoke 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80644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580644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80644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Do not explain every line of setup code. Explain the purpose of each section, then move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PROMPTING, ON REAL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10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Prompt on the data, not on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Notebook 1 replaces the prompt-engineering slides: six experiments on real A-001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3611880" cy="1783080"/>
          </a:xfrm>
          <a:prstGeom prst="roundRect">
            <a:avLst>
              <a:gd name="adj" fmla="val 6153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1  Ask without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3227832" cy="1033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Fluent, confident, unsupported.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1783080"/>
            <a:ext cx="3611880" cy="1783080"/>
          </a:xfrm>
          <a:prstGeom prst="roundRect">
            <a:avLst>
              <a:gd name="adj" fmla="val 6153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911095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7" y="191109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2  Ground it in the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7" y="2441448"/>
            <a:ext cx="3227832" cy="1033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Same question, evidence attached.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783080"/>
            <a:ext cx="3611880" cy="1783080"/>
          </a:xfrm>
          <a:prstGeom prst="roundRect">
            <a:avLst>
              <a:gd name="adj" fmla="val 6153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191109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3  Prompt anatomy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441448"/>
            <a:ext cx="3227832" cy="1033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Role, evidence, constraints, format, uncertainty.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49039"/>
            <a:ext cx="3611880" cy="1783080"/>
          </a:xfrm>
          <a:prstGeom prst="roundRect">
            <a:avLst>
              <a:gd name="adj" fmla="val 6153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87705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87705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4  Structured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407407"/>
            <a:ext cx="3227832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JSON your code can use.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59" y="3749039"/>
            <a:ext cx="3611880" cy="1783080"/>
          </a:xfrm>
          <a:prstGeom prst="roundRect">
            <a:avLst>
              <a:gd name="adj" fmla="val 6153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59" y="3877055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7" y="387705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5  Few-shot examples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7" y="4407407"/>
            <a:ext cx="3227832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Show the pattern you want.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3749039"/>
            <a:ext cx="3611880" cy="1783080"/>
          </a:xfrm>
          <a:prstGeom prst="roundRect">
            <a:avLst>
              <a:gd name="adj" fmla="val 6153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01000" y="3877055"/>
            <a:ext cx="54864" cy="3840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2168" y="387705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6  Boundaries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8" y="4407407"/>
            <a:ext cx="3227832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What the assistant must not claim.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85216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85216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85216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Every prompt you write today is tested against the same A-001 record, so you can see why it changed.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11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The five-part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Every enterprise prompt in this programme follows the same shape.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002536" cy="1188720"/>
          </a:xfrm>
          <a:prstGeom prst="roundRect">
            <a:avLst>
              <a:gd name="adj" fmla="val 7692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Role /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95144"/>
            <a:ext cx="18196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what to do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23744" y="2258568"/>
            <a:ext cx="256032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98064" y="1783080"/>
            <a:ext cx="2002536" cy="1188720"/>
          </a:xfrm>
          <a:prstGeom prst="roundRect">
            <a:avLst>
              <a:gd name="adj" fmla="val 7692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4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4" y="2295144"/>
            <a:ext cx="18196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what it may use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18888" y="2258568"/>
            <a:ext cx="256032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93208" y="1783080"/>
            <a:ext cx="2002536" cy="1188720"/>
          </a:xfrm>
          <a:prstGeom prst="roundRect">
            <a:avLst>
              <a:gd name="adj" fmla="val 7692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Constraints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295144"/>
            <a:ext cx="18196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what it must not claim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14032" y="2258568"/>
            <a:ext cx="256032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88352" y="1783080"/>
            <a:ext cx="2002536" cy="1188720"/>
          </a:xfrm>
          <a:prstGeom prst="roundRect">
            <a:avLst>
              <a:gd name="adj" fmla="val 7692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Output format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2295144"/>
            <a:ext cx="18196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how to structure it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09176" y="2258568"/>
            <a:ext cx="256032" cy="237744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83496" y="1783080"/>
            <a:ext cx="2002536" cy="1188720"/>
          </a:xfrm>
          <a:prstGeom prst="roundRect">
            <a:avLst>
              <a:gd name="adj" fmla="val 7692"/>
            </a:avLst>
          </a:prstGeom>
          <a:solidFill>
            <a:srgbClr val="0F1626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4936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Uncertainty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6" y="2295144"/>
            <a:ext cx="18196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what if evidence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is missing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246120"/>
            <a:ext cx="6400800" cy="2468880"/>
          </a:xfrm>
          <a:prstGeom prst="roundRect">
            <a:avLst>
              <a:gd name="adj" fmla="val 2962"/>
            </a:avLst>
          </a:prstGeom>
          <a:solidFill>
            <a:srgbClr val="050810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337560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22D3EE"/>
                </a:solidFill>
                <a:latin typeface="Consolas"/>
              </a:rPr>
              <a:t>A-001 EXAMPLE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3593591"/>
            <a:ext cx="5998464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You are a reliability assistant.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Answer only from the record below.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If a field is missing, say so. Do not guess.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Return JSON: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{"summary": "...", "evidence": ["..."],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 "gaps": ["..."], "needs_human": true}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0" y="3246120"/>
            <a:ext cx="4553712" cy="2468880"/>
          </a:xfrm>
          <a:prstGeom prst="roundRect">
            <a:avLst>
              <a:gd name="adj" fmla="val 4444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0" y="3374136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33488" y="3374136"/>
            <a:ext cx="4187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Why JSON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33488" y="3904487"/>
            <a:ext cx="4169664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Your code can read it, validate it and log it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Missing keys are visible, not buried in prose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The uncertainty clause is where hallucination gets caught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89788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589788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89788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Try it: add one part at a time and watch the answer change character.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TWO LANGUAGES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12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SQL asks. Python works.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Same A-001 data, two complementary ways to explore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486400" cy="2926080"/>
          </a:xfrm>
          <a:prstGeom prst="roundRect">
            <a:avLst>
              <a:gd name="adj" fmla="val 375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SQL: ask the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5102352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Select, filter, group and join quickly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Quick checks of data quality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Readable by analysts and auditors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Every Day 3 tool starts as a bounded SQL question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486400" cy="2926080"/>
          </a:xfrm>
          <a:prstGeom prst="roundRect">
            <a:avLst>
              <a:gd name="adj" fmla="val 375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Python: work with the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41448"/>
            <a:ext cx="5102352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Reshape, aggregate and chart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Feature engineering for ML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Train and evaluate models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Glue between tables, models and the 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98348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98348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8348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Rule of thumb: ask in SQL first. Move to Python when the question needs reshaping, plotting or modelling.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62356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FB4C8"/>
                </a:solidFill>
                <a:latin typeface="Calibri"/>
              </a:rPr>
              <a:t>While exploring ask: which columns are observations and which are derived? What is the grain? What does a NULL mean here: missing, not applicable, or not yet recorded?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2: EXPLORE WITH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13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Three queries that carry most of the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SELECT to look, GROUP BY to summarise, JOIN to connect.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3657600" cy="3017520"/>
          </a:xfrm>
          <a:prstGeom prst="roundRect">
            <a:avLst>
              <a:gd name="adj" fmla="val 2424"/>
            </a:avLst>
          </a:prstGeom>
          <a:solidFill>
            <a:srgbClr val="050810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74519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22D3EE"/>
                </a:solidFill>
                <a:latin typeface="Consolas"/>
              </a:rPr>
              <a:t>1 · LOOK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30552"/>
            <a:ext cx="325526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D6E4F0"/>
                </a:solidFill>
                <a:latin typeface="Consolas"/>
              </a:rPr>
              <a:t>SELECT *</a:t>
            </a:r>
          </a:p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D6E4F0"/>
                </a:solidFill>
                <a:latin typeface="Consolas"/>
              </a:rPr>
              <a:t>FROM asset_360</a:t>
            </a:r>
          </a:p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D6E4F0"/>
                </a:solidFill>
                <a:latin typeface="Consolas"/>
              </a:rPr>
              <a:t>WHERE asset_id = 'A-001';</a:t>
            </a:r>
          </a:p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D6E4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D6E4F0"/>
                </a:solidFill>
                <a:latin typeface="Consolas"/>
              </a:rPr>
              <a:t>-- one row, the whole</a:t>
            </a:r>
          </a:p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D6E4F0"/>
                </a:solidFill>
                <a:latin typeface="Consolas"/>
              </a:rPr>
              <a:t>-- asset 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783080"/>
            <a:ext cx="3657600" cy="3017520"/>
          </a:xfrm>
          <a:prstGeom prst="roundRect">
            <a:avLst>
              <a:gd name="adj" fmla="val 2424"/>
            </a:avLst>
          </a:prstGeom>
          <a:solidFill>
            <a:srgbClr val="050810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874519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22D3EE"/>
                </a:solidFill>
                <a:latin typeface="Consolas"/>
              </a:rPr>
              <a:t>2 · SUMMARISE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2130552"/>
            <a:ext cx="325526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D6E4F0"/>
                </a:solidFill>
                <a:latin typeface="Consolas"/>
              </a:rPr>
              <a:t>SELECT risk_level,</a:t>
            </a:r>
          </a:p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D6E4F0"/>
                </a:solidFill>
                <a:latin typeface="Consolas"/>
              </a:rPr>
              <a:t>       COUNT(*) AS assets,</a:t>
            </a:r>
          </a:p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D6E4F0"/>
                </a:solidFill>
                <a:latin typeface="Consolas"/>
              </a:rPr>
              <a:t>       AVG(health_score)</a:t>
            </a:r>
          </a:p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D6E4F0"/>
                </a:solidFill>
                <a:latin typeface="Consolas"/>
              </a:rPr>
              <a:t>FROM asset_360</a:t>
            </a:r>
          </a:p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D6E4F0"/>
                </a:solidFill>
                <a:latin typeface="Consolas"/>
              </a:rPr>
              <a:t>GROUP BY risk_level;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783080"/>
            <a:ext cx="3657600" cy="3017520"/>
          </a:xfrm>
          <a:prstGeom prst="roundRect">
            <a:avLst>
              <a:gd name="adj" fmla="val 2424"/>
            </a:avLst>
          </a:prstGeom>
          <a:solidFill>
            <a:srgbClr val="050810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1" y="1874519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22D3EE"/>
                </a:solidFill>
                <a:latin typeface="Consolas"/>
              </a:rPr>
              <a:t>3 · CONNECT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30552"/>
            <a:ext cx="325526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D6E4F0"/>
                </a:solidFill>
                <a:latin typeface="Consolas"/>
              </a:rPr>
              <a:t>SELECT a.asset_name,</a:t>
            </a:r>
          </a:p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D6E4F0"/>
                </a:solidFill>
                <a:latin typeface="Consolas"/>
              </a:rPr>
              <a:t>       w.priority, w.status</a:t>
            </a:r>
          </a:p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D6E4F0"/>
                </a:solidFill>
                <a:latin typeface="Consolas"/>
              </a:rPr>
              <a:t>FROM work_orders w</a:t>
            </a:r>
          </a:p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D6E4F0"/>
                </a:solidFill>
                <a:latin typeface="Consolas"/>
              </a:rPr>
              <a:t>JOIN assets a</a:t>
            </a:r>
          </a:p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D6E4F0"/>
                </a:solidFill>
                <a:latin typeface="Consolas"/>
              </a:rPr>
              <a:t>  ON a.asset_id = w.asset_id</a:t>
            </a:r>
          </a:p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D6E4F0"/>
                </a:solidFill>
                <a:latin typeface="Consolas"/>
              </a:rPr>
              <a:t>WHERE a.asset_id = 'A-001';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83480"/>
            <a:ext cx="11183112" cy="1280160"/>
          </a:xfrm>
          <a:prstGeom prst="roundRect">
            <a:avLst>
              <a:gd name="adj" fmla="val 8571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111496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5111496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Then chart the result in 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5897880"/>
            <a:ext cx="10799064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0" i="0">
                <a:solidFill>
                  <a:srgbClr val="9FB4C8"/>
                </a:solidFill>
                <a:latin typeface="Calibri"/>
              </a:rPr>
              <a:t>pandas turns any query result into a DataFrame; one line of plotting shows what the table hides.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2: 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14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Check the data before you trust any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A forecast on dirty data is a confident wrong answer.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3611880" cy="164592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Missing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322783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0" i="0">
                <a:solidFill>
                  <a:srgbClr val="9FB4C8"/>
                </a:solidFill>
                <a:latin typeface="Calibri"/>
              </a:rPr>
              <a:t>Which columns, how many, what does a gap mean?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1783080"/>
            <a:ext cx="3611880" cy="164592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7" y="191109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Duplicates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7" y="2441448"/>
            <a:ext cx="322783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0" i="0">
                <a:solidFill>
                  <a:srgbClr val="9FB4C8"/>
                </a:solidFill>
                <a:latin typeface="Calibri"/>
              </a:rPr>
              <a:t>Same hour or same record twice?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783080"/>
            <a:ext cx="3611880" cy="164592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911095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191109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Timestamp gaps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441448"/>
            <a:ext cx="322783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0" i="0">
                <a:solidFill>
                  <a:srgbClr val="9FB4C8"/>
                </a:solidFill>
                <a:latin typeface="Calibri"/>
              </a:rPr>
              <a:t>Hours with no reading break lag features.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11880"/>
            <a:ext cx="3611880" cy="164592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739896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739896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Units and ranges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270248"/>
            <a:ext cx="322783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0" i="0">
                <a:solidFill>
                  <a:srgbClr val="9FB4C8"/>
                </a:solidFill>
                <a:latin typeface="Calibri"/>
              </a:rPr>
              <a:t>Is a value physically plausible?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59" y="3611880"/>
            <a:ext cx="3611880" cy="164592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59" y="3739896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7" y="3739896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Quality flags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7" y="4270248"/>
            <a:ext cx="322783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0" i="0">
                <a:solidFill>
                  <a:srgbClr val="9FB4C8"/>
                </a:solidFill>
                <a:latin typeface="Calibri"/>
              </a:rPr>
              <a:t>quality_issue_minutes marks suspect readings.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3611880"/>
            <a:ext cx="3611880" cy="164592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01000" y="3739896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2168" y="3739896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Grain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8" y="4270248"/>
            <a:ext cx="322783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0" i="0">
                <a:solidFill>
                  <a:srgbClr val="9FB4C8"/>
                </a:solidFill>
                <a:latin typeface="Calibri"/>
              </a:rPr>
              <a:t>One row per what? Join on the right key.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66928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66928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66928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In this slice: 2,160 hourly rows, 60 readings per hour, and about 2.3 suspect minutes per hour on average.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2: TEXT-TO-SQL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15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Ask your data in plain English, with a 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The model writes the SQL. Your code decides whether it is allowed to 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002536" cy="1325880"/>
          </a:xfrm>
          <a:prstGeom prst="roundRect">
            <a:avLst>
              <a:gd name="adj" fmla="val 6896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95144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plain English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23744" y="2327148"/>
            <a:ext cx="256032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98064" y="1783080"/>
            <a:ext cx="2002536" cy="1325880"/>
          </a:xfrm>
          <a:prstGeom prst="roundRect">
            <a:avLst>
              <a:gd name="adj" fmla="val 6896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4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LLM writes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4" y="2478024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schema hint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in the prompt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18888" y="2327148"/>
            <a:ext cx="256032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93208" y="1783080"/>
            <a:ext cx="2002536" cy="1325880"/>
          </a:xfrm>
          <a:prstGeom prst="roundRect">
            <a:avLst>
              <a:gd name="adj" fmla="val 6896"/>
            </a:avLst>
          </a:prstGeom>
          <a:solidFill>
            <a:srgbClr val="0F1626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Guard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295144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single SELECT,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no forbidden words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14032" y="2327148"/>
            <a:ext cx="256032" cy="237744"/>
          </a:xfrm>
          <a:prstGeom prst="rightArrow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88352" y="1783080"/>
            <a:ext cx="2002536" cy="1325880"/>
          </a:xfrm>
          <a:prstGeom prst="roundRect">
            <a:avLst>
              <a:gd name="adj" fmla="val 6896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2295144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read-only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09176" y="2327148"/>
            <a:ext cx="256032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83496" y="1783080"/>
            <a:ext cx="2002536" cy="1325880"/>
          </a:xfrm>
          <a:prstGeom prst="roundRect">
            <a:avLst>
              <a:gd name="adj" fmla="val 6896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4936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6" y="2295144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rows + the SQL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shown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42900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557016"/>
            <a:ext cx="54864" cy="3840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355701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What the guard blocks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4087368"/>
            <a:ext cx="5102352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More than one statement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INSERT, UPDATE, DELETE, DROP, ALTER, CREATE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Anything that is not a SELECT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342900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3557016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55701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Why it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087368"/>
            <a:ext cx="5102352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LLM output is untrusted input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The same guard protects every Day 3 tool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Show the SQL so a person can check 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80644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80644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The orchestrator may choose a tool. It may not expand the tool's permissions.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3: LOOK BEFORE YOU TRAIN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16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Three ways to look at A-001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Understand the pattern, not just the latest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3611880" cy="3566160"/>
          </a:xfrm>
          <a:prstGeom prst="roundRect">
            <a:avLst>
              <a:gd name="adj" fmla="val 3076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22D3EE"/>
                </a:solidFill>
                <a:latin typeface="Consolas"/>
              </a:rPr>
              <a:t>UNIVARIATE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148839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1  One variable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606039"/>
            <a:ext cx="3227832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Vibration, last 90 days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Mean 2.28 mm/s, median 1.56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Range 1.20 to 5.74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Mean far above median: skew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describe() and a histogram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783080"/>
            <a:ext cx="3611880" cy="3566160"/>
          </a:xfrm>
          <a:prstGeom prst="roundRect">
            <a:avLst>
              <a:gd name="adj" fmla="val 3076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4" y="1911095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B5CF6"/>
                </a:solidFill>
                <a:latin typeface="Consolas"/>
              </a:rPr>
              <a:t>TIME PLOT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2148839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2  Over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2606039"/>
            <a:ext cx="3227832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Flat near 1.4 mm/s for weeks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Then a steady climb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Reaches about 5.5 mm/s by 25 Aug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 time plot shows WHEN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 histogram never would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783080"/>
            <a:ext cx="3611880" cy="3566160"/>
          </a:xfrm>
          <a:prstGeom prst="roundRect">
            <a:avLst>
              <a:gd name="adj" fmla="val 3076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1911095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911095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F5A623"/>
                </a:solidFill>
                <a:latin typeface="Consolas"/>
              </a:rPr>
              <a:t>BIVARIATE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148839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3  Two variables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606039"/>
            <a:ext cx="3227832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Vibration vs temperature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Correlation about 0.95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They rise together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Correlation is not cause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See it before modelling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62356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62356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62356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Never train on data you have not plotted first.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A-001 VIBRATION, LAST 90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17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2F7FB"/>
                </a:solidFill>
                <a:latin typeface="Calibri"/>
              </a:rPr>
              <a:t>The pattern a single number hides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Daily mean vibration (mm/s), A-001. Synthetic data.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2920" y="1600200"/>
          <a:ext cx="78638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641080" y="1691640"/>
            <a:ext cx="3044952" cy="1188720"/>
          </a:xfrm>
          <a:prstGeom prst="roundRect">
            <a:avLst>
              <a:gd name="adj" fmla="val 923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05672" y="2770632"/>
            <a:ext cx="2715768" cy="3657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801368"/>
            <a:ext cx="3044952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34D399"/>
                </a:solidFill>
                <a:latin typeface="Calibri"/>
              </a:rPr>
              <a:t>1.4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19" y="2382926"/>
            <a:ext cx="2862072" cy="4160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FB4C8"/>
                </a:solidFill>
                <a:latin typeface="Calibri"/>
              </a:rPr>
              <a:t>mm/s typical level for weeks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3017520"/>
            <a:ext cx="3044952" cy="1188720"/>
          </a:xfrm>
          <a:prstGeom prst="roundRect">
            <a:avLst>
              <a:gd name="adj" fmla="val 923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05672" y="4096511"/>
            <a:ext cx="2715768" cy="36576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3127248"/>
            <a:ext cx="3044952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F87171"/>
                </a:solidFill>
                <a:latin typeface="Calibri"/>
              </a:rPr>
              <a:t>5.5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19" y="3708806"/>
            <a:ext cx="2862072" cy="4160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FB4C8"/>
                </a:solidFill>
                <a:latin typeface="Calibri"/>
              </a:rPr>
              <a:t>mm/s by 25 Aug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4343400"/>
            <a:ext cx="3044952" cy="137160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05672" y="5605272"/>
            <a:ext cx="2715768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4453128"/>
            <a:ext cx="3044952" cy="754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F5A623"/>
                </a:solidFill>
                <a:latin typeface="Calibri"/>
              </a:rPr>
              <a:t>~4x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19" y="5148072"/>
            <a:ext cx="2862072" cy="480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FB4C8"/>
                </a:solidFill>
                <a:latin typeface="Calibri"/>
              </a:rPr>
              <a:t>rise over the final weeks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89788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89788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89788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A time plot turns a number into a story. Ask what changed, and when.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3: ANOMALY FLAGS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18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Simple anomaly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Two honest methods you can explain in one minute each.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3657600" cy="3200400"/>
          </a:xfrm>
          <a:prstGeom prst="roundRect">
            <a:avLst>
              <a:gd name="adj" fmla="val 3428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22D3EE"/>
                </a:solidFill>
                <a:latin typeface="Consolas"/>
              </a:rPr>
              <a:t>STATISTICAL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14883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Z-score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606039"/>
            <a:ext cx="3273552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How many standard deviations from normal?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Compare each hour with a rolling normal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Easy to explain and to audit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Fails when the normal itself drifts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0248" y="1783080"/>
            <a:ext cx="3657600" cy="3200400"/>
          </a:xfrm>
          <a:prstGeom prst="roundRect">
            <a:avLst>
              <a:gd name="adj" fmla="val 3428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1911095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B5CF6"/>
                </a:solidFill>
                <a:latin typeface="Consolas"/>
              </a:rPr>
              <a:t>MACHINE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214883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Isolation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2606039"/>
            <a:ext cx="3273552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Learns what typical hours look like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Uses several sensors together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Scores how easy an hour is to isolate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Harder to explain, so verify 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1783080"/>
            <a:ext cx="3657600" cy="3200400"/>
          </a:xfrm>
          <a:prstGeom prst="roundRect">
            <a:avLst>
              <a:gd name="adj" fmla="val 3428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1" y="1911095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911095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F5A623"/>
                </a:solidFill>
                <a:latin typeface="Consolas"/>
              </a:rPr>
              <a:t>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14883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What the flag says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606039"/>
            <a:ext cx="3273552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This hour looks unusual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It does not say why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Abnormal is not pump failure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Context lives in procedures and work orders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303520"/>
            <a:ext cx="11183112" cy="685800"/>
          </a:xfrm>
          <a:prstGeom prst="roundRect">
            <a:avLst>
              <a:gd name="adj" fmla="val 13333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303520"/>
            <a:ext cx="64008" cy="685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0352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A flag is evidence: one input to a decision made by qualified people. That missing context is exactly where Day 2 begins.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3: THE FORECAST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19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ML starts with a useful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Not with an algorithm: "What will vibration look like over the next 7 days?"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650492" cy="1417320"/>
          </a:xfrm>
          <a:prstGeom prst="roundRect">
            <a:avLst>
              <a:gd name="adj" fmla="val 6451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1467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2F7FB"/>
                </a:solidFill>
                <a:latin typeface="Calibri"/>
              </a:rP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95144"/>
            <a:ext cx="14676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lags, 24h average,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sin / cos of hour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71700" y="2372868"/>
            <a:ext cx="219456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09444" y="1783080"/>
            <a:ext cx="1650492" cy="1417320"/>
          </a:xfrm>
          <a:prstGeom prst="roundRect">
            <a:avLst>
              <a:gd name="adj" fmla="val 6451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00884" y="1874519"/>
            <a:ext cx="1467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2F7FB"/>
                </a:solidFill>
                <a:latin typeface="Calibri"/>
              </a:rPr>
              <a:t>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0884" y="2295144"/>
            <a:ext cx="14676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by time,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never shuffled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78223" y="2372868"/>
            <a:ext cx="219456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15968" y="1783080"/>
            <a:ext cx="1650492" cy="1417320"/>
          </a:xfrm>
          <a:prstGeom prst="roundRect">
            <a:avLst>
              <a:gd name="adj" fmla="val 6451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7" y="1874519"/>
            <a:ext cx="1467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2F7FB"/>
                </a:solidFill>
                <a:latin typeface="Calibri"/>
              </a:rPr>
              <a:t>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7" y="2295144"/>
            <a:ext cx="14676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repeat the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last day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84747" y="2372868"/>
            <a:ext cx="219456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22492" y="1783080"/>
            <a:ext cx="1650492" cy="1417320"/>
          </a:xfrm>
          <a:prstGeom prst="roundRect">
            <a:avLst>
              <a:gd name="adj" fmla="val 6451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3931" y="1874519"/>
            <a:ext cx="1467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2F7FB"/>
                </a:solidFill>
                <a:latin typeface="Calibri"/>
              </a:rPr>
              <a:t>Ridge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3931" y="2295144"/>
            <a:ext cx="14676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several sensors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together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891271" y="2372868"/>
            <a:ext cx="219456" cy="237744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29016" y="1783080"/>
            <a:ext cx="1650492" cy="1417320"/>
          </a:xfrm>
          <a:prstGeom prst="roundRect">
            <a:avLst>
              <a:gd name="adj" fmla="val 6451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0456" y="1874519"/>
            <a:ext cx="1467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2F7FB"/>
                </a:solidFill>
                <a:latin typeface="Calibri"/>
              </a:rPr>
              <a:t>Backtest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0456" y="2295144"/>
            <a:ext cx="14676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on the unseen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week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797796" y="2372868"/>
            <a:ext cx="219456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035540" y="1783080"/>
            <a:ext cx="1650492" cy="1417320"/>
          </a:xfrm>
          <a:prstGeom prst="roundRect">
            <a:avLst>
              <a:gd name="adj" fmla="val 6451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26980" y="1874519"/>
            <a:ext cx="1467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2F7FB"/>
                </a:solidFill>
                <a:latin typeface="Calibri"/>
              </a:rPr>
              <a:t>Forecast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26980" y="2295144"/>
            <a:ext cx="14676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next 7 days,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recursively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5204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3648456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364845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Why a time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4178808"/>
            <a:ext cx="5102352" cy="1353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Shuffling lets the model peek at the future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Train on the past, test on the next week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This is how the model would really be used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9632" y="35204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9632" y="3648456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64845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Why a baseline first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178808"/>
            <a:ext cx="5102352" cy="1353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"Next week looks like yesterday" is free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 model must beat it to earn its place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If it does not, say so out loud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85216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585216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85216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Hands-on notebook: Day1_02_A001_Anomaly_and_Forecast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3: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20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2F7FB"/>
                </a:solidFill>
                <a:latin typeface="Calibri"/>
              </a:rPr>
              <a:t>The model beats the baseline, by a little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Backtest on the unseen final week of the slice. Lower error is better.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2920" y="1645920"/>
          <a:ext cx="54864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63640" y="1691640"/>
            <a:ext cx="2651760" cy="1234440"/>
          </a:xfrm>
          <a:prstGeom prst="roundRect">
            <a:avLst>
              <a:gd name="adj" fmla="val 8888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28231" y="2816352"/>
            <a:ext cx="2322576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801368"/>
            <a:ext cx="2651760" cy="678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F5A623"/>
                </a:solidFill>
                <a:latin typeface="Calibri"/>
              </a:rPr>
              <a:t>+14.8%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2411272"/>
            <a:ext cx="2468879" cy="4320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FB4C8"/>
                </a:solidFill>
                <a:latin typeface="Calibri"/>
              </a:rPr>
              <a:t>forecast change in 7-day mean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4272" y="1691640"/>
            <a:ext cx="2651760" cy="1234440"/>
          </a:xfrm>
          <a:prstGeom prst="roundRect">
            <a:avLst>
              <a:gd name="adj" fmla="val 8888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98864" y="2816352"/>
            <a:ext cx="2322576" cy="3657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1801368"/>
            <a:ext cx="2651760" cy="678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2D3EE"/>
                </a:solidFill>
                <a:latin typeface="Calibri"/>
              </a:rPr>
              <a:t>6.08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2411272"/>
            <a:ext cx="2468879" cy="4320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FB4C8"/>
                </a:solidFill>
                <a:latin typeface="Calibri"/>
              </a:rPr>
              <a:t>mm/s forecast 7-day mean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154680"/>
            <a:ext cx="5422392" cy="2423160"/>
          </a:xfrm>
          <a:prstGeom prst="roundRect">
            <a:avLst>
              <a:gd name="adj" fmla="val 4528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282696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3282696"/>
            <a:ext cx="50566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Read it honestly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3813048"/>
            <a:ext cx="5038344" cy="167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Error 0.355 vs 0.406 mm/s: a modest gain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Recent 7-day mean was 5.29 mm/s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 statistical extrapolation of a synthetic series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Not a failure prediction, not a maintenance decision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85216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85216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85216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Report the gain, the baseline and the limits together. Never the forecast alone.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LIMITS TO SAY OUT 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21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What this forecast can and cannot tell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Say these in the room before anyone quotes a number.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486400" cy="3017520"/>
          </a:xfrm>
          <a:prstGeom prst="roundRect">
            <a:avLst>
              <a:gd name="adj" fmla="val 3636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It 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5102352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Show the direction of vibration if nothing changes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Beat a naive baseline on a held-out week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Prepare evidence for a human review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Be re-run and checked by anyone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486400" cy="3017520"/>
          </a:xfrm>
          <a:prstGeom prst="roundRect">
            <a:avLst>
              <a:gd name="adj" fmla="val 3636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11095"/>
            <a:ext cx="54864" cy="3840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It cannot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41448"/>
            <a:ext cx="5102352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Diagnose a real failure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Know about repairs, load changes or procedures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Be trusted far beyond a week or two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Authorise maintenance, shutdown or replacement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120640"/>
            <a:ext cx="11183112" cy="594360"/>
          </a:xfrm>
          <a:prstGeom prst="roundRect">
            <a:avLst>
              <a:gd name="adj" fmla="val 15384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120640"/>
            <a:ext cx="64008" cy="5943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20640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Would you authorise maintenance from this forecast alone? Why not?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DAY 1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22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Hands-on mission: prove the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Everyone leaves Day 1 with a working Colab, a clean query set and one honest forecast.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81965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196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7830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Add your key to Colab Secrets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06654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FB4C8"/>
                </a:solidFill>
                <a:latin typeface="Calibri"/>
              </a:rPr>
              <a:t>OPENAI_API_KEY, Notebook access ON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68833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8833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6517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Run Day1_00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293522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FB4C8"/>
                </a:solidFill>
                <a:latin typeface="Calibri"/>
              </a:rPr>
              <a:t>six prompt experiments on A-001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557015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57015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3520439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Run Day1_01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380390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FB4C8"/>
                </a:solidFill>
                <a:latin typeface="Calibri"/>
              </a:rPr>
              <a:t>SQL, joins, quality checks, text-to-SQL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181965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8196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7830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Plot vibration over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06654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FB4C8"/>
                </a:solidFill>
                <a:latin typeface="Calibri"/>
              </a:rPr>
              <a:t>see the pattern before modelling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268833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68833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6517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Run Day1_02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93522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FB4C8"/>
                </a:solidFill>
                <a:latin typeface="Calibri"/>
              </a:rPr>
              <a:t>anomaly flags, baseline, Ridge, forecast</a:t>
            </a:r>
          </a:p>
        </p:txBody>
      </p:sp>
      <p:sp>
        <p:nvSpPr>
          <p:cNvPr id="29" name="Oval 28"/>
          <p:cNvSpPr/>
          <p:nvPr/>
        </p:nvSpPr>
        <p:spPr>
          <a:xfrm>
            <a:off x="6309360" y="3557015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557015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520439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Write two sentences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80390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FB4C8"/>
                </a:solidFill>
                <a:latin typeface="Calibri"/>
              </a:rPr>
              <a:t>what the forecast tells us, and what it cannot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572000"/>
            <a:ext cx="356616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57200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2D3EE"/>
                </a:solidFill>
                <a:latin typeface="Consolas"/>
              </a:rPr>
              <a:t>Day1_00  |  40 min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4572000"/>
            <a:ext cx="356616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457200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  <a:latin typeface="Consolas"/>
              </a:rPr>
              <a:t>Day1_01  |  50 min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4572000"/>
            <a:ext cx="356616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457200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  <a:latin typeface="Consolas"/>
              </a:rPr>
              <a:t>Day1_02  |  60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66928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566928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66928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If setup fails live: use the zip fallback from START_HERE and keep teaching. The goal is enterprise AI, not setup.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SECURITY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23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The data now has a security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Same plant, same assets. Four kinds of data, one join key: asset_id.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697480" cy="2743200"/>
          </a:xfrm>
          <a:prstGeom prst="roundRect">
            <a:avLst>
              <a:gd name="adj" fmla="val 406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Posture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2313432" cy="1993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8 new columns on Asset 360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174 vulnerabilities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Access review per asset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Combined priority 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783080"/>
            <a:ext cx="2697480" cy="2743200"/>
          </a:xfrm>
          <a:prstGeom prst="roundRect">
            <a:avLst>
              <a:gd name="adj" fmla="val 406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191109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Raw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441448"/>
            <a:ext cx="2313432" cy="1993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14,137 login events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21,492 firewall flows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3,048 controller commands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30 days, 47 gateways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783080"/>
            <a:ext cx="2697480" cy="2743200"/>
          </a:xfrm>
          <a:prstGeom prst="roundRect">
            <a:avLst>
              <a:gd name="adj" fmla="val 406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911095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91109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Detections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441448"/>
            <a:ext cx="2313432" cy="1993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478 SIEM alerts from 6 rules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43 incidents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False positives included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Tune the noise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783080"/>
            <a:ext cx="2679192" cy="2743200"/>
          </a:xfrm>
          <a:prstGeom prst="roundRect">
            <a:avLst>
              <a:gd name="adj" fmla="val 409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911095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1911095"/>
            <a:ext cx="2313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Model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2441448"/>
            <a:ext cx="2295144" cy="1993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23,452 windows of 15 min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16 features from the logs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Attack labels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About 2% attacks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754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 spc="20">
                <a:solidFill>
                  <a:srgbClr val="22D3EE"/>
                </a:solidFill>
                <a:latin typeface="Consolas"/>
              </a:rPr>
              <a:t>ASSET_CRITICALITY | SECURITY_RISK_LEVEL | OPEN_SECURITY_ISSUES | PATCH_STATUS | NETWORK_EXPOSURE | ACCESS_RISK_FLAG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4068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440680"/>
            <a:ext cx="64008" cy="5303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44068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All simulated. Attack frequency is exaggerated for teaching.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SECURITY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24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One dataset, four perspectives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The same tables answer different questions for different roles.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83112" cy="2286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4937760"/>
                <a:gridCol w="386791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Perspective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Question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Key fields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Operations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Which assets behave abnormally?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Ops_Attention_Flag, health_score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Which assets and systems need attention?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urgent work + open issues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Cybersecurity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Which critical assets carry exposure?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Patch_Status, Network_Exposure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Management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What do we prioritise overall?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Priority_Score, Priority_Band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572000"/>
            <a:ext cx="11183112" cy="822960"/>
          </a:xfrm>
          <a:prstGeom prst="roundRect">
            <a:avLst>
              <a:gd name="adj" fmla="val 1111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572000"/>
            <a:ext cx="64008" cy="8229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57200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2F7FB"/>
                </a:solidFill>
                <a:latin typeface="Calibri"/>
              </a:rPr>
              <a:t>Agent question for Day 3: high-criticality assets with abnormal readings and unresolved security issues. 5 assets: A-001, A-040, A-033, A-109, A-115. A-001 ranks first.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6692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9FB4C8"/>
                </a:solidFill>
                <a:latin typeface="Calibri"/>
              </a:rPr>
              <a:t>Operations alone flags 2 assets with elevated health risk. Operations plus security gives a longer, better list.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SECURITY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25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From raw logs to a decision 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Features are built from events. The model flags windows for an analyst.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002536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2F7FB"/>
                </a:solidFill>
                <a:latin typeface="Calibri"/>
              </a:rPr>
              <a:t>Raw logs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40864"/>
            <a:ext cx="18196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9FB4C8"/>
                </a:solidFill>
                <a:latin typeface="Calibri"/>
              </a:rPr>
              <a:t>logins, flows, commands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23744" y="2395728"/>
            <a:ext cx="256032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98064" y="1828800"/>
            <a:ext cx="2002536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4" y="192024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2F7FB"/>
                </a:solidFill>
                <a:latin typeface="Calibri"/>
              </a:rPr>
              <a:t>15-min windows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4" y="2523744"/>
            <a:ext cx="18196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9FB4C8"/>
                </a:solidFill>
                <a:latin typeface="Calibri"/>
              </a:rPr>
              <a:t>one row per gateway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18888" y="2395728"/>
            <a:ext cx="256032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93208" y="1828800"/>
            <a:ext cx="2002536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192024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2F7FB"/>
                </a:solidFill>
                <a:latin typeface="Calibri"/>
              </a:rPr>
              <a:t>16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340864"/>
            <a:ext cx="18196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9FB4C8"/>
                </a:solidFill>
                <a:latin typeface="Calibri"/>
              </a:rPr>
              <a:t>counts, ratios, flags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14032" y="2395728"/>
            <a:ext cx="256032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88352" y="1828800"/>
            <a:ext cx="2002536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192024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2F7FB"/>
                </a:solidFill>
                <a:latin typeface="Calibri"/>
              </a:rPr>
              <a:t>Decision tree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2340864"/>
            <a:ext cx="18196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9FB4C8"/>
                </a:solidFill>
                <a:latin typeface="Calibri"/>
              </a:rPr>
              <a:t>readable rules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09176" y="2395728"/>
            <a:ext cx="256032" cy="237744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83496" y="1828800"/>
            <a:ext cx="2002536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4936" y="192024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2F7FB"/>
                </a:solidFill>
                <a:latin typeface="Calibri"/>
              </a:rPr>
              <a:t>Analyst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6" y="2340864"/>
            <a:ext cx="18196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9FB4C8"/>
                </a:solidFill>
                <a:latin typeface="Calibri"/>
              </a:rPr>
              <a:t>decides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520440"/>
            <a:ext cx="5486400" cy="1737360"/>
          </a:xfrm>
          <a:prstGeom prst="roundRect">
            <a:avLst>
              <a:gd name="adj" fmla="val 63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648456"/>
            <a:ext cx="54864" cy="3840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364845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The accuracy trap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4178808"/>
            <a:ext cx="5102352" cy="98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About 98% of windows are normal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Always saying normal scores about 98%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Judge by recall and precision on attacks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3520440"/>
            <a:ext cx="5486400" cy="1737360"/>
          </a:xfrm>
          <a:prstGeom prst="roundRect">
            <a:avLst>
              <a:gd name="adj" fmla="val 63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3648456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64845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Honest 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178808"/>
            <a:ext cx="5102352" cy="98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Split by time, not at random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Compare tree depths on unseen days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Check which attack types are missed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53212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532120"/>
            <a:ext cx="64008" cy="5303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53212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The tree flags. It does not block traffic, isolate an asset or close an incident.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DAY 1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26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Mission 2: choose your lane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Everyone runs Day1_03, then works the task card for their role.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83112" cy="2514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4206240"/>
                <a:gridCol w="459943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Lane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Roles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Deliverable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Investigate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Incident preparedness, OT assurance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A-001 timeline: supports / contradicts / unknown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Assure and rank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IT assurance, OT risk, project management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Top risks and a remediation plan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Detect and build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Security services, development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Thresholds and a tested scoring function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Connect and design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Integration, architecture, delivery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Join keys, access matrix, data-flow diagram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572000"/>
            <a:ext cx="356616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57200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Consolas"/>
              </a:rPr>
              <a:t>Day1_03  |  60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572000"/>
            <a:ext cx="402336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457200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  <a:latin typeface="Consolas"/>
              </a:rPr>
              <a:t>resources/PARTICIPANT_ROLES_GUIDE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349240"/>
            <a:ext cx="11183112" cy="640080"/>
          </a:xfrm>
          <a:prstGeom prst="roundRect">
            <a:avLst>
              <a:gd name="adj" fmla="val 14285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5349240"/>
            <a:ext cx="64008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34924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2F7FB"/>
                </a:solidFill>
                <a:latin typeface="Calibri"/>
              </a:rPr>
              <a:t>Hand in one page. Say what the data supports, what it contradicts, and what a person must decide.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DAY 1 TO DAY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27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Is a flag enough?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A forecast without organisational context is not a decision.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486400" cy="3017520"/>
          </a:xfrm>
          <a:prstGeom prst="roundRect">
            <a:avLst>
              <a:gd name="adj" fmla="val 3636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What Day 1 gave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5102352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A working Colab with the key kept safe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A-001 explored with prompts, SQL and Python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An honest forecast with a baseline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A clear sense of the limits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486400" cy="3017520"/>
          </a:xfrm>
          <a:prstGeom prst="roundRect">
            <a:avLst>
              <a:gd name="adj" fmla="val 3636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11095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What is still missing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41448"/>
            <a:ext cx="5102352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What does the approved procedure require?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What do reports and work orders already say?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Which document version is authoritative?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Who may act, and on what evidence?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166360"/>
            <a:ext cx="11183112" cy="640080"/>
          </a:xfrm>
          <a:prstGeom prst="roundRect">
            <a:avLst>
              <a:gd name="adj" fmla="val 14285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166360"/>
            <a:ext cx="64008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Tomorrow, Day 2: generative AI and RAG, connecting the model to trusted A-001 knowledge.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EXTRA SLIDES FOR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28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Saving time is only the start.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Ask what it costs when the decision goes wrong.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697480" cy="1737360"/>
          </a:xfrm>
          <a:prstGeom prst="roundRect">
            <a:avLst>
              <a:gd name="adj" fmla="val 63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56816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56816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Failures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87168"/>
            <a:ext cx="2313432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Catch signals earlier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828800"/>
            <a:ext cx="2697480" cy="1737360"/>
          </a:xfrm>
          <a:prstGeom prst="roundRect">
            <a:avLst>
              <a:gd name="adj" fmla="val 63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956816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1956816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Outages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487168"/>
            <a:ext cx="2313432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Protect availability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828800"/>
            <a:ext cx="2697480" cy="1737360"/>
          </a:xfrm>
          <a:prstGeom prst="roundRect">
            <a:avLst>
              <a:gd name="adj" fmla="val 63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956816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956816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Delays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487168"/>
            <a:ext cx="2313432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Avoid slow decisions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828800"/>
            <a:ext cx="2697480" cy="1737360"/>
          </a:xfrm>
          <a:prstGeom prst="roundRect">
            <a:avLst>
              <a:gd name="adj" fmla="val 63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956816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1956816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Rework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2487168"/>
            <a:ext cx="2313432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Find gaps sooner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840480"/>
            <a:ext cx="11183112" cy="1280160"/>
          </a:xfrm>
          <a:prstGeom prst="roundRect">
            <a:avLst>
              <a:gd name="adj" fmla="val 8571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968496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3968496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Time saved: useful, but only one measure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4754880"/>
            <a:ext cx="10799064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30" b="0" i="0">
                <a:solidFill>
                  <a:srgbClr val="9FB4C8"/>
                </a:solidFill>
                <a:latin typeface="Calibri"/>
              </a:rPr>
              <a:t>Which risk or decision would your project improve?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EXTRA SLIDES FOR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29</a:t>
            </a:r>
            <a:r>
              <a:rPr sz="1100">
                <a:solidFill>
                  <a:srgbClr val="5F7488"/>
                </a:solidFill>
                <a:latin typeface="Consolas"/>
              </a:rPr>
              <a:t>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Build small. Test against reality.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A pilot should earn its claim with a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576322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40864"/>
            <a:ext cx="239344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current process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97529" y="2395728"/>
            <a:ext cx="256032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71850" y="1828800"/>
            <a:ext cx="2576322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3290" y="1920240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3290" y="2340864"/>
            <a:ext cx="239344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real scenarios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66459" y="2395728"/>
            <a:ext cx="256032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0779" y="1828800"/>
            <a:ext cx="2576322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2219" y="1920240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2219" y="2340864"/>
            <a:ext cx="239344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quality + time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5389" y="2395728"/>
            <a:ext cx="256032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09710" y="1828800"/>
            <a:ext cx="2576322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1150" y="1920240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1150" y="2340864"/>
            <a:ext cx="239344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human judgment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6576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 spc="100">
                <a:solidFill>
                  <a:srgbClr val="22D3EE"/>
                </a:solidFill>
                <a:latin typeface="Consolas"/>
              </a:rPr>
              <a:t>PLC / SCADA   |   HISTORIAN   |   WORK ORDERS   |   ERP   |   APPROVED DOCUMENTS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66344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66344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66344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An agent gathers evidence. A person owns the decision.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