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mean vibration (mm/s)</c:v>
                </c:pt>
              </c:strCache>
            </c:strRef>
          </c:tx>
          <c:spPr>
            <a:ln w="34925">
              <a:solidFill>
                <a:srgbClr val="22D3EE"/>
              </a:solidFill>
            </a:ln>
          </c:spPr>
          <c:marker>
            <c:symbol val="none"/>
          </c:marker>
          <c:cat>
            <c:strRef>
              <c:f>Sheet1!$A$2:$A$92</c:f>
              <c:strCache>
                <c:ptCount val="91"/>
                <c:pt idx="0">
                  <c:v>27 May</c:v>
                </c:pt>
                <c:pt idx="1">
                  <c:v>28 May</c:v>
                </c:pt>
                <c:pt idx="2">
                  <c:v>29 May</c:v>
                </c:pt>
                <c:pt idx="3">
                  <c:v>30 May</c:v>
                </c:pt>
                <c:pt idx="4">
                  <c:v>31 May</c:v>
                </c:pt>
                <c:pt idx="5">
                  <c:v>01 Jun</c:v>
                </c:pt>
                <c:pt idx="6">
                  <c:v>02 Jun</c:v>
                </c:pt>
                <c:pt idx="7">
                  <c:v>03 Jun</c:v>
                </c:pt>
                <c:pt idx="8">
                  <c:v>04 Jun</c:v>
                </c:pt>
                <c:pt idx="9">
                  <c:v>05 Jun</c:v>
                </c:pt>
                <c:pt idx="10">
                  <c:v>06 Jun</c:v>
                </c:pt>
                <c:pt idx="11">
                  <c:v>07 Jun</c:v>
                </c:pt>
                <c:pt idx="12">
                  <c:v>08 Jun</c:v>
                </c:pt>
                <c:pt idx="13">
                  <c:v>09 Jun</c:v>
                </c:pt>
                <c:pt idx="14">
                  <c:v>10 Jun</c:v>
                </c:pt>
                <c:pt idx="15">
                  <c:v>11 Jun</c:v>
                </c:pt>
                <c:pt idx="16">
                  <c:v>12 Jun</c:v>
                </c:pt>
                <c:pt idx="17">
                  <c:v>13 Jun</c:v>
                </c:pt>
                <c:pt idx="18">
                  <c:v>14 Jun</c:v>
                </c:pt>
                <c:pt idx="19">
                  <c:v>15 Jun</c:v>
                </c:pt>
                <c:pt idx="20">
                  <c:v>16 Jun</c:v>
                </c:pt>
                <c:pt idx="21">
                  <c:v>17 Jun</c:v>
                </c:pt>
                <c:pt idx="22">
                  <c:v>18 Jun</c:v>
                </c:pt>
                <c:pt idx="23">
                  <c:v>19 Jun</c:v>
                </c:pt>
                <c:pt idx="24">
                  <c:v>20 Jun</c:v>
                </c:pt>
                <c:pt idx="25">
                  <c:v>21 Jun</c:v>
                </c:pt>
                <c:pt idx="26">
                  <c:v>22 Jun</c:v>
                </c:pt>
                <c:pt idx="27">
                  <c:v>23 Jun</c:v>
                </c:pt>
                <c:pt idx="28">
                  <c:v>24 Jun</c:v>
                </c:pt>
                <c:pt idx="29">
                  <c:v>25 Jun</c:v>
                </c:pt>
                <c:pt idx="30">
                  <c:v>26 Jun</c:v>
                </c:pt>
                <c:pt idx="31">
                  <c:v>27 Jun</c:v>
                </c:pt>
                <c:pt idx="32">
                  <c:v>28 Jun</c:v>
                </c:pt>
                <c:pt idx="33">
                  <c:v>29 Jun</c:v>
                </c:pt>
                <c:pt idx="34">
                  <c:v>30 Jun</c:v>
                </c:pt>
                <c:pt idx="35">
                  <c:v>01 Jul</c:v>
                </c:pt>
                <c:pt idx="36">
                  <c:v>02 Jul</c:v>
                </c:pt>
                <c:pt idx="37">
                  <c:v>03 Jul</c:v>
                </c:pt>
                <c:pt idx="38">
                  <c:v>04 Jul</c:v>
                </c:pt>
                <c:pt idx="39">
                  <c:v>05 Jul</c:v>
                </c:pt>
                <c:pt idx="40">
                  <c:v>06 Jul</c:v>
                </c:pt>
                <c:pt idx="41">
                  <c:v>07 Jul</c:v>
                </c:pt>
                <c:pt idx="42">
                  <c:v>08 Jul</c:v>
                </c:pt>
                <c:pt idx="43">
                  <c:v>09 Jul</c:v>
                </c:pt>
                <c:pt idx="44">
                  <c:v>10 Jul</c:v>
                </c:pt>
                <c:pt idx="45">
                  <c:v>11 Jul</c:v>
                </c:pt>
                <c:pt idx="46">
                  <c:v>12 Jul</c:v>
                </c:pt>
                <c:pt idx="47">
                  <c:v>13 Jul</c:v>
                </c:pt>
                <c:pt idx="48">
                  <c:v>14 Jul</c:v>
                </c:pt>
                <c:pt idx="49">
                  <c:v>15 Jul</c:v>
                </c:pt>
                <c:pt idx="50">
                  <c:v>16 Jul</c:v>
                </c:pt>
                <c:pt idx="51">
                  <c:v>17 Jul</c:v>
                </c:pt>
                <c:pt idx="52">
                  <c:v>18 Jul</c:v>
                </c:pt>
                <c:pt idx="53">
                  <c:v>19 Jul</c:v>
                </c:pt>
                <c:pt idx="54">
                  <c:v>20 Jul</c:v>
                </c:pt>
                <c:pt idx="55">
                  <c:v>21 Jul</c:v>
                </c:pt>
                <c:pt idx="56">
                  <c:v>22 Jul</c:v>
                </c:pt>
                <c:pt idx="57">
                  <c:v>23 Jul</c:v>
                </c:pt>
                <c:pt idx="58">
                  <c:v>24 Jul</c:v>
                </c:pt>
                <c:pt idx="59">
                  <c:v>25 Jul</c:v>
                </c:pt>
                <c:pt idx="60">
                  <c:v>26 Jul</c:v>
                </c:pt>
                <c:pt idx="61">
                  <c:v>27 Jul</c:v>
                </c:pt>
                <c:pt idx="62">
                  <c:v>28 Jul</c:v>
                </c:pt>
                <c:pt idx="63">
                  <c:v>29 Jul</c:v>
                </c:pt>
                <c:pt idx="64">
                  <c:v>30 Jul</c:v>
                </c:pt>
                <c:pt idx="65">
                  <c:v>31 Jul</c:v>
                </c:pt>
                <c:pt idx="66">
                  <c:v>01 Aug</c:v>
                </c:pt>
                <c:pt idx="67">
                  <c:v>02 Aug</c:v>
                </c:pt>
                <c:pt idx="68">
                  <c:v>03 Aug</c:v>
                </c:pt>
                <c:pt idx="69">
                  <c:v>04 Aug</c:v>
                </c:pt>
                <c:pt idx="70">
                  <c:v>05 Aug</c:v>
                </c:pt>
                <c:pt idx="71">
                  <c:v>06 Aug</c:v>
                </c:pt>
                <c:pt idx="72">
                  <c:v>07 Aug</c:v>
                </c:pt>
                <c:pt idx="73">
                  <c:v>08 Aug</c:v>
                </c:pt>
                <c:pt idx="74">
                  <c:v>09 Aug</c:v>
                </c:pt>
                <c:pt idx="75">
                  <c:v>10 Aug</c:v>
                </c:pt>
                <c:pt idx="76">
                  <c:v>11 Aug</c:v>
                </c:pt>
                <c:pt idx="77">
                  <c:v>12 Aug</c:v>
                </c:pt>
                <c:pt idx="78">
                  <c:v>13 Aug</c:v>
                </c:pt>
                <c:pt idx="79">
                  <c:v>14 Aug</c:v>
                </c:pt>
                <c:pt idx="80">
                  <c:v>15 Aug</c:v>
                </c:pt>
                <c:pt idx="81">
                  <c:v>16 Aug</c:v>
                </c:pt>
                <c:pt idx="82">
                  <c:v>17 Aug</c:v>
                </c:pt>
                <c:pt idx="83">
                  <c:v>18 Aug</c:v>
                </c:pt>
                <c:pt idx="84">
                  <c:v>19 Aug</c:v>
                </c:pt>
                <c:pt idx="85">
                  <c:v>20 Aug</c:v>
                </c:pt>
                <c:pt idx="86">
                  <c:v>21 Aug</c:v>
                </c:pt>
                <c:pt idx="87">
                  <c:v>22 Aug</c:v>
                </c:pt>
                <c:pt idx="88">
                  <c:v>23 Aug</c:v>
                </c:pt>
                <c:pt idx="89">
                  <c:v>24 Aug</c:v>
                </c:pt>
                <c:pt idx="90">
                  <c:v>25 Aug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1.33</c:v>
                </c:pt>
                <c:pt idx="1">
                  <c:v>1.33</c:v>
                </c:pt>
                <c:pt idx="2">
                  <c:v>1.36</c:v>
                </c:pt>
                <c:pt idx="3">
                  <c:v>1.5</c:v>
                </c:pt>
                <c:pt idx="4">
                  <c:v>1.49</c:v>
                </c:pt>
                <c:pt idx="5">
                  <c:v>1.46</c:v>
                </c:pt>
                <c:pt idx="6">
                  <c:v>1.43</c:v>
                </c:pt>
                <c:pt idx="7">
                  <c:v>1.49</c:v>
                </c:pt>
                <c:pt idx="8">
                  <c:v>1.46</c:v>
                </c:pt>
                <c:pt idx="9">
                  <c:v>1.44</c:v>
                </c:pt>
                <c:pt idx="10">
                  <c:v>1.41</c:v>
                </c:pt>
                <c:pt idx="11">
                  <c:v>1.41</c:v>
                </c:pt>
                <c:pt idx="12">
                  <c:v>1.54</c:v>
                </c:pt>
                <c:pt idx="13">
                  <c:v>1.5</c:v>
                </c:pt>
                <c:pt idx="14">
                  <c:v>1.61</c:v>
                </c:pt>
                <c:pt idx="15">
                  <c:v>1.54</c:v>
                </c:pt>
                <c:pt idx="16">
                  <c:v>1.46</c:v>
                </c:pt>
                <c:pt idx="17">
                  <c:v>1.4</c:v>
                </c:pt>
                <c:pt idx="18">
                  <c:v>1.36</c:v>
                </c:pt>
                <c:pt idx="19">
                  <c:v>1.53</c:v>
                </c:pt>
                <c:pt idx="20">
                  <c:v>1.43</c:v>
                </c:pt>
                <c:pt idx="21">
                  <c:v>1.5</c:v>
                </c:pt>
                <c:pt idx="22">
                  <c:v>1.46</c:v>
                </c:pt>
                <c:pt idx="23">
                  <c:v>1.44</c:v>
                </c:pt>
                <c:pt idx="24">
                  <c:v>1.38</c:v>
                </c:pt>
                <c:pt idx="25">
                  <c:v>1.54</c:v>
                </c:pt>
                <c:pt idx="26">
                  <c:v>1.34</c:v>
                </c:pt>
                <c:pt idx="27">
                  <c:v>1.45</c:v>
                </c:pt>
                <c:pt idx="28">
                  <c:v>1.47</c:v>
                </c:pt>
                <c:pt idx="29">
                  <c:v>1.5</c:v>
                </c:pt>
                <c:pt idx="30">
                  <c:v>1.46</c:v>
                </c:pt>
                <c:pt idx="31">
                  <c:v>1.32</c:v>
                </c:pt>
                <c:pt idx="32">
                  <c:v>1.34</c:v>
                </c:pt>
                <c:pt idx="33">
                  <c:v>1.6</c:v>
                </c:pt>
                <c:pt idx="34">
                  <c:v>1.47</c:v>
                </c:pt>
                <c:pt idx="35">
                  <c:v>1.45</c:v>
                </c:pt>
                <c:pt idx="36">
                  <c:v>1.44</c:v>
                </c:pt>
                <c:pt idx="37">
                  <c:v>1.52</c:v>
                </c:pt>
                <c:pt idx="38">
                  <c:v>1.61</c:v>
                </c:pt>
                <c:pt idx="39">
                  <c:v>1.48</c:v>
                </c:pt>
                <c:pt idx="40">
                  <c:v>1.49</c:v>
                </c:pt>
                <c:pt idx="41">
                  <c:v>1.43</c:v>
                </c:pt>
                <c:pt idx="42">
                  <c:v>1.46</c:v>
                </c:pt>
                <c:pt idx="43">
                  <c:v>1.31</c:v>
                </c:pt>
                <c:pt idx="44">
                  <c:v>1.4</c:v>
                </c:pt>
                <c:pt idx="45">
                  <c:v>1.56</c:v>
                </c:pt>
                <c:pt idx="46">
                  <c:v>1.37</c:v>
                </c:pt>
                <c:pt idx="47">
                  <c:v>1.44</c:v>
                </c:pt>
                <c:pt idx="48">
                  <c:v>1.38</c:v>
                </c:pt>
                <c:pt idx="49">
                  <c:v>1.41</c:v>
                </c:pt>
                <c:pt idx="50">
                  <c:v>1.36</c:v>
                </c:pt>
                <c:pt idx="51">
                  <c:v>1.36</c:v>
                </c:pt>
                <c:pt idx="52">
                  <c:v>1.38</c:v>
                </c:pt>
                <c:pt idx="53">
                  <c:v>1.49</c:v>
                </c:pt>
                <c:pt idx="54">
                  <c:v>1.54</c:v>
                </c:pt>
                <c:pt idx="55">
                  <c:v>1.35</c:v>
                </c:pt>
                <c:pt idx="56">
                  <c:v>1.47</c:v>
                </c:pt>
                <c:pt idx="57">
                  <c:v>1.8</c:v>
                </c:pt>
                <c:pt idx="58">
                  <c:v>1.91</c:v>
                </c:pt>
                <c:pt idx="59">
                  <c:v>1.84</c:v>
                </c:pt>
                <c:pt idx="60">
                  <c:v>1.99</c:v>
                </c:pt>
                <c:pt idx="61">
                  <c:v>2.28</c:v>
                </c:pt>
                <c:pt idx="62">
                  <c:v>2.36</c:v>
                </c:pt>
                <c:pt idx="63">
                  <c:v>2.34</c:v>
                </c:pt>
                <c:pt idx="64">
                  <c:v>2.48</c:v>
                </c:pt>
                <c:pt idx="65">
                  <c:v>2.65</c:v>
                </c:pt>
                <c:pt idx="66">
                  <c:v>2.85</c:v>
                </c:pt>
                <c:pt idx="67">
                  <c:v>2.85</c:v>
                </c:pt>
                <c:pt idx="68">
                  <c:v>3.01</c:v>
                </c:pt>
                <c:pt idx="69">
                  <c:v>3.11</c:v>
                </c:pt>
                <c:pt idx="70">
                  <c:v>3.38</c:v>
                </c:pt>
                <c:pt idx="71">
                  <c:v>3.23</c:v>
                </c:pt>
                <c:pt idx="72">
                  <c:v>3.46</c:v>
                </c:pt>
                <c:pt idx="73">
                  <c:v>3.55</c:v>
                </c:pt>
                <c:pt idx="74">
                  <c:v>3.85</c:v>
                </c:pt>
                <c:pt idx="75">
                  <c:v>3.76</c:v>
                </c:pt>
                <c:pt idx="76">
                  <c:v>3.99</c:v>
                </c:pt>
                <c:pt idx="77">
                  <c:v>4.06</c:v>
                </c:pt>
                <c:pt idx="78">
                  <c:v>4.26</c:v>
                </c:pt>
                <c:pt idx="79">
                  <c:v>4.24</c:v>
                </c:pt>
                <c:pt idx="80">
                  <c:v>4.47</c:v>
                </c:pt>
                <c:pt idx="81">
                  <c:v>4.71</c:v>
                </c:pt>
                <c:pt idx="82">
                  <c:v>4.83</c:v>
                </c:pt>
                <c:pt idx="83">
                  <c:v>4.93</c:v>
                </c:pt>
                <c:pt idx="84">
                  <c:v>4.96</c:v>
                </c:pt>
                <c:pt idx="85">
                  <c:v>5.12</c:v>
                </c:pt>
                <c:pt idx="86">
                  <c:v>5.18</c:v>
                </c:pt>
                <c:pt idx="87">
                  <c:v>5.36</c:v>
                </c:pt>
                <c:pt idx="88">
                  <c:v>5.43</c:v>
                </c:pt>
                <c:pt idx="89">
                  <c:v>5.62</c:v>
                </c:pt>
                <c:pt idx="90">
                  <c:v>5.5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324A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4"/>
        <c:tickMarkSkip val="14"/>
      </c:catAx>
      <c:valAx>
        <c:axId val="2140495176"/>
        <c:scaling/>
        <c:delete val="0"/>
        <c:axPos val="l"/>
        <c:majorGridlines>
          <c:spPr>
            <a:ln>
              <a:solidFill>
                <a:srgbClr val="2632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9FB4C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828800"/>
            <a:ext cx="8686800" cy="8686800"/>
          </a:xfrm>
          <a:prstGeom prst="ellipse">
            <a:avLst/>
          </a:prstGeom>
          <a:gradFill rotWithShape="1">
            <a:gsLst>
              <a:gs pos="0">
                <a:srgbClr val="8B5CF6">
                  <a:alpha val="45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22D3EE"/>
                </a:solidFill>
                <a:latin typeface="Consolas"/>
              </a:rPr>
              <a:t>DAY 1  |  AI FOR CODERS &amp; SOFTWARE ENGINEERS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84124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2F7FB"/>
                </a:solidFill>
                <a:latin typeface="Calibri"/>
              </a:rPr>
              <a:t>Generative AI,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2F7FB"/>
                </a:solidFill>
                <a:latin typeface="Calibri"/>
              </a:rPr>
              <a:t>Prompt Engineering</a:t>
            </a:r>
          </a:p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2F7FB"/>
                </a:solidFill>
                <a:latin typeface="Calibri"/>
              </a:rPr>
              <a:t>&amp; Data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9FB4C8"/>
                </a:solidFill>
                <a:latin typeface="Calibri"/>
              </a:rPr>
              <a:t>Get fluent with Copilot. Learn the data we use for four days.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4526279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43484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Platform: Microsoft Copilot with your official account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4910327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818888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Structured prompting that you can check and repeat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5294375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5202936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One plant, one pump (A-001), one common data set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5678423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5586983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F2F7FB"/>
                </a:solidFill>
                <a:latin typeface="Calibri"/>
              </a:rPr>
              <a:t>Find practical AI use cases for your own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00200"/>
            <a:ext cx="2606040" cy="3200400"/>
          </a:xfrm>
          <a:prstGeom prst="roundRect">
            <a:avLst>
              <a:gd name="adj" fmla="val 7017"/>
            </a:avLst>
          </a:prstGeom>
          <a:solidFill>
            <a:srgbClr val="0F1626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200">
                <a:solidFill>
                  <a:srgbClr val="22D3EE"/>
                </a:solidFill>
                <a:latin typeface="Consolas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F2F7FB"/>
                </a:solidFill>
                <a:latin typeface="Calibri"/>
              </a:rPr>
              <a:t>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718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FB4C8"/>
                </a:solidFill>
                <a:latin typeface="Calibri"/>
              </a:rPr>
              <a:t>Microsoft 365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474720"/>
            <a:ext cx="1783080" cy="18288"/>
          </a:xfrm>
          <a:prstGeom prst="rect">
            <a:avLst/>
          </a:prstGeom>
          <a:solidFill>
            <a:srgbClr val="2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Synthetic scenario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No code today</a:t>
            </a:r>
          </a:p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9FB4C8"/>
                </a:solidFill>
                <a:latin typeface="Calibri"/>
              </a:rPr>
              <a:t>Notebooks from Day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7488"/>
                </a:solidFill>
                <a:latin typeface="Consolas"/>
              </a:rPr>
              <a:t>Instructor: Mohammad Arshad Ahmed   |   github.com/Decoding-Data-Science/enec2026oct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02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What do you want to build by Day 4?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Keep your answer. We will revisit it at the end of the programme.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83112" cy="1188720"/>
          </a:xfrm>
          <a:prstGeom prst="roundRect">
            <a:avLst>
              <a:gd name="adj" fmla="val 7692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2F7FB"/>
                </a:solidFill>
                <a:latin typeface="Calibri"/>
              </a:rPr>
              <a:t>What is one AI capability you would love to use confidently, in your own job, by Day 4?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461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7413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3741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Mixed 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044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Cybersecurity, OT security, applications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Integration, architecture, delivery, plant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2461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337413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741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One journey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044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Everyone follows the same four days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Scenarios are adapted to your role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235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6235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Beginner or expert, everyone learns. Practical, hands-on, high-energy.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FOUR-DAY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03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using AI, to building it, to trusting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One progression. Each day adds one layer to the same A-001 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576322" cy="1600200"/>
          </a:xfrm>
          <a:prstGeom prst="roundRect">
            <a:avLst>
              <a:gd name="adj" fmla="val 5714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2F7FB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239344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Generative AI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and data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understanding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7529" y="246430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1850" y="1783080"/>
            <a:ext cx="2576322" cy="1600200"/>
          </a:xfrm>
          <a:prstGeom prst="roundRect">
            <a:avLst>
              <a:gd name="adj" fmla="val 5714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2F7FB"/>
                </a:solidFill>
                <a:latin typeface="Calibri"/>
              </a:rPr>
              <a:t>Day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2295144"/>
            <a:ext cx="239344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RAG and AI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application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development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6459" y="246430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0779" y="1783080"/>
            <a:ext cx="2576322" cy="1600200"/>
          </a:xfrm>
          <a:prstGeom prst="roundRect">
            <a:avLst>
              <a:gd name="adj" fmla="val 5714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19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2F7FB"/>
                </a:solidFill>
                <a:latin typeface="Calibri"/>
              </a:rPr>
              <a:t>Day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19" y="2295144"/>
            <a:ext cx="239344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Agents, tools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and intelligent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decisions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5389" y="246430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9710" y="1783080"/>
            <a:ext cx="2576322" cy="1600200"/>
          </a:xfrm>
          <a:prstGeom prst="roundRect">
            <a:avLst>
              <a:gd name="adj" fmla="val 5714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874519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F2F7FB"/>
                </a:solidFill>
                <a:latin typeface="Calibri"/>
              </a:rPr>
              <a:t>Day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295144"/>
            <a:ext cx="239344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Capstone and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business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611880"/>
            <a:ext cx="5486400" cy="2011680"/>
          </a:xfrm>
          <a:prstGeom prst="roundRect">
            <a:avLst>
              <a:gd name="adj" fmla="val 545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398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7398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Tools by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270248"/>
            <a:ext cx="5102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Day 1: Microsoft Copilot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Day 2 and 3: Python in Google Colab, OpenAI, LlamaIndex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Day 4: all of it, with GitHub for the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611880"/>
            <a:ext cx="5486400" cy="2011680"/>
          </a:xfrm>
          <a:prstGeom prst="roundRect">
            <a:avLst>
              <a:gd name="adj" fmla="val 5454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373989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3989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Today's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70248"/>
            <a:ext cx="5102352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Comfortable with generative AI and Copilot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Clear on the business and data context used for all four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 technology changes every day. The A-001 story stays the same.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04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Today's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Learn the idea, try it in Copilot, check the answer.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7124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5486400"/>
                <a:gridCol w="2770632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Block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What we do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You leave with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1  AI and GenAI ecosystem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AI, ML, GenAI, LLMs; what they are good and bad at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 plain vocabulary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2  Prompt engineering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Structured prompts, techniques, verification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 prompt template you reuse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3  Copilot at work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Analysis, summaries, extraction, productivity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 checked Copilot workflow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4  The data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Asset 360, sensors, documents, the security layer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 map of tables and keys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5  Lab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Eight prompt exercises, then your role exercises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Answers you can defend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6  Use cases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Where AI fits your job, and where it must not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Two use-case ideas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No code today. Day 2 opens Google Colab, so keep your Google account handy.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05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AI, machine learning, generative AI: what is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Nested ideas. Each one is a smaller, more specific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0F1626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725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Artificial intelligence   </a:t>
            </a:r>
            <a:r>
              <a:rPr sz="1300" b="0" i="0">
                <a:solidFill>
                  <a:srgbClr val="9FB4C8"/>
                </a:solidFill>
                <a:latin typeface="Calibri"/>
              </a:rPr>
              <a:t>machines doing tasks that need human-like judgement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39596" y="2514600"/>
            <a:ext cx="9509760" cy="685800"/>
          </a:xfrm>
          <a:prstGeom prst="roundRect">
            <a:avLst>
              <a:gd name="adj" fmla="val 13333"/>
            </a:avLst>
          </a:prstGeom>
          <a:solidFill>
            <a:srgbClr val="0F1626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68196" y="251460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Machine learning   </a:t>
            </a:r>
            <a:r>
              <a:rPr sz="1300" b="0" i="0">
                <a:solidFill>
                  <a:srgbClr val="9FB4C8"/>
                </a:solidFill>
                <a:latin typeface="Calibri"/>
              </a:rPr>
              <a:t>learns patterns from data: forecasts, classifiers, anomaly flags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2556" y="3291839"/>
            <a:ext cx="7863840" cy="685800"/>
          </a:xfrm>
          <a:prstGeom prst="roundRect">
            <a:avLst>
              <a:gd name="adj" fmla="val 13333"/>
            </a:avLst>
          </a:prstGeom>
          <a:solidFill>
            <a:srgbClr val="0F1626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91156" y="3291839"/>
            <a:ext cx="7406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Deep learning   </a:t>
            </a:r>
            <a:r>
              <a:rPr sz="1300" b="0" i="0">
                <a:solidFill>
                  <a:srgbClr val="9FB4C8"/>
                </a:solidFill>
                <a:latin typeface="Calibri"/>
              </a:rPr>
              <a:t>many-layer neural networks for text, images, audio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5516" y="4069079"/>
            <a:ext cx="6217920" cy="685800"/>
          </a:xfrm>
          <a:prstGeom prst="roundRect">
            <a:avLst>
              <a:gd name="adj" fmla="val 13333"/>
            </a:avLst>
          </a:prstGeom>
          <a:solidFill>
            <a:srgbClr val="0F1626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4116" y="4069079"/>
            <a:ext cx="5760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Generative AI and LLMs   </a:t>
            </a:r>
            <a:r>
              <a:rPr sz="1300" b="0" i="0">
                <a:solidFill>
                  <a:srgbClr val="9FB4C8"/>
                </a:solidFill>
                <a:latin typeface="Calibri"/>
              </a:rPr>
              <a:t>creates text, code, tables and summaries from a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37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6577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506577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Used in this programme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596128"/>
            <a:ext cx="5102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Today: generative AI. Day 3: a decision tree (ML).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937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506577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06577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Not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96128"/>
            <a:ext cx="5102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Training your own large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943600"/>
            <a:ext cx="6400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Choose by the question, not by the buzzword.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06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How an LLM works, in four ideas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Enough to predict when it will help and when it will mislead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Text is cut into small pieces. The model reads and writes tokens, not meaning.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It predicts the next likely token. Fluent is not the same as true.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548640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7705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87705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Context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407407"/>
            <a:ext cx="5102352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It only uses what is in the conversation. If your table is not in it, it does not exist.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49039"/>
            <a:ext cx="5486400" cy="1783080"/>
          </a:xfrm>
          <a:prstGeom prst="roundRect">
            <a:avLst>
              <a:gd name="adj" fmla="val 6153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87705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7705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Training cut-off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07407"/>
            <a:ext cx="5102352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It knows the public world up to a date. It knows nothing about your plant.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So: give it your evidence, ask for a shape, and check what comes 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ENTERPRISE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07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Where LLMs help, and where they need a human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pattern is the same in every function.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3520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/>
                <a:gridCol w="3291840"/>
                <a:gridCol w="368503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Job to be done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LLM strength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Watch out for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Summarise a long report or incident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Fast, readable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Dropped detail, wrong numbers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Extract fields from documents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Consistent tables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Wrong document version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Explore a table with questions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Quick first look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Silent wrong filter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Draft emails, notes, specifications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Good first draft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Invented facts, wrong tone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Explain code or logs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Plain-language reading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Confident misreading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Decide, approve, authorise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Not its role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 person must own it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48640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48640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Copilot prepares evidence. A qualified person decides.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CHOOSE THE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08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Same asset. Different questions. Different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Use the simplest tool that answers the question.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1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120640"/>
                <a:gridCol w="4206240"/>
                <a:gridCol w="1856231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The question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The tool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What does this table or document say?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Copilot in Excel and chat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Answer only from our approved documents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RAG with LlamaIndex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Day 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Gather evidence across tables and documents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Bounded agent with tools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Is this log window an attack?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Decision tree, used as an agent tool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Day 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650" b="1" i="0">
                          <a:solidFill>
                            <a:srgbClr val="F2F7FB"/>
                          </a:solidFill>
                          <a:latin typeface="Calibri"/>
                        </a:rPr>
                        <a:t>Package it as a business solution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Capstone workflow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50" b="0" i="0">
                          <a:solidFill>
                            <a:srgbClr val="F2F7FB"/>
                          </a:solidFill>
                          <a:latin typeface="Calibri"/>
                        </a:rPr>
                        <a:t>Day 4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3949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3949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949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An agent is the last resort, not the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09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A prompt is a small work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Three things you control decide the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you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Vague question, vague answer. Name the task, the columns and the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78308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it may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441448"/>
            <a:ext cx="322783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Name the table or the document and its version. Nothing else 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How you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322783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Ask how many rows it used. Compare with a filter you can see.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onsolas"/>
              </a:rPr>
              <a:t>WEAK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2F7FB"/>
                </a:solidFill>
                <a:latin typeface="Calibri"/>
              </a:rPr>
              <a:t>"Which assets are risky?"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11480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187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onsolas"/>
              </a:rPr>
              <a:t>STRUCTURED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4805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2F7FB"/>
                </a:solidFill>
                <a:latin typeface="Calibri"/>
              </a:rPr>
              <a:t>"Critical assets, patch overdue, two or more open issues. A table. Say how many."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692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6692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692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Full guide: Day_1_Copilot_and_Data_Understanding/PROMPT_ENGINEERING_GUIDE.md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STRUCTURED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10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seven-part structured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Short tasks drop parts. Important tasks keep all seven.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whose 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962041" y="2327148"/>
            <a:ext cx="14630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26633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8073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8073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what to do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85754" y="2327148"/>
            <a:ext cx="146304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50346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1786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1786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why, for whom,</a:t>
            </a:r>
          </a:p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as of when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09467" y="2327148"/>
            <a:ext cx="146304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74059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5499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5499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which table or</a:t>
            </a:r>
          </a:p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document version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33180" y="2327148"/>
            <a:ext cx="146304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7772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9212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9212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what it must</a:t>
            </a:r>
          </a:p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not do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56893" y="2327148"/>
            <a:ext cx="146304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21485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12925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12925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table, bullets,</a:t>
            </a:r>
          </a:p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JSON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080606" y="2327148"/>
            <a:ext cx="14630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45198" y="1783080"/>
            <a:ext cx="1440833" cy="1325880"/>
          </a:xfrm>
          <a:prstGeom prst="roundRect">
            <a:avLst>
              <a:gd name="adj" fmla="val 689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6638" y="1874519"/>
            <a:ext cx="125795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2F7FB"/>
                </a:solidFill>
                <a:latin typeface="Calibri"/>
              </a:rPr>
              <a:t>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6638" y="2295144"/>
            <a:ext cx="125795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how many rows,</a:t>
            </a:r>
          </a:p>
          <a:p>
            <a:pPr algn="ctr"/>
            <a:r>
              <a:rPr sz="1200" b="0" i="0">
                <a:solidFill>
                  <a:srgbClr val="9FB4C8"/>
                </a:solidFill>
                <a:latin typeface="Calibri"/>
              </a:rPr>
              <a:t>what if missing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383280"/>
            <a:ext cx="11183112" cy="2286000"/>
          </a:xfrm>
          <a:prstGeom prst="roundRect">
            <a:avLst>
              <a:gd name="adj" fmla="val 3200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74720"/>
            <a:ext cx="10817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A-001 EXAMPLE IN COPILOT IN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3730752"/>
            <a:ext cx="1078077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Role: You are an OT security analyst.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Task: List Critical assets with Patch_Status Overdue and 2+ Open_Security_Issues.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Context: Monthly review. Data is as of 2026-08-25.   Evidence: Use only this table.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Constraints: Do not add assets that miss any condition.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Format: Table of asset_id, Network_Exposure, Open_Security_Issues, highest first.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Check: Say how many assets matched. Say "not in the data" if unsure.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852160"/>
            <a:ext cx="11183112" cy="502920"/>
          </a:xfrm>
          <a:prstGeom prst="roundRect">
            <a:avLst>
              <a:gd name="adj" fmla="val 1818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852160"/>
            <a:ext cx="6400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Expected answer: 4 assets, A-001, A-010, A-065, A-110. Different number? Find out why.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STRUCTURED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11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Techniques that change 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Add one at a time. Watch what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Be specific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Table, columns, filter,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7830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Give the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4414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Table, bullets, JSON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Show an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One or two input and output pairs.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3989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7398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Break into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2702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Filter, then count, then explain.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36118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73989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37398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Ask for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2702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Quote the row or sentence used.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611880"/>
            <a:ext cx="3611880" cy="164592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73989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739896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Ask for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270248"/>
            <a:ext cx="3227832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0" i="0">
                <a:solidFill>
                  <a:srgbClr val="9FB4C8"/>
                </a:solidFill>
                <a:latin typeface="Calibri"/>
              </a:rPr>
              <a:t>What can you not conclude?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235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6235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6235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Then iterate: change one thing, run again, compare. Prompting is a loop, not a spell.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STRUCTURED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12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Eight reusable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Pick the pattern for the job, then fill the brackets.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Summarise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For an audience, n bullets, exact numbers.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4144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Fields into a table, "not stated" if missing.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44144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Two items, criteria, biggest difference.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7830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1976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Classify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44144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Labels with rules and a reason column.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947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2277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227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445312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No jargon, and what it does not show.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9272" y="37947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3922776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9227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Critique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45312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Against a standard. Gaps, not a rewrite.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37947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35624" y="392277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39227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Draft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445312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Tone, length, mark assumptions.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37947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51976" y="392277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53144" y="39227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3144" y="4453128"/>
            <a:ext cx="231343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Steps, owner role, decisions for a person.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8521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8521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8521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Templates for each are in section 5 of the guide.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13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Copilot for analysis, summaries, extraction and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Four jobs we practise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310896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23134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Filter, sort and pivot a table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Add columns, charts, formulas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Explain a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783080"/>
            <a:ext cx="2697480" cy="310896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Summarisation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41448"/>
            <a:ext cx="23134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Reports, incidents, timelines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Choose audience and length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List what was left 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783080"/>
            <a:ext cx="2697480" cy="310896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441448"/>
            <a:ext cx="23134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Fields from a procedure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Tables from long text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Cite document and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783080"/>
            <a:ext cx="2697480" cy="310896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51976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Productivity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2441448"/>
            <a:ext cx="2313432" cy="2359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Draft emails and notes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Meeting and review packs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Plans with owner roles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120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In every case: name the evidence, ask for a shape, check the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14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Set up Copilot in Excel so it works first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Most failures on the day are setup, not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Official 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3230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sign in with your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Microsoft 365 account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5000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3736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OneDrive or
SharePoint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43230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save the workbook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there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5000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3736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AutoSave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4942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toggle top left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5000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3736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.xlsx and a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43230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data formatted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as a table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50008"/>
            <a:ext cx="25603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3736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2880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2F7FB"/>
                </a:solidFill>
                <a:latin typeface="Calibri"/>
              </a:rPr>
              <a:t>Click inside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4942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then open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Copilot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747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Know the limits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1330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Large tables can take 30 seconds or more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Ask narrow questions on the big log sheets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Licence rules differ: confirm yours before the course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47472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60273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02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If Copilot is unavailable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33087"/>
            <a:ext cx="5102352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Work on your neighbour's screen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Use the filters and pivots; the check answers still apply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Tell the instructor: we log it for the access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Official Microsoft accounts only. Never paste real plant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15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Never trust a fluent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Every exercise has a check answer. Use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structured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prompt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957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9514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did it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actually use?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957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filter or pivot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yourself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957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supported,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contradicted,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unknown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95728"/>
            <a:ext cx="256032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463040"/>
          </a:xfrm>
          <a:prstGeom prst="roundRect">
            <a:avLst>
              <a:gd name="adj" fmla="val 6250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Decide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a person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5204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648456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6484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Watch for traps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17880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Superseded and draft documents look approved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Correlation is not cause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F87171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High accuracy can hide a useless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35204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3648456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484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Habits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178808"/>
            <a:ext cx="5102352" cy="1353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Ask for the row count and the source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Unknown is a valid answer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Write down what you 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Copilot prepares evidence. It does not approve a patch or close an incident.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16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Meet A-001: our single enterprise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One synthetic cooling-water pump carries every exercise in the programme.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4206240" cy="3931920"/>
          </a:xfrm>
          <a:prstGeom prst="roundRect">
            <a:avLst>
              <a:gd name="adj" fmla="val 279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65376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865376"/>
            <a:ext cx="3840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38404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Structured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560320"/>
            <a:ext cx="3822191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Asset master and system context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Hourly sensor readings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Asset health scores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Work orders, inspections, maintenance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Projects, risks and document links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Open work: 6 orders, 3 high priority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9FB4C8"/>
                </a:solidFill>
                <a:latin typeface="Calibri"/>
              </a:rPr>
              <a:t>Health score 68.05, risk MEDIUM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937760" y="1737360"/>
          <a:ext cx="6748272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4206240"/>
                <a:gridCol w="1993392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Document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Status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Reliability &amp; Escalation Policy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Operating &amp; Usage Guide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Procedure V1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87171"/>
                          </a:solidFill>
                          <a:latin typeface="Calibri"/>
                        </a:rPr>
                        <a:t>SUPERSEDED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&amp; PM Procedure V2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Procedure V3D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5A623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Troubleshooting &amp; Diagnostic Guide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Condition Monitoring Report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Inspection Work Order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5A623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2F7FB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F2F7FB"/>
                          </a:solidFill>
                          <a:latin typeface="Calibri"/>
                        </a:rPr>
                        <a:t>Field Condition Report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34D399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806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Tables give structured facts. Documents give organisational knowledge. Neither replaces the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ENTERPRISE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17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Structured and unstructured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Most real questions need both.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Structured: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Rows and columns with a fixed meaning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Asset 360, work orders, sensor readings, logs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Best for counts, filters, trends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Copilot in Excel works 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Unstructured: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41448"/>
            <a:ext cx="510235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Policies, procedures, reports, runbooks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19 documents in this programme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Best for rules, reasons, procedures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Copilot chat works here; RAG on Day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8348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forecast or a flag without the procedure that governs it is not a decision.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ENTERPRISE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18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Asset 360 data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One key joins almost everything: asset_id, A-001 to A-128.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183112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937760"/>
                <a:gridCol w="2011680"/>
                <a:gridCol w="423367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Table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Rows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What it holds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assets / asset_360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128 / 128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Asset master and one-row summary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a001_sensor_hourly_90d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2,160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Hourly A-001 sensors, last 90 days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a001_event_timeline / health_scores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49 / 90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What happened, condition over time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work_orders / inspections / maintenance_history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1,500 / 600 / 900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Operational response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a001_project_risk_360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Risks and project context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a001_source_documents / document_evidence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9 / 18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Document register and links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1206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206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206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Know the grain: one asset, one hour, one event, one document. Excel versions: data/excel.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A-001 VIBRATION, LAST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19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2F7FB"/>
                </a:solidFill>
                <a:latin typeface="Calibri"/>
              </a:rPr>
              <a:t>Ask Copilot to find the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Daily mean vibration (mm/s), A-001. Synthetic data. Prompt: "Plot the daily average and say when the rise starts."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783080"/>
          <a:ext cx="78638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641080" y="1828800"/>
            <a:ext cx="3044952" cy="1188720"/>
          </a:xfrm>
          <a:prstGeom prst="roundRect">
            <a:avLst>
              <a:gd name="adj" fmla="val 923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05672" y="2907791"/>
            <a:ext cx="2715768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938528"/>
            <a:ext cx="304495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34D399"/>
                </a:solidFill>
                <a:latin typeface="Calibri"/>
              </a:rPr>
              <a:t>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19" y="2520086"/>
            <a:ext cx="286207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mm/s typical level for weeks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3154680"/>
            <a:ext cx="3044952" cy="1188720"/>
          </a:xfrm>
          <a:prstGeom prst="roundRect">
            <a:avLst>
              <a:gd name="adj" fmla="val 923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05672" y="4233672"/>
            <a:ext cx="2715768" cy="36576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3264408"/>
            <a:ext cx="3044952" cy="653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0">
                <a:solidFill>
                  <a:srgbClr val="F87171"/>
                </a:solidFill>
                <a:latin typeface="Calibri"/>
              </a:rPr>
              <a:t>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19" y="3845966"/>
            <a:ext cx="2862072" cy="416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mm/s by 25 Aug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4480560"/>
            <a:ext cx="3044952" cy="1234440"/>
          </a:xfrm>
          <a:prstGeom prst="roundRect">
            <a:avLst>
              <a:gd name="adj" fmla="val 8888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05672" y="5605272"/>
            <a:ext cx="2715768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590288"/>
            <a:ext cx="3044952" cy="678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5A623"/>
                </a:solidFill>
                <a:latin typeface="Calibri"/>
              </a:rPr>
              <a:t>22 Jul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5200192"/>
            <a:ext cx="2862072" cy="432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9FB4C8"/>
                </a:solidFill>
                <a:latin typeface="Calibri"/>
              </a:rPr>
              <a:t>rise starts; anomaly flags from 18 Aug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897880"/>
            <a:ext cx="6400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 time plot turns a number into a story. Ask what changed, and when.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EXPLORE DATA WITH GENAI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20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Five questions to ask any new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Use Copilot to answer them in minutes. Then check.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7739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739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3736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What is in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208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rows, columns, grain, date range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359152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32257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Is it clean?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6060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missing values, duplicates, odd 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44368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44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2907791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What patterns show?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19125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groups, trends, correlations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295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19" y="349300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What stands out?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77647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outliers, one asset that differs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19" y="4078224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What is missing?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19" y="43616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what the data cannot tell 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754880"/>
            <a:ext cx="11183112" cy="1005840"/>
          </a:xfrm>
          <a:prstGeom prst="roundRect">
            <a:avLst>
              <a:gd name="adj" fmla="val 7272"/>
            </a:avLst>
          </a:prstGeom>
          <a:solidFill>
            <a:srgbClr val="050810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846320"/>
            <a:ext cx="10817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22D3EE"/>
                </a:solidFill>
                <a:latin typeface="Consolas"/>
              </a:rPr>
              <a:t>STARTER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5102352"/>
            <a:ext cx="107807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Prompt: "Describe this table: rows, columns, grain, date range. List columns with missing values.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6E4F0"/>
                </a:solidFill>
                <a:latin typeface="Consolas"/>
              </a:rPr>
              <a:t>Then suggest three questions worth asking. Say which columns you used."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852160"/>
            <a:ext cx="11183112" cy="475488"/>
          </a:xfrm>
          <a:prstGeom prst="roundRect">
            <a:avLst>
              <a:gd name="adj" fmla="val 19230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852160"/>
            <a:ext cx="64008" cy="47548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52160"/>
            <a:ext cx="107899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The last question matters most: what can this data not tell us?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21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The data now has a security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Same plant, same assets. Four kinds of data, one join key: asset_id.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274320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231343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8 new columns on Asset 360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174 vulnerabilities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Access review per asset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22D3EE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Combined priority 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697480" cy="274320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Raw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2441448"/>
            <a:ext cx="231343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14,137 login events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21,492 firewall flows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3,048 controller commands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30 days, 47 gateways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2697480" cy="2743200"/>
          </a:xfrm>
          <a:prstGeom prst="roundRect">
            <a:avLst>
              <a:gd name="adj" fmla="val 4067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11095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Detections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41448"/>
            <a:ext cx="2313432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478 SIEM alerts, 6 rules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43 incidents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False positives included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F5A623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Noise to tune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783080"/>
            <a:ext cx="2679192" cy="2743200"/>
          </a:xfrm>
          <a:prstGeom prst="roundRect">
            <a:avLst>
              <a:gd name="adj" fmla="val 409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1911095"/>
            <a:ext cx="2313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Model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441448"/>
            <a:ext cx="2295144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23,452 windows of 15 min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16 features from the logs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Attack labels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590" b="0" i="0">
                <a:solidFill>
                  <a:srgbClr val="9FB4C8"/>
                </a:solidFill>
                <a:latin typeface="Calibri"/>
              </a:rPr>
              <a:t>Used on 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spc="20">
                <a:solidFill>
                  <a:srgbClr val="22D3EE"/>
                </a:solidFill>
                <a:latin typeface="Consolas"/>
              </a:rPr>
              <a:t>ASSET_CRITICALITY | SECURITY_RISK_LEVEL | OPEN_SECURITY_ISSUES | PATCH_STATUS | NETWORK_EXPOSURE | ACCESS_RISK_FLAG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4068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64008" cy="5303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4068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All simulated. Attack frequency is exaggerated for teaching.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22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One dataset, four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The same tables answer different questions for different roles.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937760"/>
                <a:gridCol w="386791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Perspective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Question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Key fields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assets behave abnormally?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Ops_Attention_Flag, health_score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assets and systems need attention?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urgent work + open issues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Cybersecurity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Which critical assets carry exposure?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Patch_Status, Network_Exposure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Management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What do we prioritise overall?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Priority_Score, Priority_Band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72000"/>
            <a:ext cx="11183112" cy="822960"/>
          </a:xfrm>
          <a:prstGeom prst="roundRect">
            <a:avLst>
              <a:gd name="adj" fmla="val 1111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64008" cy="8229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720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Cross-discipline question: high-criticality assets with abnormal readings and unresolved security issues. 5 assets: A-001, A-040, A-033, A-109, A-115.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FB4C8"/>
                </a:solidFill>
                <a:latin typeface="Calibri"/>
              </a:rPr>
              <a:t>Operations alone flags 2 assets with elevated health risk. Operations plus security gives a longer, better list.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23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Lab 1: prompt practice, then your role exercises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Weak prompt first, structured prompt second, compare with the check answer.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Open the workbook in OneDrive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AutoSave on, click inside the table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PE1 to PE4 in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specific, format, multiple conditions,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PE5 and PE6 in Copilot 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extract from the patch standard; pick the right version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81965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196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PE7 and PE8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06654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counting; supported, contradicted, unknown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268833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68833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517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Role exercises E01 to E16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3522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your role card names the first two or three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3557015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557015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70B14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5204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2F7FB"/>
                </a:solidFill>
                <a:latin typeface="Calibri"/>
              </a:rPr>
              <a:t>Write three 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039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4C8"/>
                </a:solidFill>
                <a:latin typeface="Calibri"/>
              </a:rPr>
              <a:t>what Copilot got right, what you fixed, what it could not know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onsolas"/>
              </a:rPr>
              <a:t>PE1-PE8  |  30 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E01-E16  |  60 min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572000"/>
            <a:ext cx="356616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45720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onsolas"/>
              </a:rPr>
              <a:t>Check answers included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62356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62356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62356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If Copilot is slow: ask narrower questions on the big log sheets.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24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Lab 2: choose your 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Same data, a different task for each role. Hand in one page.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2" cy="26517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206240"/>
                <a:gridCol w="4599432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Lane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Roles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Deliverable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Investigate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Incident preparedness, OT assurance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A-001 timeline: supports / contradicts / unknown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Assure and rank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IT assurance, OT risk, project management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Top risks and a remediation plan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Detect and build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Security services, development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Thresholds and a scoring rule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50" b="1" i="0">
                          <a:solidFill>
                            <a:srgbClr val="F2F7FB"/>
                          </a:solidFill>
                          <a:latin typeface="Calibri"/>
                        </a:rPr>
                        <a:t>Connect and design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Integration, architecture, delivery, plant operations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50" b="0" i="0">
                          <a:solidFill>
                            <a:srgbClr val="F2F7FB"/>
                          </a:solidFill>
                          <a:latin typeface="Calibri"/>
                        </a:rPr>
                        <a:t>Join keys, access matrix, data-flow sketch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663440"/>
            <a:ext cx="45720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resources/PARTICIPANT_ROLES_GUIDE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49240"/>
            <a:ext cx="11183112" cy="640080"/>
          </a:xfrm>
          <a:prstGeom prst="roundRect">
            <a:avLst>
              <a:gd name="adj" fmla="val 14285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349240"/>
            <a:ext cx="64008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Say what the data supports, what it contradicts, and what a person must decide.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AI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25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Find a practical AI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Start with the decision, not the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is decided,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by whom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3744" y="235000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4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9504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which data and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documents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18888" y="235000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3208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what if it is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wrong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2350008"/>
            <a:ext cx="256032" cy="237744"/>
          </a:xfrm>
          <a:prstGeom prst="rightArrow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88352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time, quality,</a:t>
            </a:r>
          </a:p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risk reduced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09176" y="235000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1783080"/>
            <a:ext cx="2002536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74936" y="1874519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Human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2295144"/>
            <a:ext cx="18196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who reviews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3383280"/>
          <a:ext cx="11183111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825703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Area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 spc="100">
                          <a:solidFill>
                            <a:srgbClr val="22D3EE"/>
                          </a:solidFill>
                          <a:latin typeface="Consolas"/>
                        </a:rPr>
                        <a:t>A use case to consider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131C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Cybersecurity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Summarise alerts and incidents for a morning review, with sources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OT / plant operations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Prepare an asset review pack from work orders and sensor trends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Applications and integration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Explain interface logs and find the failing join key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F1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2F7FB"/>
                          </a:solidFill>
                          <a:latin typeface="Calibri"/>
                        </a:rPr>
                        <a:t>Delivery and architecture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F2F7FB"/>
                          </a:solidFill>
                          <a:latin typeface="Calibri"/>
                        </a:rPr>
                        <a:t>Compare documents and designs against a standard</a:t>
                      </a:r>
                    </a:p>
                  </a:txBody>
                  <a:tcPr marL="128016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26324A"/>
                      </a:solidFill>
                    </a:lnB>
                    <a:solidFill>
                      <a:srgbClr val="070B14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1818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760720"/>
            <a:ext cx="64008" cy="502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607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2F7FB"/>
                </a:solidFill>
                <a:latin typeface="Calibri"/>
              </a:rPr>
              <a:t>Time saved is only one measure. Ask what it costs when the decision goes wrong.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26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Rules for everyone, every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Short, and they apply from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6118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Synthetic data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32278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No real ENEC data, names, systems or incidents go into any AI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1783080"/>
            <a:ext cx="36118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Check before you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441448"/>
            <a:ext cx="32278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Compare with a filter. Cite document and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783080"/>
            <a:ext cx="36118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911095"/>
            <a:ext cx="54864" cy="3840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91109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A person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322783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No exercise acts on a control system. Agents on Day 3 read and recommend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03320"/>
            <a:ext cx="36118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831335"/>
            <a:ext cx="54864" cy="3840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83133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Keys stay secret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361688"/>
            <a:ext cx="32278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Your OpenAI key goes in Colab Secrets, never in a cell or on GitHub.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3703320"/>
            <a:ext cx="36118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383133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7" y="383133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Official accounts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7" y="4361688"/>
            <a:ext cx="32278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Copilot with your Microsoft account. Colab with a personal Google account.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703320"/>
            <a:ext cx="3611880" cy="1737360"/>
          </a:xfrm>
          <a:prstGeom prst="roundRect">
            <a:avLst>
              <a:gd name="adj" fmla="val 6315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01000" y="3831335"/>
            <a:ext cx="54864" cy="3840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831335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Say what you do not know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2168" y="4361688"/>
            <a:ext cx="32278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90" b="0" i="0">
                <a:solidFill>
                  <a:srgbClr val="9FB4C8"/>
                </a:solidFill>
                <a:latin typeface="Calibri"/>
              </a:rPr>
              <a:t>Unknown is a good answer.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6072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76072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Training notice: nothing here is an engineering diagnosis or a maintenance authorisation.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DAY 1 TO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27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From using AI to building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Tomorrow you build the same thing in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11095"/>
            <a:ext cx="54864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What Day 1 gave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5102352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Fluent use of Copilot, with checks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 structured prompt you can reuse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A map of the data and the documents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34D399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Two use-case ideas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0F1626"/>
          </a:solidFill>
          <a:ln w="12700">
            <a:solidFill>
              <a:srgbClr val="26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11095"/>
            <a:ext cx="54864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11095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2F7FB"/>
                </a:solidFill>
                <a:latin typeface="Calibri"/>
              </a:rPr>
              <a:t>Day 2 preparation (10 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0235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Sign in to Google Colab with a Google account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Have your OpenAI key ready for Colab Secrets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Check you can open github.com/Decoding-Data-Science/enec2026oct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10" b="1" i="0">
                <a:solidFill>
                  <a:srgbClr val="8B5CF6"/>
                </a:solidFill>
                <a:latin typeface="Calibri"/>
              </a:rPr>
              <a:t>•  </a:t>
            </a:r>
            <a:r>
              <a:rPr sz="1710" b="0" i="0">
                <a:solidFill>
                  <a:srgbClr val="9FB4C8"/>
                </a:solidFill>
                <a:latin typeface="Calibri"/>
              </a:rPr>
              <a:t>Open Day2_00 and run the first cell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29200"/>
            <a:ext cx="11183112" cy="685800"/>
          </a:xfrm>
          <a:prstGeom prst="roundRect">
            <a:avLst>
              <a:gd name="adj" fmla="val 13333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29200"/>
            <a:ext cx="64008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Tomorrow, Day 2: Colab, OpenAI and LlamaIndex. Build a RAG application on trusted A-001 documents.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8B5CF6">
                  <a:alpha val="38000"/>
                </a:srgbClr>
              </a:gs>
              <a:gs pos="100000">
                <a:srgbClr val="8B5C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365760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D3EE">
                  <a:alpha val="22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22D3EE"/>
                </a:solidFill>
                <a:latin typeface="Consolas"/>
              </a:rPr>
              <a:t>EXTRA SLIDES FOR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7488"/>
                </a:solidFill>
                <a:latin typeface="Consolas"/>
              </a:rPr>
              <a:t>AI for Coders &amp; Software Engineers  |  ENEC 2026  |  Synthetic training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22D3EE"/>
                </a:solidFill>
                <a:latin typeface="Consolas"/>
              </a:rPr>
              <a:t>28</a:t>
            </a:r>
            <a:r>
              <a:rPr sz="1100">
                <a:solidFill>
                  <a:srgbClr val="5F7488"/>
                </a:solidFill>
                <a:latin typeface="Consolas"/>
              </a:rPr>
              <a:t>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2F7FB"/>
                </a:solidFill>
                <a:latin typeface="Calibri"/>
              </a:rPr>
              <a:t>Build small. Test against reality.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9FB4C8"/>
                </a:solidFill>
                <a:latin typeface="Calibri"/>
              </a:rPr>
              <a:t>A pilot should earn its claim with a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current process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97529" y="2395728"/>
            <a:ext cx="256032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71850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real scenarios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6459" y="2395728"/>
            <a:ext cx="256032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0779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19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19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quality + time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5389" y="2395728"/>
            <a:ext cx="256032" cy="237744"/>
          </a:xfrm>
          <a:prstGeom prst="right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09710" y="1828800"/>
            <a:ext cx="2576322" cy="1371600"/>
          </a:xfrm>
          <a:prstGeom prst="roundRect">
            <a:avLst>
              <a:gd name="adj" fmla="val 6666"/>
            </a:avLst>
          </a:prstGeom>
          <a:solidFill>
            <a:srgbClr val="0F1626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1150" y="1920240"/>
            <a:ext cx="239344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2F7FB"/>
                </a:solidFill>
                <a:latin typeface="Calibri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1150" y="2340864"/>
            <a:ext cx="239344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9FB4C8"/>
                </a:solidFill>
                <a:latin typeface="Calibri"/>
              </a:rPr>
              <a:t>human judgment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 spc="100">
                <a:solidFill>
                  <a:srgbClr val="22D3EE"/>
                </a:solidFill>
                <a:latin typeface="Consolas"/>
              </a:rPr>
              <a:t>PLC / SCADA   |   HISTORIAN   |   WORK ORDERS   |   ERP   |   APPROVED 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63440"/>
            <a:ext cx="11183112" cy="530352"/>
          </a:xfrm>
          <a:prstGeom prst="roundRect">
            <a:avLst>
              <a:gd name="adj" fmla="val 17241"/>
            </a:avLst>
          </a:prstGeom>
          <a:solidFill>
            <a:srgbClr val="13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64008" cy="5303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10789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2F7FB"/>
                </a:solidFill>
                <a:latin typeface="Calibri"/>
              </a:rPr>
              <a:t>An agent gathers evidence. A person owns the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