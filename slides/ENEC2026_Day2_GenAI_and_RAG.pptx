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-1828800"/>
            <a:ext cx="8686800" cy="8686800"/>
          </a:xfrm>
          <a:prstGeom prst="ellipse">
            <a:avLst/>
          </a:prstGeom>
          <a:gradFill rotWithShape="1">
            <a:gsLst>
              <a:gs pos="0">
                <a:srgbClr val="8B5CF6">
                  <a:alpha val="45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22D3EE"/>
                </a:solidFill>
                <a:latin typeface="Consolas"/>
              </a:rPr>
              <a:t>DAY 2  |  AI FOR CODERS &amp; SOFTWARE ENGINEERS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412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200" b="1" i="0">
                <a:solidFill>
                  <a:srgbClr val="F2F7FB"/>
                </a:solidFill>
                <a:latin typeface="Calibri"/>
              </a:rPr>
              <a:t>Generative AI &amp;</a:t>
            </a:r>
          </a:p>
          <a:p>
            <a:pPr algn="l">
              <a:lnSpc>
                <a:spcPct val="95000"/>
              </a:lnSpc>
            </a:pPr>
            <a:r>
              <a:rPr sz="4200" b="1" i="0">
                <a:solidFill>
                  <a:srgbClr val="F2F7FB"/>
                </a:solidFill>
                <a:latin typeface="Calibri"/>
              </a:rPr>
              <a:t>Retrieval-Augmented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9FB4C8"/>
                </a:solidFill>
                <a:latin typeface="Calibri"/>
              </a:rPr>
              <a:t>Ground every answer in trusted A-001 knowledge, and prove it with sources.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4434840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34340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F7FB"/>
                </a:solidFill>
                <a:latin typeface="Calibri"/>
              </a:rPr>
              <a:t>Practical LLM behaviour: prompts, tokens, context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818888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727448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F7FB"/>
                </a:solidFill>
                <a:latin typeface="Calibri"/>
              </a:rPr>
              <a:t>Hallucination risk and the enterprise evidence rule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5202936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5111496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F7FB"/>
                </a:solidFill>
                <a:latin typeface="Calibri"/>
              </a:rPr>
              <a:t>Chunking, embeddings and retrieval, written from scratch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5586983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5495544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F7FB"/>
                </a:solidFill>
                <a:latin typeface="Calibri"/>
              </a:rPr>
              <a:t>A governed A-001 pipeline with cited answers and an 18-question 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600200"/>
            <a:ext cx="2606040" cy="3200400"/>
          </a:xfrm>
          <a:prstGeom prst="roundRect">
            <a:avLst>
              <a:gd name="adj" fmla="val 7017"/>
            </a:avLst>
          </a:prstGeom>
          <a:solidFill>
            <a:srgbClr val="0F1626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7830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200">
                <a:solidFill>
                  <a:srgbClr val="22D3EE"/>
                </a:solidFill>
                <a:latin typeface="Consolas"/>
              </a:rPr>
              <a:t>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10312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2F7FB"/>
                </a:solidFill>
                <a:latin typeface="Calibri"/>
              </a:rPr>
              <a:t>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9718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9FB4C8"/>
                </a:solidFill>
                <a:latin typeface="Calibri"/>
              </a:rPr>
              <a:t>Retrieve, then generate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64040" y="3474720"/>
            <a:ext cx="1783080" cy="18288"/>
          </a:xfrm>
          <a:prstGeom prst="rect">
            <a:avLst/>
          </a:prstGeom>
          <a:solidFill>
            <a:srgbClr val="26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6118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FB4C8"/>
                </a:solidFill>
                <a:latin typeface="Calibri"/>
              </a:rPr>
              <a:t>Documents + OpenAI</a:t>
            </a:r>
          </a:p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FB4C8"/>
                </a:solidFill>
                <a:latin typeface="Calibri"/>
              </a:rPr>
              <a:t>Runs in Colab</a:t>
            </a:r>
          </a:p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FB4C8"/>
                </a:solidFill>
                <a:latin typeface="Calibri"/>
              </a:rPr>
              <a:t>Every answer cited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7488"/>
                </a:solidFill>
                <a:latin typeface="Consolas"/>
              </a:rPr>
              <a:t>Instructor: Mohammad Arshad Ahmed   |   github.com/Decoding-Data-Science/enec2026oct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FROM DAY 1 TO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02</a:t>
            </a:r>
            <a:r>
              <a:rPr sz="1100">
                <a:solidFill>
                  <a:srgbClr val="5F7488"/>
                </a:solidFill>
                <a:latin typeface="Consolas"/>
              </a:rPr>
              <a:t>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The same prompt, now inside an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Yesterday you wrote prompts by hand in Copilot. Today code writes them for you.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2" cy="31821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937760"/>
                <a:gridCol w="6245352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45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Day 1 in Copilot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Day 2 in Python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2F7FB"/>
                          </a:solidFill>
                          <a:latin typeface="Calibri"/>
                        </a:rPr>
                        <a:t>Role and constraints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F2F7FB"/>
                          </a:solidFill>
                          <a:latin typeface="Calibri"/>
                        </a:rPr>
                        <a:t>the system message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2F7FB"/>
                          </a:solidFill>
                          <a:latin typeface="Calibri"/>
                        </a:rPr>
                        <a:t>Evidence: a table or a document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F2F7FB"/>
                          </a:solidFill>
                          <a:latin typeface="Calibri"/>
                        </a:rPr>
                        <a:t>text in the prompt, later retrieved by RAG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2F7FB"/>
                          </a:solidFill>
                          <a:latin typeface="Calibri"/>
                        </a:rPr>
                        <a:t>Format: a table or bullets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F2F7FB"/>
                          </a:solidFill>
                          <a:latin typeface="Calibri"/>
                        </a:rPr>
                        <a:t>a structured response (JSON) your code can read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2F7FB"/>
                          </a:solidFill>
                          <a:latin typeface="Calibri"/>
                        </a:rPr>
                        <a:t>Check: compare with a filter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F2F7FB"/>
                          </a:solidFill>
                          <a:latin typeface="Calibri"/>
                        </a:rPr>
                        <a:t>tests your code can run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2F7FB"/>
                          </a:solidFill>
                          <a:latin typeface="Calibri"/>
                        </a:rPr>
                        <a:t>A person reads the answer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F2F7FB"/>
                          </a:solidFill>
                          <a:latin typeface="Calibri"/>
                        </a:rPr>
                        <a:t>a program may read it, so checks matter more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30352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30352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30352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Same ideas. The difference is that a program, not a person, is the next reader.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03</a:t>
            </a:r>
            <a:r>
              <a:rPr sz="1100">
                <a:solidFill>
                  <a:srgbClr val="5F7488"/>
                </a:solidFill>
                <a:latin typeface="Consolas"/>
              </a:rPr>
              <a:t>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Google Colab: a simple mental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Five words you can navigate by: notebook, runtime, files, secrets,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002536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Notebook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95144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cells of text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and Python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3744" y="2350008"/>
            <a:ext cx="25603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064" y="1783080"/>
            <a:ext cx="2002536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4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2295144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where the code runs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(a temporary VM)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18888" y="2350008"/>
            <a:ext cx="25603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93208" y="1783080"/>
            <a:ext cx="2002536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295144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data and documents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cloned from GitHub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4032" y="2350008"/>
            <a:ext cx="256032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88352" y="1783080"/>
            <a:ext cx="2002536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Secrets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295144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your OpenAI key,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never in code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09176" y="2350008"/>
            <a:ext cx="256032" cy="237744"/>
          </a:xfrm>
          <a:prstGeom prst="rightArrow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83496" y="1783080"/>
            <a:ext cx="2002536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4936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2295144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insight, chart,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answer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47472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60273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360273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What to remember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133087"/>
            <a:ext cx="5102352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The session is temporary: close it and files are gone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Re-running from the top rebuilds everything in about a minute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Download or save to Drive anything you want to keep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347472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3602736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60273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What this setup does not need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133087"/>
            <a:ext cx="5102352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No workspace, cluster or storage administration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No large downloads: the data is a small slice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No hosting account: everything runs in the notebook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064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8064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If you can say where code runs and where data lives, you can navigate Colab.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HANDS-ON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04</a:t>
            </a:r>
            <a:r>
              <a:rPr sz="1100">
                <a:solidFill>
                  <a:srgbClr val="5F7488"/>
                </a:solidFill>
                <a:latin typeface="Consolas"/>
              </a:rPr>
              <a:t>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From zero to ready in five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Notebook Day2_00 does the heavy lifting. Run cells top to bottom with Shift + Enter.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2002536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Open Colab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9424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colab.research.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google.com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3744" y="2281428"/>
            <a:ext cx="25603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064" y="1737360"/>
            <a:ext cx="2002536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4" y="182880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Add the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2249424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Secrets panel: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OPENAI_API_KEY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18888" y="2281428"/>
            <a:ext cx="256032" cy="237744"/>
          </a:xfrm>
          <a:prstGeom prst="rightArrow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93208" y="1737360"/>
            <a:ext cx="2002536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182880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Open Day2_00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249424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from the README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link on GitHub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4032" y="2281428"/>
            <a:ext cx="25603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88352" y="1737360"/>
            <a:ext cx="2002536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182880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Run setup cells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432304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install, clone,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load tables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09176" y="2281428"/>
            <a:ext cx="256032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83496" y="1737360"/>
            <a:ext cx="2002536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4936" y="182880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2249424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A-001 found,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model picked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38328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050810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47472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22D3EE"/>
                </a:solidFill>
                <a:latin typeface="Consolas"/>
              </a:rPr>
              <a:t>READY WHEN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3730752"/>
            <a:ext cx="508406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[x] OpenAI key found in Colab Secrets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[x] A model is selected from the fallback list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[x] Tables loaded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[x] A-001 found in asset_360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[x] Documents found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338328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9632" y="3511296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51129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Rules for the 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41648"/>
            <a:ext cx="5102352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Add it once; turn Notebook access ON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Never type it into a code cell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If it may have leaked, revoke 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8064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8064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8064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If GitHub is blocked: use the zip fallback from START_HERE and keep going.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OPENING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05</a:t>
            </a:r>
            <a:r>
              <a:rPr sz="1100">
                <a:solidFill>
                  <a:srgbClr val="5F7488"/>
                </a:solidFill>
                <a:latin typeface="Consolas"/>
              </a:rPr>
              <a:t>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Ask a general LLM about A-001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Try it live before you explain anything.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1183112" cy="914400"/>
          </a:xfrm>
          <a:prstGeom prst="roundRect">
            <a:avLst>
              <a:gd name="adj" fmla="val 10000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onsolas"/>
              </a:rPr>
              <a:t>ASK A GENERAL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2F7FB"/>
                </a:solidFill>
                <a:latin typeface="Calibri"/>
              </a:rPr>
              <a:t>"Which inspection procedure is currently approved for A-001, and what does it require?"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3611880" cy="2468880"/>
          </a:xfrm>
          <a:prstGeom prst="roundRect">
            <a:avLst>
              <a:gd name="adj" fmla="val 4444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099816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099816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1  It may not know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630168"/>
            <a:ext cx="3227832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Private procedures, current approvals and internal reports are not inside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8536" y="2971800"/>
            <a:ext cx="3611880" cy="2468880"/>
          </a:xfrm>
          <a:prstGeom prst="roundRect">
            <a:avLst>
              <a:gd name="adj" fmla="val 4444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8536" y="3099816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9704" y="3099816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2  Knowledge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3630168"/>
            <a:ext cx="3227832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Procedures are revised. Training data has a cutoff; approvals change after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4152" y="2971800"/>
            <a:ext cx="3611880" cy="2468880"/>
          </a:xfrm>
          <a:prstGeom prst="roundRect">
            <a:avLst>
              <a:gd name="adj" fmla="val 4444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74152" y="3099816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099816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3  It will still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630168"/>
            <a:ext cx="3227832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A fluent, confident, invented procedure is the most dangerous output of all.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66928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66928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66928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The fix is not a bigger model. The fix is evidence: retrieval plus generation, under authority rules.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06</a:t>
            </a:r>
            <a:r>
              <a:rPr sz="1100">
                <a:solidFill>
                  <a:srgbClr val="5F7488"/>
                </a:solidFill>
                <a:latin typeface="Consolas"/>
              </a:rPr>
              <a:t>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Classical ML vs generative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Both learn from data. They solve different kinds of problems.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Classical ML: yesterday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5102352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Input: structured features (vibration, temperature)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Output: a prediction, a number or a class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Strength: measurable, specific, scored honestly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Limit: cannot read a procedure or write a briefing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Generative AI: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41448"/>
            <a:ext cx="5102352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Input: language, instructions and context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Output: new language, answers and drafts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Strength: reads and writes across documents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Limit: fluent does not mean grounded or approved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492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3492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Use ML for measurable prediction. Use GenAI for language work, with evidence attached.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1: TOKENS AND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07</a:t>
            </a:r>
            <a:r>
              <a:rPr sz="1100">
                <a:solidFill>
                  <a:srgbClr val="5F7488"/>
                </a:solidFill>
                <a:latin typeface="Consolas"/>
              </a:rPr>
              <a:t>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LLM foundations in practical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The working vocabulary for everything we build today and tomorrow.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37360"/>
          <a:ext cx="11183112" cy="38039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8439912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Concept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Practical meaning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The instruction and context sent to the model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Token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A unit of text. Limits and cost are measured in tokens, and you count them in the notebook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Context window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How much the model can see in one request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Structured output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A predictable schema (JSON) that downstream code can read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Embedding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A list of numbers that represents the meaning of a passage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Hallucination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A fluent answer that is unsupported or invented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Foundation model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General purpose: needs instructions, evidence and controls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76072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6072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6072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An LLM is a general engine. Enterprise value comes from the evidence and controls around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08</a:t>
            </a:r>
            <a:r>
              <a:rPr sz="1100">
                <a:solidFill>
                  <a:srgbClr val="5F7488"/>
                </a:solidFill>
                <a:latin typeface="Consolas"/>
              </a:rPr>
              <a:t>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How RAG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Retrieve trusted context first. Then let the model write from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2576322" cy="1280160"/>
          </a:xfrm>
          <a:prstGeom prst="roundRect">
            <a:avLst>
              <a:gd name="adj" fmla="val 7142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9424"/>
            <a:ext cx="2393441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text of the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9 A-001 files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97529" y="2258568"/>
            <a:ext cx="25603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71850" y="1737360"/>
            <a:ext cx="2576322" cy="1280160"/>
          </a:xfrm>
          <a:prstGeom prst="roundRect">
            <a:avLst>
              <a:gd name="adj" fmla="val 7142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3290" y="1828800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Chunk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3290" y="2249424"/>
            <a:ext cx="2393441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small, overlapping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passages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66459" y="2258568"/>
            <a:ext cx="25603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0779" y="1737360"/>
            <a:ext cx="2576322" cy="1280160"/>
          </a:xfrm>
          <a:prstGeom prst="roundRect">
            <a:avLst>
              <a:gd name="adj" fmla="val 7142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2219" y="1828800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Embed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2219" y="2249424"/>
            <a:ext cx="2393441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text to numbers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5389" y="2258568"/>
            <a:ext cx="256032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09710" y="1737360"/>
            <a:ext cx="2576322" cy="1280160"/>
          </a:xfrm>
          <a:prstGeom prst="roundRect">
            <a:avLst>
              <a:gd name="adj" fmla="val 7142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1150" y="1828800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1150" y="2249424"/>
            <a:ext cx="2393441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vectors + metadata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in memory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337560"/>
            <a:ext cx="2576322" cy="1280160"/>
          </a:xfrm>
          <a:prstGeom prst="roundRect">
            <a:avLst>
              <a:gd name="adj" fmla="val 7142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429000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Retrieve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849624"/>
            <a:ext cx="2393441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closest chunks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to the question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097529" y="3858768"/>
            <a:ext cx="25603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71850" y="3337560"/>
            <a:ext cx="2576322" cy="1280160"/>
          </a:xfrm>
          <a:prstGeom prst="roundRect">
            <a:avLst>
              <a:gd name="adj" fmla="val 7142"/>
            </a:avLst>
          </a:prstGeom>
          <a:solidFill>
            <a:srgbClr val="0F1626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63290" y="3429000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Authority filter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63290" y="4032504"/>
            <a:ext cx="2393441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status and version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labelled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966459" y="3858768"/>
            <a:ext cx="256032" cy="237744"/>
          </a:xfrm>
          <a:prstGeom prst="rightArrow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40779" y="3337560"/>
            <a:ext cx="2576322" cy="1280160"/>
          </a:xfrm>
          <a:prstGeom prst="roundRect">
            <a:avLst>
              <a:gd name="adj" fmla="val 7142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2219" y="3429000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LLM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19" y="3849624"/>
            <a:ext cx="2393441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writes only from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the evidence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835389" y="3858768"/>
            <a:ext cx="25603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9710" y="3337560"/>
            <a:ext cx="2576322" cy="1280160"/>
          </a:xfrm>
          <a:prstGeom prst="roundRect">
            <a:avLst>
              <a:gd name="adj" fmla="val 7142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01150" y="3429000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Answer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01150" y="3849624"/>
            <a:ext cx="2393441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with document IDs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cited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93776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493776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93776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Retrieval decides what the model may see. Generation only explains what retrieval found.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5778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FB4C8"/>
                </a:solidFill>
                <a:latin typeface="Calibri"/>
              </a:rPr>
              <a:t>If the wrong documents reach the model, no prompt can fully protect the answer. That is why authority rules come before generation, not after.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1: FROM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09</a:t>
            </a:r>
            <a:r>
              <a:rPr sz="1100">
                <a:solidFill>
                  <a:srgbClr val="5F7488"/>
                </a:solidFill>
                <a:latin typeface="Consolas"/>
              </a:rPr>
              <a:t>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RAG in six small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No framework to learn. Every step is a function you can read and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669280" cy="3840480"/>
          </a:xfrm>
          <a:prstGeom prst="roundRect">
            <a:avLst>
              <a:gd name="adj" fmla="val 1904"/>
            </a:avLst>
          </a:prstGeom>
          <a:solidFill>
            <a:srgbClr val="050810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22D3EE"/>
                </a:solidFill>
                <a:latin typeface="Consolas"/>
              </a:rPr>
              <a:t>THE WHOLE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30552"/>
            <a:ext cx="526694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chunks = chunk_text(doc["text"])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vectors = embed(client, chunks)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index = RAGIndex.build(client, docs)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hits = index.search(question, k=4)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evidence = format_hits(hits)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answer = ask(client, evidence + question,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             system=RAG_SYSTEM)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181965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79" y="17830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chunk_text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2066543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FB4C8"/>
                </a:solidFill>
                <a:latin typeface="Calibri"/>
              </a:rPr>
              <a:t>split into passages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245973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45973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79" y="242316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embed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79" y="270662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FB4C8"/>
                </a:solidFill>
                <a:latin typeface="Calibri"/>
              </a:rPr>
              <a:t>passages to vectors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3099815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09981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79" y="3063239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RAGIndex.build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3346703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FB4C8"/>
                </a:solidFill>
                <a:latin typeface="Calibri"/>
              </a:rPr>
              <a:t>keep vectors + metadata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373989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73989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79" y="37033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79" y="3986783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FB4C8"/>
                </a:solidFill>
                <a:latin typeface="Calibri"/>
              </a:rPr>
              <a:t>cosine similarity, top k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37997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37997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79" y="43434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format_hits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79" y="462686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FB4C8"/>
                </a:solidFill>
                <a:latin typeface="Calibri"/>
              </a:rPr>
              <a:t>label each chunk with ID, status, version</a:t>
            </a:r>
          </a:p>
        </p:txBody>
      </p:sp>
      <p:sp>
        <p:nvSpPr>
          <p:cNvPr id="32" name="Oval 31"/>
          <p:cNvSpPr/>
          <p:nvPr/>
        </p:nvSpPr>
        <p:spPr>
          <a:xfrm>
            <a:off x="6492240" y="502005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50200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79" y="49834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79" y="526694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FB4C8"/>
                </a:solidFill>
                <a:latin typeface="Calibri"/>
              </a:rPr>
              <a:t>answer from evidence only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064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8064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Frameworks hide these steps. Writing them once is how you learn to debug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10</a:t>
            </a:r>
            <a:r>
              <a:rPr sz="1100">
                <a:solidFill>
                  <a:srgbClr val="5F7488"/>
                </a:solidFill>
                <a:latin typeface="Consolas"/>
              </a:rPr>
              <a:t>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Chunking and embeddings, minus the maths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Small searchable passages plus numeric meaning.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3044952"/>
            <a:ext cx="2322576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92807"/>
            <a:ext cx="2651760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22D3EE"/>
                </a:solidFill>
                <a:latin typeface="Calibri"/>
              </a:rPr>
              <a:t>900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87752"/>
            <a:ext cx="2468879" cy="480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FB4C8"/>
                </a:solidFill>
                <a:latin typeface="Calibri"/>
              </a:rPr>
              <a:t>characters per chunk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7830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2152" y="3044952"/>
            <a:ext cx="2322576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892807"/>
            <a:ext cx="2651760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8B5CF6"/>
                </a:solidFill>
                <a:latin typeface="Calibri"/>
              </a:rPr>
              <a:t>150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587752"/>
            <a:ext cx="2468879" cy="480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FB4C8"/>
                </a:solidFill>
                <a:latin typeface="Calibri"/>
              </a:rPr>
              <a:t>characters of overlap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7830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36792" y="3044952"/>
            <a:ext cx="2322576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892807"/>
            <a:ext cx="2651760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587752"/>
            <a:ext cx="2468879" cy="480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FB4C8"/>
                </a:solidFill>
                <a:latin typeface="Calibri"/>
              </a:rPr>
              <a:t>chunks returned (k)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783080"/>
            <a:ext cx="2679192" cy="137160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71432" y="3044952"/>
            <a:ext cx="2350008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1892807"/>
            <a:ext cx="2679192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34D399"/>
                </a:solidFill>
                <a:latin typeface="Calibri"/>
              </a:rPr>
              <a:t>1,536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587752"/>
            <a:ext cx="2496312" cy="480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FB4C8"/>
                </a:solidFill>
                <a:latin typeface="Calibri"/>
              </a:rPr>
              <a:t>numbers per embedding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42900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55701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55701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Why not one giant document?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4087368"/>
            <a:ext cx="5102352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Whole documents dilute the match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They overflow the context window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Chunks let us carry ID, version and status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342900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9632" y="3557016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55701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Embedding mental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087368"/>
            <a:ext cx="5102352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Similar meaning gives similar numbers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Works even when the words differ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Model: text-embedding-3-small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8064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8064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8064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Chunking decides what can be found. Metadata decides what may be used.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1: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11</a:t>
            </a:r>
            <a:r>
              <a:rPr sz="1100">
                <a:solidFill>
                  <a:srgbClr val="5F7488"/>
                </a:solidFill>
                <a:latin typeface="Consolas"/>
              </a:rPr>
              <a:t>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Retrieval is a similarity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Embed the question the same way, then rank every chunk by cosine similarity.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576322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95144"/>
            <a:ext cx="239344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embedded with the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same model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97529" y="2350008"/>
            <a:ext cx="25603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71850" y="1783080"/>
            <a:ext cx="2576322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3290" y="1874519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3290" y="2295144"/>
            <a:ext cx="239344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cosine similarity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against every chunk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66459" y="2350008"/>
            <a:ext cx="25603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0779" y="1783080"/>
            <a:ext cx="2576322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2219" y="1874519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Rank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2219" y="2295144"/>
            <a:ext cx="239344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highest scores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first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5389" y="2350008"/>
            <a:ext cx="256032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09710" y="1783080"/>
            <a:ext cx="2576322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1150" y="1874519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Top 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1150" y="2295144"/>
            <a:ext cx="239344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the evidence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packet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47472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60273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60273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What each hit carries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133087"/>
            <a:ext cx="5102352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Similarity score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Document ID, version and status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The passage text itself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347472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9632" y="3602736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60273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What a score does not tell you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389120"/>
            <a:ext cx="5102352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Whether the document is approved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Whether it is the latest version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Whether the passage answers the question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85216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85216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85216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 high score means similar, not trusted. That is the next slide.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1: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12</a:t>
            </a:r>
            <a:r>
              <a:rPr sz="1100">
                <a:solidFill>
                  <a:srgbClr val="5F7488"/>
                </a:solidFill>
                <a:latin typeface="Consolas"/>
              </a:rPr>
              <a:t>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What do the retrieval settings change?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Change one setting at a time and re-ask the same question.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2" cy="25603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26080"/>
                <a:gridCol w="4023360"/>
                <a:gridCol w="4233672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5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Setting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Too small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Too large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50" b="1" i="0">
                          <a:solidFill>
                            <a:srgbClr val="F2F7FB"/>
                          </a:solidFill>
                          <a:latin typeface="Calibri"/>
                        </a:rPr>
                        <a:t>Chunk size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>
                          <a:solidFill>
                            <a:srgbClr val="F2F7FB"/>
                          </a:solidFill>
                          <a:latin typeface="Calibri"/>
                        </a:rPr>
                        <a:t>Passages lose their context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>
                          <a:solidFill>
                            <a:srgbClr val="F2F7FB"/>
                          </a:solidFill>
                          <a:latin typeface="Calibri"/>
                        </a:rPr>
                        <a:t>The match is diluted, the packet is long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50" b="1" i="0">
                          <a:solidFill>
                            <a:srgbClr val="F2F7FB"/>
                          </a:solidFill>
                          <a:latin typeface="Calibri"/>
                        </a:rPr>
                        <a:t>Overlap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>
                          <a:solidFill>
                            <a:srgbClr val="F2F7FB"/>
                          </a:solidFill>
                          <a:latin typeface="Calibri"/>
                        </a:rPr>
                        <a:t>Ideas are cut at the boundary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>
                          <a:solidFill>
                            <a:srgbClr val="F2F7FB"/>
                          </a:solidFill>
                          <a:latin typeface="Calibri"/>
                        </a:rPr>
                        <a:t>Duplicate text, wasted tokens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50" b="1" i="0">
                          <a:solidFill>
                            <a:srgbClr val="F2F7FB"/>
                          </a:solidFill>
                          <a:latin typeface="Calibri"/>
                        </a:rPr>
                        <a:t>k (chunks returned)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>
                          <a:solidFill>
                            <a:srgbClr val="F2F7FB"/>
                          </a:solidFill>
                          <a:latin typeface="Calibri"/>
                        </a:rPr>
                        <a:t>The right passage may be missed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>
                          <a:solidFill>
                            <a:srgbClr val="F2F7FB"/>
                          </a:solidFill>
                          <a:latin typeface="Calibri"/>
                        </a:rPr>
                        <a:t>Noise reaches the model, cost rises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572000"/>
            <a:ext cx="11183112" cy="1097280"/>
          </a:xfrm>
          <a:prstGeom prst="roundRect">
            <a:avLst>
              <a:gd name="adj" fmla="val 10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700016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700016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Keep it inspectable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230368"/>
            <a:ext cx="107990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0" i="0">
                <a:solidFill>
                  <a:srgbClr val="9FB4C8"/>
                </a:solidFill>
                <a:latin typeface="Calibri"/>
              </a:rPr>
              <a:t>A small packet you can read in full beats a large one nobody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85216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85216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Tune with evidence: look at what was retrieved before you change the prompt.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13</a:t>
            </a:r>
            <a:r>
              <a:rPr sz="1100">
                <a:solidFill>
                  <a:srgbClr val="5F7488"/>
                </a:solidFill>
                <a:latin typeface="Consolas"/>
              </a:rPr>
              <a:t>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Keyword search vs semantic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Use both on purpose. Hybrid retrieval beats either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Keyword / lexical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5102352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Best when exact terms matter: A001-PROC-INS-001-V2, part numbers, limits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Easy to explain and debug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Misses synonyms and paraphrases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Semantic / 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41448"/>
            <a:ext cx="5102352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Best when meaning matters: "running rough" vs "abnormal vibration"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Handles natural questions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Can retrieve similar but non-authoritative text: the draft trap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9496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39496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9496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Exact IDs favour keyword. Natural questions favour semantic. Governed retrieval then filters by authority.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THE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14</a:t>
            </a:r>
            <a:r>
              <a:rPr sz="1100">
                <a:solidFill>
                  <a:srgbClr val="5F7488"/>
                </a:solidFill>
                <a:latin typeface="Consolas"/>
              </a:rPr>
              <a:t>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Nine documents and the procedure trap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The corpus is deliberately messy, like every real enterprise.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1" cy="22677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754880"/>
                <a:gridCol w="2377440"/>
                <a:gridCol w="4050791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5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Version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Status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Treat as current authority?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50" b="1" i="0">
                          <a:solidFill>
                            <a:srgbClr val="F2F7FB"/>
                          </a:solidFill>
                          <a:latin typeface="Calibri"/>
                        </a:rPr>
                        <a:t>Inspection Procedure V1 (1.0)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1" i="0">
                          <a:solidFill>
                            <a:srgbClr val="F87171"/>
                          </a:solidFill>
                          <a:latin typeface="Calibri"/>
                        </a:rPr>
                        <a:t>SUPERSEDED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>
                          <a:solidFill>
                            <a:srgbClr val="F2F7FB"/>
                          </a:solidFill>
                          <a:latin typeface="Calibri"/>
                        </a:rPr>
                        <a:t>No: historical context only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50" b="1" i="0">
                          <a:solidFill>
                            <a:srgbClr val="F2F7FB"/>
                          </a:solidFill>
                          <a:latin typeface="Calibri"/>
                        </a:rPr>
                        <a:t>Inspection &amp; PM Procedure V2 (2.0)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1" i="0">
                          <a:solidFill>
                            <a:srgbClr val="34D399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>
                          <a:solidFill>
                            <a:srgbClr val="F2F7FB"/>
                          </a:solidFill>
                          <a:latin typeface="Calibri"/>
                        </a:rPr>
                        <a:t>Yes: current procedural authority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50" b="1" i="0">
                          <a:solidFill>
                            <a:srgbClr val="F2F7FB"/>
                          </a:solidFill>
                          <a:latin typeface="Calibri"/>
                        </a:rPr>
                        <a:t>Inspection Procedure V3D (3.0-draft)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1" i="0">
                          <a:solidFill>
                            <a:srgbClr val="F5A623"/>
                          </a:solidFill>
                          <a:latin typeface="Calibri"/>
                        </a:rPr>
                        <a:t>DRAFT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>
                          <a:solidFill>
                            <a:srgbClr val="F2F7FB"/>
                          </a:solidFill>
                          <a:latin typeface="Calibri"/>
                        </a:rPr>
                        <a:t>No: newer does not mean approved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29768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425696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425696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The governance trap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956048"/>
            <a:ext cx="1079906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0" i="0">
                <a:solidFill>
                  <a:srgbClr val="9FB4C8"/>
                </a:solidFill>
                <a:latin typeface="Calibri"/>
              </a:rPr>
              <a:t>V3D is newer and may look more relevant, but it is a DRAFT. V2 remains the current APPROVED procedure. Retrieval must weigh relevance and authority.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85216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85216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Relevant does not mean trusted. Retrieve evidence, apply authority rules, then generate.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2: AUTHORITY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15</a:t>
            </a:r>
            <a:r>
              <a:rPr sz="1100">
                <a:solidFill>
                  <a:srgbClr val="5F7488"/>
                </a:solidFill>
                <a:latin typeface="Consolas"/>
              </a:rPr>
              <a:t>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Four authority rules the assistant must follow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These are written into the system prompt and checked in the evaluation.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2F7FB"/>
                </a:solidFill>
                <a:latin typeface="Calibri"/>
              </a:rPr>
              <a:t>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2313432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30" b="0" i="0">
                <a:solidFill>
                  <a:srgbClr val="9FB4C8"/>
                </a:solidFill>
                <a:latin typeface="Calibri"/>
              </a:rPr>
              <a:t>Current authority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78308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55848" y="191109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016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2F7FB"/>
                </a:solidFill>
                <a:latin typeface="Calibri"/>
              </a:rPr>
              <a:t>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2441448"/>
            <a:ext cx="2313432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30" b="0" i="0">
                <a:solidFill>
                  <a:srgbClr val="9FB4C8"/>
                </a:solidFill>
                <a:latin typeface="Calibri"/>
              </a:rPr>
              <a:t>Not authoritative, even if newer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78308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1911095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2F7FB"/>
                </a:solidFill>
                <a:latin typeface="Calibri"/>
              </a:rPr>
              <a:t>SUPERSEDED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441448"/>
            <a:ext cx="2313432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30" b="0" i="0">
                <a:solidFill>
                  <a:srgbClr val="9FB4C8"/>
                </a:solidFill>
                <a:latin typeface="Calibri"/>
              </a:rPr>
              <a:t>Historical context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1704" y="1783080"/>
            <a:ext cx="2624328" cy="2377440"/>
          </a:xfrm>
          <a:prstGeom prst="roundRect">
            <a:avLst>
              <a:gd name="adj" fmla="val 46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61704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872" y="1911095"/>
            <a:ext cx="2258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2F7FB"/>
                </a:solidFill>
                <a:latin typeface="Calibri"/>
              </a:rPr>
              <a:t>OPEN work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2441448"/>
            <a:ext cx="2240280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30" b="0" i="0">
                <a:solidFill>
                  <a:srgbClr val="9FB4C8"/>
                </a:solidFill>
                <a:latin typeface="Calibri"/>
              </a:rPr>
              <a:t>A request, not an authorisation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480560"/>
            <a:ext cx="11183112" cy="685800"/>
          </a:xfrm>
          <a:prstGeom prst="roundRect">
            <a:avLst>
              <a:gd name="adj" fmla="val 13333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480560"/>
            <a:ext cx="64008" cy="685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48056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Also: if the evidence does not answer the question, say so. And never authorise maintenance, shutdown or replacement.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02920" y="5349240"/>
          <a:ext cx="11183112" cy="8229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94560"/>
                <a:gridCol w="2240280"/>
                <a:gridCol w="2240280"/>
                <a:gridCol w="2240280"/>
                <a:gridCol w="2267712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In A-001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V2 procedure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V3D procedure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V1 procedure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WO-2026-0817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DRAFT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SUPERSEDED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2: THE ANSWERING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16</a:t>
            </a:r>
            <a:r>
              <a:rPr sz="1100">
                <a:solidFill>
                  <a:srgbClr val="5F7488"/>
                </a:solidFill>
                <a:latin typeface="Consolas"/>
              </a:rPr>
              <a:t>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The system prompt is the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Short, specific and testable.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6949440" cy="3657600"/>
          </a:xfrm>
          <a:prstGeom prst="roundRect">
            <a:avLst>
              <a:gd name="adj" fmla="val 2000"/>
            </a:avLst>
          </a:prstGeom>
          <a:solidFill>
            <a:srgbClr val="050810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6583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22D3EE"/>
                </a:solidFill>
                <a:latin typeface="Consolas"/>
              </a:rPr>
              <a:t>RAG_SYSTEM (SHORTENED)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30552"/>
            <a:ext cx="6547103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D6E4F0"/>
                </a:solidFill>
                <a:latin typeface="Consolas"/>
              </a:rPr>
              <a:t>You answer questions about synthetic asset A-001</a:t>
            </a:r>
          </a:p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D6E4F0"/>
                </a:solidFill>
                <a:latin typeface="Consolas"/>
              </a:rPr>
              <a:t>using ONLY the supplied evidence.</a:t>
            </a:r>
          </a:p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D6E4F0"/>
                </a:solidFill>
                <a:latin typeface="Consolas"/>
              </a:rPr>
              <a:t>1. Cite document IDs in square brackets.</a:t>
            </a:r>
          </a:p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D6E4F0"/>
                </a:solidFill>
                <a:latin typeface="Consolas"/>
              </a:rPr>
              <a:t>2. Only APPROVED documents are current authority.</a:t>
            </a:r>
          </a:p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D6E4F0"/>
                </a:solidFill>
                <a:latin typeface="Consolas"/>
              </a:rPr>
              <a:t>   DRAFT is not. SUPERSEDED is historical.</a:t>
            </a:r>
          </a:p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D6E4F0"/>
                </a:solidFill>
                <a:latin typeface="Consolas"/>
              </a:rPr>
              <a:t>   An OPEN work order is not an authorisation.</a:t>
            </a:r>
          </a:p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D6E4F0"/>
                </a:solidFill>
                <a:latin typeface="Consolas"/>
              </a:rPr>
              <a:t>3. If the evidence does not answer, say so.</a:t>
            </a:r>
          </a:p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D6E4F0"/>
                </a:solidFill>
                <a:latin typeface="Consolas"/>
              </a:rPr>
              <a:t>4. You support a human reviewer.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783080"/>
            <a:ext cx="4005072" cy="3657600"/>
          </a:xfrm>
          <a:prstGeom prst="roundRect">
            <a:avLst>
              <a:gd name="adj" fmla="val 3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2128" y="1911095"/>
            <a:ext cx="3639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Why each rule exists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2441448"/>
            <a:ext cx="3621024" cy="2907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Citations make answers checkable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Authority rules stop the draft trap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The gap rule catches guessing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The human rule keeps the boundary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71500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571500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71500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The uncertainty clause is not optional. It is where hallucination goes to be caught.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2: HYBRID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17</a:t>
            </a:r>
            <a:r>
              <a:rPr sz="1100">
                <a:solidFill>
                  <a:srgbClr val="5F7488"/>
                </a:solidFill>
                <a:latin typeface="Consolas"/>
              </a:rPr>
              <a:t>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Some questions need both tables and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"What is the health score of A-001 and what procedure applies?"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576322" cy="1463040"/>
          </a:xfrm>
          <a:prstGeom prst="roundRect">
            <a:avLst>
              <a:gd name="adj" fmla="val 6250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95144"/>
            <a:ext cx="23934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one sentence,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two kinds of evidence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97529" y="2395728"/>
            <a:ext cx="25603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71850" y="1783080"/>
            <a:ext cx="2576322" cy="1463040"/>
          </a:xfrm>
          <a:prstGeom prst="roundRect">
            <a:avLst>
              <a:gd name="adj" fmla="val 6250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3290" y="1874519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3290" y="2295144"/>
            <a:ext cx="23934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health score 68.05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from asset_360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66459" y="2395728"/>
            <a:ext cx="25603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0779" y="1783080"/>
            <a:ext cx="2576322" cy="1463040"/>
          </a:xfrm>
          <a:prstGeom prst="roundRect">
            <a:avLst>
              <a:gd name="adj" fmla="val 6250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2219" y="1874519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2219" y="2295144"/>
            <a:ext cx="23934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V2 procedure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with citation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5389" y="2395728"/>
            <a:ext cx="256032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09710" y="1783080"/>
            <a:ext cx="2576322" cy="1463040"/>
          </a:xfrm>
          <a:prstGeom prst="roundRect">
            <a:avLst>
              <a:gd name="adj" fmla="val 6250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1150" y="1874519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1150" y="2295144"/>
            <a:ext cx="23934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facts labelled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by source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56616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69417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69417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Keep evidence types apart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224528"/>
            <a:ext cx="5102352" cy="1353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Table facts come from SQL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Written guidance comes from documents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Never blur a number with a policy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356616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9632" y="3694176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69417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Tomorrow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224528"/>
            <a:ext cx="5102352" cy="1353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The model chooses the tool itself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Same tools, now inside a bounded loop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85216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85216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85216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This is the question that sets up Day 3: no single retrieval method answers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2: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18</a:t>
            </a:r>
            <a:r>
              <a:rPr sz="1100">
                <a:solidFill>
                  <a:srgbClr val="5F7488"/>
                </a:solidFill>
                <a:latin typeface="Consolas"/>
              </a:rPr>
              <a:t>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Evaluate retrieval before you judge the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18 questions, each with an expected source and expected behaviour.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1" cy="35204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17520"/>
                <a:gridCol w="7498079"/>
                <a:gridCol w="66751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Category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Examples of what is tested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Qs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Direct retrieval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What is A-001 used for? Which signals are monitored?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Authority / version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Which procedure is approved? Is V3 current? Why not V1?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Procedure and reasoning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Evidence checklist, troubleshooting, one high reading is not proof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Work order and field report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Does the work order authorise replacement? What did the field observer see?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Policy and governance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Can a draft be current guidance? Who authorises maintenance?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Hybrid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Support for a qualified review; health score plus procedure (SQL + documents)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48640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48640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48640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Metric: did the expected source appear in the top k? Then read the failures together.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19</a:t>
            </a:r>
            <a:r>
              <a:rPr sz="1100">
                <a:solidFill>
                  <a:srgbClr val="5F7488"/>
                </a:solidFill>
                <a:latin typeface="Consolas"/>
              </a:rPr>
              <a:t>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Evaluate the answer, not the vibe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A grounded answer survives six checks, and fails loudly.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81965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7830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Relevant source retrieved?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478024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780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24414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Approval and version respected?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136391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36391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099815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Evidence separated from model wording?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794760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375818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Citations visible?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453128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531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19" y="441655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No invented facts to fill gaps?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511149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1149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19" y="50749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Human decision boundary kept?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1783080"/>
            <a:ext cx="5486400" cy="3749039"/>
          </a:xfrm>
          <a:prstGeom prst="roundRect">
            <a:avLst>
              <a:gd name="adj" fmla="val 292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191109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Common failure modes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441448"/>
            <a:ext cx="5102352" cy="2999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No documents found: the repo was not cloned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Wrong procedure returned: status not applied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Good source, poor answer: prompt structure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No citations: IDs not carried through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Overstated certainty: uncertainty clause missing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76072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76072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76072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 RAG system you cannot evaluate is a demo, not a capability. The LLM judge in the notebook is optional.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DAY 2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20</a:t>
            </a:r>
            <a:r>
              <a:rPr sz="1100">
                <a:solidFill>
                  <a:srgbClr val="5F7488"/>
                </a:solidFill>
                <a:latin typeface="Consolas"/>
              </a:rPr>
              <a:t>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Participant exercise: catch the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Six steps from question to a cited, governed answer.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81965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783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Ask about the current inspection procedure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06654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one clear A-001 question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68833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8833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6517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Inspect the top retrieved chunks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293522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read the evidence packet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557015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5701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3520439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Flag DRAFT or SUPERSEDED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380390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find the trap yourself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181965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783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Apply the approval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06654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filter before generation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268833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68833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6517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Generate with citations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93522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the answer cites the approved source</a:t>
            </a:r>
          </a:p>
        </p:txBody>
      </p:sp>
      <p:sp>
        <p:nvSpPr>
          <p:cNvPr id="29" name="Oval 28"/>
          <p:cNvSpPr/>
          <p:nvPr/>
        </p:nvSpPr>
        <p:spPr>
          <a:xfrm>
            <a:off x="6309360" y="3557015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55701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520439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State what stays uncertain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80390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name the gaps for a human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617720"/>
            <a:ext cx="356616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61772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onsolas"/>
              </a:rPr>
              <a:t>Day2_00  Colab setup  |  40 min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4617720"/>
            <a:ext cx="356616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461772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Consolas"/>
              </a:rPr>
              <a:t>Day2_01  RAG from scratch  |  75 min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4617720"/>
            <a:ext cx="356616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461772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  <a:latin typeface="Consolas"/>
              </a:rPr>
              <a:t>Day2_02  Governed RAG  |  60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66928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566928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66928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Open the notebooks from the README links. The key stays in Colab Secrets.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DAY 2 TO DAY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21</a:t>
            </a:r>
            <a:r>
              <a:rPr sz="1100">
                <a:solidFill>
                  <a:srgbClr val="5F7488"/>
                </a:solidFill>
                <a:latin typeface="Consolas"/>
              </a:rPr>
              <a:t>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A question documents alone cannot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Tomorrow the assistant gains tools, and limits on using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1183112" cy="1097280"/>
          </a:xfrm>
          <a:prstGeom prst="roundRect">
            <a:avLst>
              <a:gd name="adj" fmla="val 8333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"What was happening in A-001's data, what does the current approved procedure say, and what should be prepared for human reliability review?"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5468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8269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28269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Needs structured 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813048"/>
            <a:ext cx="5102352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Health score, open work orders and the sensor trend, from tables, not documents.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15468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3282696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28269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Needs approved guidance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13048"/>
            <a:ext cx="5102352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The current procedure and what it requires, from governed retrieval, with citations.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6928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66928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66928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Day 3: one governed agent that chooses the right tool, and stops where its authority 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